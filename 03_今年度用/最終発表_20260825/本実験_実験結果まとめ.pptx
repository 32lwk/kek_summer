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92"/>
  </p:normalViewPr>
  <p:slideViewPr>
    <p:cSldViewPr snapToGrid="0" snapToObjects="1">
      <p:cViewPr varScale="1">
        <p:scale>
          <a:sx n="153" d="100"/>
          <a:sy n="153" d="100"/>
        </p:scale>
        <p:origin x="63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0392B"/>
                </a:solidFill>
                <a:latin typeface="游ゴシック"/>
                <a:ea typeface="游ゴシック"/>
              </a:rPr>
              <a:t>実験結果（熱中性子）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60520" y="658368"/>
            <a:ext cx="4617720" cy="438912"/>
          </a:xfrm>
          <a:prstGeom prst="roundRect">
            <a:avLst/>
          </a:prstGeom>
          <a:solidFill>
            <a:srgbClr val="FCF3CF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游ゴシック"/>
                <a:ea typeface="游ゴシック"/>
              </a:rPr>
              <a:t>検出: D1（大径裸管）・d1（小径裸管）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游ゴシック"/>
                <a:ea typeface="游ゴシック"/>
              </a:rPr>
              <a:t>εS_peak: D1=256.3  d1=70.05 cm²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603503"/>
            <a:ext cx="3584448" cy="826402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hi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8368"/>
            <a:ext cx="3474720" cy="71667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827532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92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場所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検出器の種類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検出数 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測定時間 t/s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計数率 R_NET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フラックス Φ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地上（屋外）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2056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4748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0.433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1.69E-3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管理棟2階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27878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52247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0.534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2.08E-3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管理棟2階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熱・小径裸管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9762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76826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0.127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1.81E-3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管理棟1階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6696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17482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0.383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1.49E-3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 testhole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3430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20239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0.169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6.61E-4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 testhole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熱・小径裸管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18973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4.88E-2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6.97E-4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9171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45703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0.201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7.83E-4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23223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8.20E-2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熱・小径裸管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333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23286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1.43E-2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2.04E-4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放射線棟BT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9.86E-2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3.85E-4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2835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78562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3.61E-2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1.41E-4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9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熱・小径裸管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76893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8.45E-3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1.21E-4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2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1841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39007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4.72E-2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1.84E-4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663440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游ゴシック"/>
                <a:ea typeface="游ゴシック"/>
              </a:rPr>
              <a:t>※ 熱中性子用＝³He 裸管。peak ROI（764 keV）NET・peak764_cut200。単位: R [s⁻¹], Φ [cm⁻²·s⁻¹]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7E22"/>
                </a:solidFill>
                <a:latin typeface="游ゴシック"/>
                <a:ea typeface="游ゴシック"/>
              </a:rPr>
              <a:t>実験結果（MeV中性子）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60520" y="658368"/>
            <a:ext cx="4617720" cy="438912"/>
          </a:xfrm>
          <a:prstGeom prst="roundRect">
            <a:avLst/>
          </a:prstGeom>
          <a:solidFill>
            <a:srgbClr val="FCF3CF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游ゴシック"/>
                <a:ea typeface="游ゴシック"/>
              </a:rPr>
              <a:t>検出: D2（大径PE）・d2（小径PE）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游ゴシック"/>
                <a:ea typeface="游ゴシック"/>
              </a:rPr>
              <a:t>εS_peak: D2=178.5  d2=27.25 cm²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603503"/>
            <a:ext cx="3584448" cy="826402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hi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8368"/>
            <a:ext cx="3474720" cy="71667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827532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場所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検出器の種類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検出数 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測定時間 t/s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計数率 R_NET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フラックス Φ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地上（屋外）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MeV・大径PE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2998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12302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0.244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1.37E-3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地上（屋外）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MeV・小径PE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12105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5.59E-2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2.05E-3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 testhole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MeV・大径PE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3430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20239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0.169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9.50E-4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MeV・大径PE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7381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62848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6.58E-4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MeV・大径PE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2927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51267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5.71E-2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MeV・小径PE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51379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8.77E-3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3.22E-4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放射線棟BT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MeV・小径PE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121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9540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1.27E-2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4.66E-4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MeV・小径PE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39038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5.93E-3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2.18E-4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663440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游ゴシック"/>
                <a:ea typeface="游ゴシック"/>
              </a:rPr>
              <a:t>※ MeV用＝ポリエチレン（PE）減速材付き。単位: R [s⁻¹], Φ [cm⁻²·s⁻¹]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実験結果（検出器対応・相対フラックス）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685800"/>
          <a:ext cx="8503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エネルギー帯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構成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εS_peak / cm²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主な測定地点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熱中性子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大径 ³He 裸管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256.3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地上・管理棟・地下全地点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熱中性子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小径 ³He 裸管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管理棟2階・testhole・Linac3・PS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MeV中性子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大径 ³He + PE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178.5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地上・testhole・PF・Linac3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MeV中性子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小径 ³He + 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27.25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地上・Linac3・放射線棟BT・KEKB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2423160"/>
          <a:ext cx="74066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場所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熱 Φ（D1）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MeV Φ（D2/d2）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熱/地上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MeV/地上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地上（屋外）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1.69E-3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1.37E-3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 testhole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6.61E-4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9.50E-4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7.83E-4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6.58E-4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0.463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0.482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放射線棟BT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3.85E-4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4.66E-4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0.228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0.341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85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1.84E-4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2.18E-4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663440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游ゴシック"/>
                <a:ea typeface="游ゴシック"/>
              </a:rPr>
              <a:t>※ 相対は地上Φで規格化（熱＝D1地上、MeV＝D2地上）。「検出」列が実測に用いた検出器。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【附記】計算方法・導出の詳細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游ゴシック"/>
                <a:ea typeface="游ゴシック"/>
              </a:rPr>
              <a:t>解析系統: peak764_cut200　／　数式は TeX（pdflatex）で描画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本解析で使う式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3856" y="996695"/>
            <a:ext cx="6876288" cy="1505356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51560"/>
            <a:ext cx="6766560" cy="139562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331720"/>
          <a:ext cx="8229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意味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φ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絶対フラックス [n/cm²/s] ＝ [cm⁻²·s⁻¹]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R_NET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peak ROI の正味計数率 [s⁻¹]（背景差し引き後）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εS_peak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peak ROI に対する実効面積 [cm²]（検出器ごと）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游ゴシック"/>
                <a:ea typeface="游ゴシック"/>
              </a:rPr>
              <a:t>・窓: 764 keV 付近の peak ROI（³He(n,p) ピーク）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游ゴシック"/>
                <a:ea typeface="游ゴシック"/>
              </a:rPr>
              <a:t>・熱 = D1/d1（裸管）、MeV = D2/d2（PE付き）　→ 附記①〜⑧で導出を示す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【附記】① 絶対フラックスの基本式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定義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3856" y="813815"/>
            <a:ext cx="6876288" cy="1505356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hi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868680"/>
            <a:ext cx="6766560" cy="13956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05740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なぜこの式か（検出の基本関係）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91056" y="2276856"/>
            <a:ext cx="5961888" cy="1269301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unt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331720"/>
            <a:ext cx="5852160" cy="11595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3429000"/>
            <a:ext cx="8229600" cy="36576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游ゴシック"/>
                <a:ea typeface="游ゴシック"/>
              </a:rPr>
              <a:t>これを φ について解くと定義式になる。本解析の R は peak ROI の正味 R_NET。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931920"/>
          <a:ext cx="82296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εS_peak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役割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256.3 cm²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熱・大径裸管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70.05 cm²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熱・小径裸管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178.5 cm²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MeV・大径PE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27.25 cm²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MeV・小径PE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【附記】② 正味計数率 R_NET の導出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計算の順番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813815"/>
            <a:ext cx="6510528" cy="1726730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ne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68680"/>
            <a:ext cx="6400800" cy="161700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68880"/>
          <a:ext cx="8229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意味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GROSS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peak ROI（ch = lo〜hi）のカウント合計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ピーク左右の側帯から推定した、ROI内の背景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N_NET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正味カウント（本編表の「検出数 N」）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t_live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ライブタイム [s]（本編表の「測定時間 t」）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343400"/>
            <a:ext cx="8229600" cy="347472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游ゴシック"/>
                <a:ea typeface="游ゴシック"/>
              </a:rPr>
              <a:t>補足: 右側帯が使えないときは、左側帯だけの水平背景を使う。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【附記】③ εS_peak の較正（熱・裸管 D1 / d1）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較正式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5" y="813815"/>
            <a:ext cx="7059168" cy="1399936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ps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68680"/>
            <a:ext cx="6949440" cy="129020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57400"/>
          <a:ext cx="822960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意味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εS_total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メーカー感度 [cps/nv]（熱φ=1 のときの全計数率）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f_peak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パイルでの R_peak / R_total の平均（30 cm・80 cm）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5468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代入結果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3374136"/>
            <a:ext cx="7424927" cy="1780409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ps_d1_d1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7315200" cy="16706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【附記】④ εS_peak の転送較正（MeV・PE付き D2 / d2）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転送の考え方（同一地点で並べて測る）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3856" y="813815"/>
            <a:ext cx="6876288" cy="1863006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ps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868680"/>
            <a:ext cx="6766560" cy="175327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60320"/>
          <a:ext cx="822960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対象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転送地点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結果 εS_peak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d2（小径PE）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地上（d2/D1）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27.25 cm²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D2（大径PE）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 同日（D2/D1）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178.5 cm²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・理由: PE付きはメーカーの裸管感度を直接使えない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・仮定: 転送地点での応答比が他地点でもだいたい同じ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【附記】⑤ スペクトル部分補正（peak_partial）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欠損割合 f（熱中性子パイルで決定）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" y="813815"/>
            <a:ext cx="7424927" cy="1474118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_par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68680"/>
            <a:ext cx="7315200" cy="13643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05740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補正後の 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33856" y="2276856"/>
            <a:ext cx="6876288" cy="1409032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net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331720"/>
            <a:ext cx="6766560" cy="1299304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520440"/>
          <a:ext cx="50292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量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値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f_large（D1/D2）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0.7080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f_small（d1/d2）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0.6680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cut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およそ 200 ch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0" y="3520440"/>
            <a:ext cx="3017520" cy="114300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游ゴシック"/>
                <a:ea typeface="游ゴシック"/>
              </a:rPr>
              <a:t>ピークがきれいな点は補正スキップ（peak_skip_clean）。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【附記】⑥ 相対フラックスと誤差伝播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相対化（同一検出器なら εS_peak は約分）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813815"/>
            <a:ext cx="7607807" cy="1475549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el_p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68680"/>
            <a:ext cx="7498079" cy="13658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10312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統計誤差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" y="2322576"/>
            <a:ext cx="7424927" cy="1911677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rr_p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7315200" cy="18019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・熱の基準 x₀ = D1 地上、MeV の基準 x₀ = D2 地上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・相対比では共通の εS 系統が打ち消しやすい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【附記】⑦ 数値例：D1・地上（熱中性子）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游ゴシック"/>
                <a:ea typeface="游ゴシック"/>
              </a:rPr>
              <a:t>ファイル: D1_20260819_1530_地上.mca　／　検出器 D1（大径裸管）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ステップ1 — 正味計数率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5" y="996695"/>
            <a:ext cx="7059168" cy="1355723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x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51560"/>
            <a:ext cx="6949440" cy="12459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10312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ステップ2 — 絶対フラックス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2322576"/>
            <a:ext cx="7607807" cy="1387945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x_p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7498079" cy="12782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ステップ3 — 相対（管理棟2階、εS は約分）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6736" y="3694176"/>
            <a:ext cx="6510528" cy="1335328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x_r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749039"/>
            <a:ext cx="6400800" cy="1225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游ゴシック"/>
                <a:ea typeface="游ゴシック"/>
              </a:rPr>
              <a:t>【附記】⑧ 処理フローまとめ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75488"/>
            <a:ext cx="841248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731520"/>
            <a:ext cx="1554480" cy="109728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游ゴシック"/>
                <a:ea typeface="游ゴシック"/>
              </a:rPr>
              <a:t>① 取得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游ゴシック"/>
                <a:ea typeface="游ゴシック"/>
              </a:rPr>
              <a:t>MCA
live time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74519" y="1097280"/>
            <a:ext cx="182880" cy="292608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7400" y="731520"/>
            <a:ext cx="1554480" cy="1097280"/>
          </a:xfrm>
          <a:prstGeom prst="roundRect">
            <a:avLst/>
          </a:prstGeom>
          <a:solidFill>
            <a:srgbClr val="FFFB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游ゴシック"/>
                <a:ea typeface="游ゴシック"/>
              </a:rPr>
              <a:t>② 補正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游ゴシック"/>
                <a:ea typeface="游ゴシック"/>
              </a:rPr>
              <a:t>必要なら
×(1/f)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11880" y="1097280"/>
            <a:ext cx="182880" cy="292608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94759" y="731520"/>
            <a:ext cx="1554480" cy="109728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游ゴシック"/>
                <a:ea typeface="游ゴシック"/>
              </a:rPr>
              <a:t>③ NET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游ゴシック"/>
                <a:ea typeface="游ゴシック"/>
              </a:rPr>
              <a:t>GROSS−BG
→ R_NET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49240" y="1097280"/>
            <a:ext cx="182880" cy="292608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32119" y="731520"/>
            <a:ext cx="1554480" cy="1097280"/>
          </a:xfrm>
          <a:prstGeom prst="roundRect">
            <a:avLst/>
          </a:prstGeom>
          <a:solidFill>
            <a:srgbClr val="FFFB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游ゴシック"/>
                <a:ea typeface="游ゴシック"/>
              </a:rPr>
              <a:t>④ 割る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游ゴシック"/>
                <a:ea typeface="游ゴシック"/>
              </a:rPr>
              <a:t>÷ εS_peak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86599" y="1097280"/>
            <a:ext cx="182880" cy="292608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69479" y="731520"/>
            <a:ext cx="1554480" cy="109728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游ゴシック"/>
                <a:ea typeface="游ゴシック"/>
              </a:rPr>
              <a:t>⑤ 相対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游ゴシック"/>
                <a:ea typeface="游ゴシック"/>
              </a:rPr>
              <a:t>φ / φ₀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游ゴシック"/>
                <a:ea typeface="游ゴシック"/>
              </a:rPr>
              <a:t>最終的にやっていること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3856" y="2276856"/>
            <a:ext cx="6876288" cy="1505356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hi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31720"/>
            <a:ext cx="6766560" cy="13956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・熱: メーカー×パイル窓比　／　MeV: 現場転送　で εS_peak を決める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・深い地点は peak_partial のあと、同じ式を適用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・数式画像: figures/equations/　（TeX → PNG）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游ゴシック"/>
                <a:ea typeface="游ゴシック"/>
              </a:rPr>
              <a:t>【附記】誤差棒の取り方（概要）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8503920" cy="25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8503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游ゴシック"/>
                <a:ea typeface="游ゴシック"/>
              </a:rPr>
              <a:t>図18: 横軸＝等価コンクリート厚の系統誤差、縦軸＝フラックスの統計誤差</a:t>
            </a:r>
          </a:p>
        </p:txBody>
      </p:sp>
      <p:pic>
        <p:nvPicPr>
          <p:cNvPr id="5" name="Picture 4" descr="18_全地点_フラックス_絶対_熱中性子_D1d1_λ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13232"/>
            <a:ext cx="5029200" cy="29867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2120" y="777240"/>
            <a:ext cx="3246120" cy="237744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 err="1">
                <a:solidFill>
                  <a:srgbClr val="222222"/>
                </a:solidFill>
                <a:latin typeface="游ゴシック"/>
                <a:ea typeface="游ゴシック"/>
              </a:rPr>
              <a:t>誤差棒の意味</a:t>
            </a:r>
            <a:endParaRPr sz="1000" b="1" dirty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縦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: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統計誤差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δφ</a:t>
            </a:r>
            <a:endParaRPr sz="1000" b="0" dirty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　→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カウントのゆらぎ</a:t>
            </a:r>
            <a:endParaRPr sz="1000" b="0" dirty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横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: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系統誤差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δt_eq</a:t>
            </a:r>
            <a:endParaRPr sz="1000" b="0" dirty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　→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厚さ・密度の不確かさ</a:t>
            </a:r>
            <a:endParaRPr sz="1000" b="0" dirty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endParaRPr sz="1000" b="0" dirty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両者は独立に評価し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、</a:t>
            </a:r>
          </a:p>
          <a:p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errorbar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の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xerr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 /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yerr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游ゴシック"/>
                <a:ea typeface="游ゴシック"/>
              </a:rPr>
              <a:t>に載せる</a:t>
            </a:r>
            <a:r>
              <a:rPr sz="1000" b="0" dirty="0">
                <a:solidFill>
                  <a:srgbClr val="222222"/>
                </a:solidFill>
                <a:latin typeface="游ゴシック"/>
                <a:ea typeface="游ゴシック"/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32120" y="3291840"/>
          <a:ext cx="32461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軸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性格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主な由来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縦軸 φ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δφ = y_err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統計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NET のポアソン誤差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横軸 t_eq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δt_eq = x_err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系統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層厚・密度の不確かさ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844E"/>
                </a:solidFill>
                <a:latin typeface="游ゴシック"/>
                <a:ea typeface="游ゴシック"/>
              </a:rPr>
              <a:t>【附記】縦軸の誤差（統計）δφ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8503920" cy="25603"/>
          </a:xfrm>
          <a:prstGeom prst="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8503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游ゴシック"/>
                <a:ea typeface="游ゴシック"/>
              </a:rPr>
              <a:t>絶対フラックス φ = R_NET / εS_peak に対する統計伝播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844E"/>
                </a:solidFill>
                <a:latin typeface="游ゴシック"/>
                <a:ea typeface="游ゴシック"/>
              </a:rPr>
              <a:t>① 正味計数率の統計誤差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914400"/>
            <a:ext cx="7040879" cy="1348253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yerr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960120"/>
            <a:ext cx="6949440" cy="12568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057400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844E"/>
                </a:solidFill>
                <a:latin typeface="游ゴシック"/>
                <a:ea typeface="游ゴシック"/>
              </a:rPr>
              <a:t>② フラックスへ伝播（εS_peak は定数扱い）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286000"/>
            <a:ext cx="6309359" cy="1305701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yerr_p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31720"/>
            <a:ext cx="6217920" cy="1214261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429000"/>
          <a:ext cx="84124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意味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GROSS / BG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ROI 総カウント / 側帯から推定した背景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δR_NET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正味計数率の 1σ 統計誤差 [s⁻¹]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δφ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絶対フラックスの 1σ 統計誤差 [n/cm²/s]（= y_err）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844E"/>
                </a:solidFill>
                <a:latin typeface="游ゴシック"/>
                <a:ea typeface="游ゴシック"/>
              </a:rPr>
              <a:t>【附記】縦軸の誤差（相対・数値例）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8503920" cy="25603"/>
          </a:xfrm>
          <a:prstGeom prst="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844E"/>
                </a:solidFill>
                <a:latin typeface="游ゴシック"/>
                <a:ea typeface="游ゴシック"/>
              </a:rPr>
              <a:t>相対フラックスの誤差（基準点 x₀ との比）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822959"/>
            <a:ext cx="7406640" cy="1438155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el_e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68680"/>
            <a:ext cx="7315200" cy="1346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2148840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844E"/>
                </a:solidFill>
                <a:latin typeface="游ゴシック"/>
                <a:ea typeface="游ゴシック"/>
              </a:rPr>
              <a:t>数値例（D1・peak764）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423160"/>
          <a:ext cx="50292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地点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φ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δφ (y_err)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相対%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1.69e-03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4.12e-05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2.4%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6.61e-04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1.32e-05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7.83e-04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9.23e-06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1.2%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3.85e-04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1.43e-05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3.20e-04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7.93e-06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2.5%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1.41e-04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3.07e-06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1.84e-04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4.80e-06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2.6%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0" y="2423160"/>
            <a:ext cx="3108960" cy="214884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游ゴシック"/>
                <a:ea typeface="游ゴシック"/>
              </a:rPr>
              <a:t>読み方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縦誤差棒はだいたい数 %。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深い地点でも統計は抑えめ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（長時間測定のため）。</a:t>
            </a:r>
          </a:p>
          <a:p>
            <a:endParaRPr sz="1000" b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※ εS_peak の系統（メーカー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±5%・転送比）は縦棒には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含めていない（別途議論）。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游ゴシック"/>
                <a:ea typeface="游ゴシック"/>
              </a:rPr>
              <a:t>【附記】横軸の誤差（系統）δt_eq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8503920" cy="2560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8503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游ゴシック"/>
                <a:ea typeface="游ゴシック"/>
              </a:rPr>
              <a:t>等価コンクリート厚 t_eq = X/ρ_c の不確かさ（厚さ＋密度）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392B"/>
                </a:solidFill>
                <a:latin typeface="游ゴシック"/>
                <a:ea typeface="游ゴシック"/>
              </a:rPr>
              <a:t>① 等価コンクリート厚の定義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59" y="868680"/>
            <a:ext cx="7863840" cy="1429574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x_t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7772400" cy="13381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057400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392B"/>
                </a:solidFill>
                <a:latin typeface="游ゴシック"/>
                <a:ea typeface="游ゴシック"/>
              </a:rPr>
              <a:t>② 各層の質量厚さの相対不確かさ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86000"/>
            <a:ext cx="7223759" cy="1393185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xerr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31720"/>
            <a:ext cx="7132320" cy="13017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3474720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392B"/>
                </a:solidFill>
                <a:latin typeface="游ゴシック"/>
                <a:ea typeface="游ゴシック"/>
              </a:rPr>
              <a:t>③ 層を合成して t_eq の誤差へ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7406640" cy="1352277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xerr_te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49039"/>
            <a:ext cx="7315200" cy="12608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游ゴシック"/>
                <a:ea typeface="游ゴシック"/>
              </a:rPr>
              <a:t>【附記】横軸誤差の仮定値と地点別の大きさ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8503920" cy="2560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640080"/>
          <a:ext cx="85039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層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厚さの不確かさ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密度の不確かさ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コンクリート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δt_c = max(5 cm, 5%·t)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ρ_c = 2.3 ± 0.1 g/cm³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土（ローム等）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δt_s = 10%·t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相対 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鉄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δt_Fe = max(5 cm, 5%·t)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ρ_Fe = 7.2 ± 0.3 g/cm³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2011680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392B"/>
                </a:solidFill>
                <a:latin typeface="游ゴシック"/>
                <a:ea typeface="游ゴシック"/>
              </a:rPr>
              <a:t>地点別 δt_eq（= 図の x_err）と寄与分解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2286000"/>
          <a:ext cx="8503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地点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t_eq [cm]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δt_eq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厚さ寄与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密度寄与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0.0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0.00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0.00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0.00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105.0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6.96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5.25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4.57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19.88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13.04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BT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189.1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23.95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13.85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19.54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480.0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31.80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24.00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525.4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80.53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44.82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66.91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游ゴシック"/>
                <a:ea typeface="游ゴシック"/>
              </a:rPr>
              <a:t>【附記】数値例：PF 地点の誤差棒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8503920" cy="25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8503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游ゴシック"/>
                <a:ea typeface="游ゴシック"/>
              </a:rPr>
              <a:t>コンクリート 105 cm のみ（土・鉄なし）→ 横軸も縦軸も追える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4114800" cy="96012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游ゴシック"/>
                <a:ea typeface="游ゴシック"/>
              </a:rPr>
              <a:t>PF の層構造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コンクリート t_c = 105 cm、土・鉄 = 0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t_eq = 105.0 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685800"/>
            <a:ext cx="4114800" cy="960120"/>
          </a:xfrm>
          <a:prstGeom prst="roundRect">
            <a:avLst/>
          </a:prstGeom>
          <a:solidFill>
            <a:srgbClr val="E8F8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游ゴシック"/>
                <a:ea typeface="游ゴシック"/>
              </a:rPr>
              <a:t>縦軸（統計）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φ = 7.829e-04 n/cm²/s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δφ = 9.23e-06  （相対 1.2%）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392B"/>
                </a:solidFill>
                <a:latin typeface="游ゴシック"/>
                <a:ea typeface="游ゴシック"/>
              </a:rPr>
              <a:t>横軸の計算（抜粋）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・δt_c = max(5, 0.05×105) = max(5, 5.25) = 5.25 cm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・δρ_c/ρ_c = 0.1/2.3 ≈ 4.3%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・厚さ寄与 ≈ 5.25 cm、密度寄与 ≈ 4.57 cm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・δt_eq = √(厚さ²+密度²) ≈ 6.96 cm  → これが x_err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566160"/>
          <a:ext cx="841248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量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値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図での見え方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x = t_eq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105.0 cm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点の横位置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x_err = δt_eq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6.96 cm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横の誤差棒（±）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y = φ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7.829e-04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点の縦位置（片対数）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y_err = δφ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9.23e-06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縦の誤差棒（±）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游ゴシック"/>
                <a:ea typeface="游ゴシック"/>
              </a:rPr>
              <a:t>【附記】誤差棒つき図（熱 / MeV）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8503920" cy="25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8503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游ゴシック"/>
                <a:ea typeface="游ゴシック"/>
              </a:rPr>
              <a:t>同じ誤差の定義で、検出器グループだけを分けて表示</a:t>
            </a:r>
          </a:p>
        </p:txBody>
      </p:sp>
      <p:pic>
        <p:nvPicPr>
          <p:cNvPr id="5" name="Picture 4" descr="18_全地点_フラックス_絶対_熱中性子_D1d1_λ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4297680" cy="2552271"/>
          </a:xfrm>
          <a:prstGeom prst="rect">
            <a:avLst/>
          </a:prstGeom>
        </p:spPr>
      </p:pic>
      <p:pic>
        <p:nvPicPr>
          <p:cNvPr id="6" name="Picture 5" descr="18_全地点_フラックス_絶対_MeV_D2d2_λ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685800"/>
            <a:ext cx="4297680" cy="2552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58368"/>
            <a:ext cx="4114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844E"/>
                </a:solidFill>
                <a:latin typeface="游ゴシック"/>
                <a:ea typeface="游ゴシック"/>
              </a:rPr>
              <a:t>熱中性子（D1, d1）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58368"/>
            <a:ext cx="4114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0392B"/>
                </a:solidFill>
                <a:latin typeface="游ゴシック"/>
                <a:ea typeface="游ゴシック"/>
              </a:rPr>
              <a:t>MeV中性子（D2, d2）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4023360"/>
            <a:ext cx="8503920" cy="77724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游ゴシック"/>
                <a:ea typeface="游ゴシック"/>
              </a:rPr>
              <a:t>読み取りの注意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・深い地点ほど横棒が長い（δt_eq が増える。特に土層がある BT・KEKB）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・縦棒は片対数でも「相対誤差」がほぼ一定なら見た目の長さが似る</a:t>
            </a:r>
          </a:p>
          <a:p>
            <a:r>
              <a:rPr sz="1000" b="0">
                <a:solidFill>
                  <a:srgbClr val="222222"/>
                </a:solidFill>
                <a:latin typeface="游ゴシック"/>
                <a:ea typeface="游ゴシック"/>
              </a:rPr>
              <a:t>・理論曲線 e^{−x/λ} とのずれを論じるときは、横の系統も合わせて見る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游ゴシック"/>
                <a:ea typeface="游ゴシック"/>
              </a:rPr>
              <a:t>【附記】誤差のまとめ（チェックリスト）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8503920" cy="25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685800"/>
          <a:ext cx="8503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項目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縦軸 y_err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横軸 x_err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物理量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δφ（または相対φの誤差）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δt_eq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性格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統計（測定時間で小さくなる）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系統（測り直しでは減らない）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式の要点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δφ = δR_NET / εS_peak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δt_eq = √Σ(δX)² / ρ_c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コード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roi_net → 絶対phi_err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_teq_systematic_err_cm()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CSV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フラックス_地点まとめ.csv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等価コンクリート_減衰_*_誤差棒.csv</a:t>
                      </a:r>
                    </a:p>
                  </a:txBody>
                  <a:tcPr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図の引数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errorbar(..., yerr=...)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errorbar(..., xerr=...)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24612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・本編・図18の誤差棒は上記の定義に従う（peak764_cut200）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・縦に含めていないもの: εS の系統、背景法の選択、部分補正 f の不確かさ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・横に含めていないもの: 地点割り当てミス、遮蔽組成モデルの選択そのもの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</a:rPr>
              <a:t>・参照: _plot_mca.py（系統定数 SYS_DT_* / SYS_DRHO_*）、絶対の.csv の x_err, y_err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7316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  <a:ea typeface="游ゴシック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8473</TotalTime>
  <Words>1889</Words>
  <Application>Microsoft Macintosh PowerPoint</Application>
  <PresentationFormat>画面に合わせる (16:9)</PresentationFormat>
  <Paragraphs>567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KAWASHIMA Yuto</cp:lastModifiedBy>
  <cp:revision>2</cp:revision>
  <dcterms:created xsi:type="dcterms:W3CDTF">2013-01-27T09:14:16Z</dcterms:created>
  <dcterms:modified xsi:type="dcterms:W3CDTF">2026-08-31T14:30:57Z</dcterms:modified>
  <cp:category/>
</cp:coreProperties>
</file>