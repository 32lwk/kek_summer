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2" r:id="rId2"/>
    <p:sldId id="275" r:id="rId3"/>
    <p:sldId id="272" r:id="rId4"/>
    <p:sldId id="257" r:id="rId5"/>
    <p:sldId id="256" r:id="rId6"/>
    <p:sldId id="274" r:id="rId7"/>
    <p:sldId id="261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E97132"/>
    <a:srgbClr val="E59EDD"/>
    <a:srgbClr val="59A03B"/>
    <a:srgbClr val="7E9CC8"/>
    <a:srgbClr val="004898"/>
    <a:srgbClr val="FFFFFF"/>
    <a:srgbClr val="622700"/>
    <a:srgbClr val="5F4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5"/>
    <p:restoredTop sz="94682"/>
  </p:normalViewPr>
  <p:slideViewPr>
    <p:cSldViewPr snapToGrid="0">
      <p:cViewPr>
        <p:scale>
          <a:sx n="104" d="100"/>
          <a:sy n="104" d="100"/>
        </p:scale>
        <p:origin x="1288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866ED-7848-7C4D-B44F-85B5C101B76B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916A4-38B3-CD42-BF41-87D6EDA952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456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916A4-38B3-CD42-BF41-87D6EDA9523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70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5E9FD-58E9-5CAA-6068-AC16A9F6B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CD12AE-3826-A8D0-6EAC-53A22192E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C365D7-1105-9E7A-5109-CA89355B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C240DB-AC79-5C02-8372-839761CB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852CA7-0F45-3A0A-9888-9EE0C464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729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CE95C-13B8-9665-7FFB-0738EA89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ADB2C2-BAA0-726E-EEB5-53290B5B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2CFA9D-91AA-E8A6-FA7F-42F30EF2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E38B60-BBE3-5FC4-C67E-2BD8B145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C14E2E-89A2-D5EB-6CD4-9C523D09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41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3254D-0E23-D963-9315-E4933F81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E6A3F7-8EF7-2A8A-CF2D-8B048DCA9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D93401-67F8-237C-837C-2AF5BD6A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4604D6-3156-B54D-5ED6-AC858418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1F7B8-2E9F-CE2A-D3FE-FBD34EEB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63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5F416-E99E-A069-DAFF-3516E50CA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8EA01A-175F-248A-8509-23AE1742B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75304F-D99F-44A1-71AE-6557EC923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E24BDF-FF27-5751-72EC-9AA6012B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6D6827-2102-4A9E-D767-4DFB47DE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282724-4649-6B8E-F161-759DBF61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938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64A37-F7AD-8BC2-3DA4-5BE7B687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B81C60-63D3-DA08-CF5F-6A5E65ECD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F29C11-57FC-3704-CBAA-386567B1C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61E204-AB48-5F00-A393-C8E5F90F4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B71030-C2D4-4144-2BD8-AC205F1B1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084DE1-A02A-1B2B-5DC4-584FCA88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BAD5DB-D940-8B58-7346-D9982D6C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0D3D608-3653-1A58-8C91-C1375DB1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13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98117-2102-2C3A-90E8-9AB63C6E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DA9D758-2D61-6646-67B5-8107FFC6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574885-8012-3CE0-E924-DD8F1F59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FE2EA9-FA61-1DD2-CA02-64E4D444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12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0840C6B-3495-DB25-736E-DB7E17DB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789A5F5-0B72-4E31-519D-67BF15BC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576C4B-5FDF-97A5-D5DC-EEB6673F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815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35FFE-0449-EE9E-E415-35B849B6A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2B6219-DACC-735C-4882-B664EAEC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B8C3D6-62B2-2C1E-5798-D012EFD5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A69442-41BE-DF46-3B8B-15729935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E6DE72-2F22-C5C3-5A54-9CE472A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F41ACD-7035-2178-42A9-08D7D379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34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7C820F-9040-E527-1B69-2FD243F8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069279-EE72-8F6C-5692-263A61BB1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17942B-3BB1-713F-A72C-4DB35EDAA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8B7A9E-8F03-8960-04E2-95D9F35B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ABA7AE-FB91-D81F-024F-2A23D3E1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6A565B-7579-A15F-1A45-CA9BFC7D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24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AC0AD9-A0DD-9FB2-06FE-0FAE5FD8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A15346-3071-08D0-B9F6-5B77D20F3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6C783-8AF2-7865-D4AE-CD5FA22E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436428-5D22-7E94-447F-D0900B7E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5852F1-4D8D-78B1-DA24-5907419B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18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F7BEF62-1133-BAE4-C2ED-59A1AD5C5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84513C-F499-534F-A528-F1B709E83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CB4D96-D980-E302-BF46-4995EC84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A25DC4-1C9B-A409-708F-6F32FEE3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0D1D60-F819-2DD4-702A-DFCBEBE6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0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B6D6A6-2C34-0E69-4921-0D327413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22A328-AF8E-E333-AEDC-A896E69AD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AFC12B-A197-6025-A1B8-D1349DBA2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82AA-1FA1-A04D-A626-B87FA16A2935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CB3BC5-80D2-5BCD-3C2D-9D6300982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B34A25-8C0B-1D4A-53D6-65A3AEBD1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215A3-98B7-3F48-AE64-692B99746B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24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5946-8EC9-76DF-C449-815EF476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BE494-1F88-3FC0-8801-24E6A5E4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BAC3EA48-A139-63B0-1E36-7A4BEF0B7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92" y="1690688"/>
            <a:ext cx="6183008" cy="4802187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0D58C700-5363-EFE0-5791-3A46F69BC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8" t="5889" b="5142"/>
          <a:stretch>
            <a:fillRect/>
          </a:stretch>
        </p:blipFill>
        <p:spPr>
          <a:xfrm>
            <a:off x="659752" y="2315528"/>
            <a:ext cx="5349240" cy="2938925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CDB6CEF-E5A2-612B-892E-1E6ADFBC3799}"/>
              </a:ext>
            </a:extLst>
          </p:cNvPr>
          <p:cNvSpPr txBox="1"/>
          <p:nvPr/>
        </p:nvSpPr>
        <p:spPr>
          <a:xfrm>
            <a:off x="2822052" y="5319666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深度</a:t>
            </a:r>
            <a:r>
              <a:rPr kumimoji="1" lang="en-US" altLang="ja-JP" dirty="0"/>
              <a:t>(m)</a:t>
            </a:r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0C78B08-1AAD-03CB-0376-AD5EEE631F9D}"/>
              </a:ext>
            </a:extLst>
          </p:cNvPr>
          <p:cNvSpPr txBox="1"/>
          <p:nvPr/>
        </p:nvSpPr>
        <p:spPr>
          <a:xfrm>
            <a:off x="342364" y="2632167"/>
            <a:ext cx="317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絶対フラックス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AA613F3-D3C8-2F40-A353-ADCE907F7D78}"/>
              </a:ext>
            </a:extLst>
          </p:cNvPr>
          <p:cNvSpPr txBox="1"/>
          <p:nvPr/>
        </p:nvSpPr>
        <p:spPr>
          <a:xfrm>
            <a:off x="342364" y="2194483"/>
            <a:ext cx="80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/>
              <a:t>(cm</a:t>
            </a:r>
            <a:r>
              <a:rPr kumimoji="1" lang="en-US" altLang="ja-JP" sz="900" baseline="30000" dirty="0"/>
              <a:t>-2</a:t>
            </a:r>
            <a:r>
              <a:rPr kumimoji="1" lang="en-US" altLang="ja-JP" sz="900" dirty="0"/>
              <a:t>s</a:t>
            </a:r>
            <a:r>
              <a:rPr kumimoji="1" lang="en-US" altLang="ja-JP" sz="900" baseline="30000" dirty="0"/>
              <a:t>-1</a:t>
            </a:r>
            <a:r>
              <a:rPr kumimoji="1" lang="en-US" altLang="ja-JP" sz="9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69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EF312C-B628-4F08-0466-04858F63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Picture 1" descr="s11_energy_bands.png">
            <a:extLst>
              <a:ext uri="{FF2B5EF4-FFF2-40B4-BE49-F238E27FC236}">
                <a16:creationId xmlns:a16="http://schemas.microsoft.com/office/drawing/2014/main" id="{8364D794-55BA-97ED-B3BD-13859D1B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25" b="42083"/>
          <a:stretch>
            <a:fillRect/>
          </a:stretch>
        </p:blipFill>
        <p:spPr>
          <a:xfrm>
            <a:off x="2089825" y="616318"/>
            <a:ext cx="9144000" cy="1871663"/>
          </a:xfrm>
          <a:prstGeom prst="rect">
            <a:avLst/>
          </a:prstGeom>
        </p:spPr>
      </p:pic>
      <p:sp>
        <p:nvSpPr>
          <p:cNvPr id="6" name="片側の 2 つの角を丸めた四角形 5">
            <a:extLst>
              <a:ext uri="{FF2B5EF4-FFF2-40B4-BE49-F238E27FC236}">
                <a16:creationId xmlns:a16="http://schemas.microsoft.com/office/drawing/2014/main" id="{44A29AD4-F951-0F9A-4F27-204B569D3A88}"/>
              </a:ext>
            </a:extLst>
          </p:cNvPr>
          <p:cNvSpPr/>
          <p:nvPr/>
        </p:nvSpPr>
        <p:spPr>
          <a:xfrm rot="16200000">
            <a:off x="-79800" y="3527315"/>
            <a:ext cx="1836000" cy="2272677"/>
          </a:xfrm>
          <a:prstGeom prst="round2SameRect">
            <a:avLst>
              <a:gd name="adj1" fmla="val 22331"/>
              <a:gd name="adj2" fmla="val 0"/>
            </a:avLst>
          </a:prstGeom>
          <a:solidFill>
            <a:srgbClr val="E59EDD">
              <a:alpha val="26275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ja-JP" altLang="en-US" sz="3000" b="1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31D4367-8793-6FCB-C0BF-CCB7F6C914D4}"/>
              </a:ext>
            </a:extLst>
          </p:cNvPr>
          <p:cNvSpPr/>
          <p:nvPr/>
        </p:nvSpPr>
        <p:spPr>
          <a:xfrm>
            <a:off x="1974539" y="3745652"/>
            <a:ext cx="2412460" cy="1836001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200" b="1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MeV</a:t>
            </a:r>
            <a:r>
              <a:rPr kumimoji="1" lang="ja-JP" altLang="en-US" sz="3200" b="1">
                <a:latin typeface="BIZ UDPGothic" panose="020B0400000000000000" pitchFamily="34" charset="-128"/>
                <a:ea typeface="BIZ UDPGothic" panose="020B0400000000000000" pitchFamily="34" charset="-128"/>
              </a:rPr>
              <a:t>中性子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70A1A71-B1E5-4C75-BCE6-33FA039D1DC9}"/>
              </a:ext>
            </a:extLst>
          </p:cNvPr>
          <p:cNvSpPr/>
          <p:nvPr/>
        </p:nvSpPr>
        <p:spPr>
          <a:xfrm>
            <a:off x="4386999" y="3745652"/>
            <a:ext cx="2412460" cy="1836001"/>
          </a:xfrm>
          <a:prstGeom prst="rect">
            <a:avLst/>
          </a:prstGeom>
          <a:solidFill>
            <a:schemeClr val="accent6">
              <a:lumMod val="20000"/>
              <a:lumOff val="80000"/>
              <a:alpha val="46275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1EAB21B-BD48-7A18-2BC5-E10A3B4E3F46}"/>
              </a:ext>
            </a:extLst>
          </p:cNvPr>
          <p:cNvSpPr/>
          <p:nvPr/>
        </p:nvSpPr>
        <p:spPr>
          <a:xfrm>
            <a:off x="6799459" y="3745651"/>
            <a:ext cx="2412460" cy="1836001"/>
          </a:xfrm>
          <a:prstGeom prst="rect">
            <a:avLst/>
          </a:prstGeom>
          <a:solidFill>
            <a:srgbClr val="FFFF00">
              <a:alpha val="17255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片側の 2 つの角を丸めた四角形 11">
            <a:extLst>
              <a:ext uri="{FF2B5EF4-FFF2-40B4-BE49-F238E27FC236}">
                <a16:creationId xmlns:a16="http://schemas.microsoft.com/office/drawing/2014/main" id="{39F924C4-96A7-3DD8-2567-A5E8D8A0EA9D}"/>
              </a:ext>
            </a:extLst>
          </p:cNvPr>
          <p:cNvSpPr/>
          <p:nvPr/>
        </p:nvSpPr>
        <p:spPr>
          <a:xfrm rot="5400000">
            <a:off x="9463510" y="3527314"/>
            <a:ext cx="1836000" cy="2272677"/>
          </a:xfrm>
          <a:prstGeom prst="round2SameRect">
            <a:avLst>
              <a:gd name="adj1" fmla="val 22331"/>
              <a:gd name="adj2" fmla="val 0"/>
            </a:avLst>
          </a:prstGeom>
          <a:solidFill>
            <a:srgbClr val="E9713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CEBE5F9-2D15-55D7-383E-17CB903F5A14}"/>
              </a:ext>
            </a:extLst>
          </p:cNvPr>
          <p:cNvSpPr txBox="1"/>
          <p:nvPr/>
        </p:nvSpPr>
        <p:spPr>
          <a:xfrm>
            <a:off x="-2312773" y="4386652"/>
            <a:ext cx="6301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GeV</a:t>
            </a:r>
            <a:r>
              <a:rPr lang="ja-JP" altLang="en-US" sz="3000" b="1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中性子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07DF139-36A3-6F0C-364C-BAE29A0A6EDE}"/>
              </a:ext>
            </a:extLst>
          </p:cNvPr>
          <p:cNvSpPr txBox="1"/>
          <p:nvPr/>
        </p:nvSpPr>
        <p:spPr>
          <a:xfrm>
            <a:off x="2405619" y="4386652"/>
            <a:ext cx="630194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keV</a:t>
            </a:r>
            <a:r>
              <a:rPr lang="ja-JP" altLang="en-US" sz="3000" b="1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中性子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360F8B-24F6-D8C2-F077-903D205EAA8C}"/>
              </a:ext>
            </a:extLst>
          </p:cNvPr>
          <p:cNvSpPr txBox="1"/>
          <p:nvPr/>
        </p:nvSpPr>
        <p:spPr>
          <a:xfrm>
            <a:off x="4357357" y="4370020"/>
            <a:ext cx="72966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000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eV</a:t>
            </a:r>
            <a:r>
              <a:rPr lang="ja-JP" altLang="en-US" sz="3000" b="1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中性子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06840E-7456-576D-ED3C-DAC22EE23A83}"/>
              </a:ext>
            </a:extLst>
          </p:cNvPr>
          <p:cNvSpPr txBox="1"/>
          <p:nvPr/>
        </p:nvSpPr>
        <p:spPr>
          <a:xfrm>
            <a:off x="6577652" y="4370020"/>
            <a:ext cx="72966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000" b="1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熱中性子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C101AE0C-320A-BB3D-00A3-FF8DCBDAF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06130"/>
            <a:ext cx="7772400" cy="104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6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1044-F3C5-B318-D02D-C60F2B5C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692E22-635B-E569-C818-2EAB7E97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7B3E63-24CB-1937-6ED9-A95104DCD498}"/>
              </a:ext>
            </a:extLst>
          </p:cNvPr>
          <p:cNvSpPr/>
          <p:nvPr/>
        </p:nvSpPr>
        <p:spPr>
          <a:xfrm>
            <a:off x="1933407" y="1690688"/>
            <a:ext cx="2692382" cy="1173536"/>
          </a:xfrm>
          <a:prstGeom prst="rect">
            <a:avLst/>
          </a:prstGeom>
          <a:pattFill prst="pct10">
            <a:fgClr>
              <a:schemeClr val="bg1"/>
            </a:fgClr>
            <a:bgClr>
              <a:srgbClr val="A27745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D45898-02E0-266F-9B42-0FA5D449F954}"/>
              </a:ext>
            </a:extLst>
          </p:cNvPr>
          <p:cNvSpPr/>
          <p:nvPr/>
        </p:nvSpPr>
        <p:spPr>
          <a:xfrm>
            <a:off x="1933407" y="2842232"/>
            <a:ext cx="2692382" cy="1173536"/>
          </a:xfrm>
          <a:prstGeom prst="rect">
            <a:avLst/>
          </a:prstGeom>
          <a:pattFill prst="pct80">
            <a:fgClr>
              <a:srgbClr val="5F462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BEF8192-A207-37BC-32FF-DE56C21981A6}"/>
              </a:ext>
            </a:extLst>
          </p:cNvPr>
          <p:cNvSpPr/>
          <p:nvPr/>
        </p:nvSpPr>
        <p:spPr>
          <a:xfrm>
            <a:off x="1933407" y="4023286"/>
            <a:ext cx="2692382" cy="535267"/>
          </a:xfrm>
          <a:prstGeom prst="rect">
            <a:avLst/>
          </a:prstGeom>
          <a:pattFill prst="pct80">
            <a:fgClr>
              <a:srgbClr val="6227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FACE44-5C99-9E66-8938-3DF80D03CF8D}"/>
              </a:ext>
            </a:extLst>
          </p:cNvPr>
          <p:cNvSpPr/>
          <p:nvPr/>
        </p:nvSpPr>
        <p:spPr>
          <a:xfrm>
            <a:off x="1933408" y="4558552"/>
            <a:ext cx="2692382" cy="1173537"/>
          </a:xfrm>
          <a:prstGeom prst="rect">
            <a:avLst/>
          </a:prstGeom>
          <a:pattFill prst="pct90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BF9F1DE-4B68-631A-6708-66C381DAB378}"/>
              </a:ext>
            </a:extLst>
          </p:cNvPr>
          <p:cNvSpPr/>
          <p:nvPr/>
        </p:nvSpPr>
        <p:spPr>
          <a:xfrm>
            <a:off x="7921832" y="1690688"/>
            <a:ext cx="2692382" cy="4041401"/>
          </a:xfrm>
          <a:prstGeom prst="rect">
            <a:avLst/>
          </a:prstGeom>
          <a:pattFill prst="pct90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E5FD38-D355-B5C3-1031-86ABED477ABC}"/>
              </a:ext>
            </a:extLst>
          </p:cNvPr>
          <p:cNvSpPr txBox="1"/>
          <p:nvPr/>
        </p:nvSpPr>
        <p:spPr>
          <a:xfrm>
            <a:off x="5258148" y="305489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等価</a:t>
            </a:r>
            <a:r>
              <a:rPr kumimoji="1" lang="ja-JP" altLang="en-US"/>
              <a:t>コンクリート</a:t>
            </a:r>
          </a:p>
        </p:txBody>
      </p:sp>
    </p:spTree>
    <p:extLst>
      <p:ext uri="{BB962C8B-B14F-4D97-AF65-F5344CB8AC3E}">
        <p14:creationId xmlns:p14="http://schemas.microsoft.com/office/powerpoint/2010/main" val="281087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A6BF27E1-45E3-8299-474C-5C33E85E0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2414656" y="-1211331"/>
            <a:ext cx="6305826" cy="945873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5668F0-A492-E242-94E5-BD6C2E07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15" name="グラフィックス 14" descr="マーカー 単色塗りつぶし">
            <a:extLst>
              <a:ext uri="{FF2B5EF4-FFF2-40B4-BE49-F238E27FC236}">
                <a16:creationId xmlns:a16="http://schemas.microsoft.com/office/drawing/2014/main" id="{996568A0-CB3D-6792-2D7F-2E3A535DF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2" y="2571748"/>
            <a:ext cx="628652" cy="628652"/>
          </a:xfrm>
          <a:prstGeom prst="rect">
            <a:avLst/>
          </a:prstGeom>
        </p:spPr>
      </p:pic>
      <p:pic>
        <p:nvPicPr>
          <p:cNvPr id="16" name="グラフィックス 15" descr="マーカー 単色塗りつぶし">
            <a:extLst>
              <a:ext uri="{FF2B5EF4-FFF2-40B4-BE49-F238E27FC236}">
                <a16:creationId xmlns:a16="http://schemas.microsoft.com/office/drawing/2014/main" id="{2E2DB044-2214-F1CB-0849-C3D17899C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885" y="3200400"/>
            <a:ext cx="628652" cy="628652"/>
          </a:xfrm>
          <a:prstGeom prst="rect">
            <a:avLst/>
          </a:prstGeom>
        </p:spPr>
      </p:pic>
      <p:pic>
        <p:nvPicPr>
          <p:cNvPr id="17" name="グラフィックス 16" descr="マーカー 単色塗りつぶし">
            <a:extLst>
              <a:ext uri="{FF2B5EF4-FFF2-40B4-BE49-F238E27FC236}">
                <a16:creationId xmlns:a16="http://schemas.microsoft.com/office/drawing/2014/main" id="{6A0B707E-A122-A40D-56A7-74984108C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485" y="1578766"/>
            <a:ext cx="628652" cy="628652"/>
          </a:xfrm>
          <a:prstGeom prst="rect">
            <a:avLst/>
          </a:prstGeom>
        </p:spPr>
      </p:pic>
      <p:pic>
        <p:nvPicPr>
          <p:cNvPr id="18" name="グラフィックス 17" descr="マーカー 単色塗りつぶし">
            <a:extLst>
              <a:ext uri="{FF2B5EF4-FFF2-40B4-BE49-F238E27FC236}">
                <a16:creationId xmlns:a16="http://schemas.microsoft.com/office/drawing/2014/main" id="{39264A09-791A-4526-3EF7-BD278593A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14570"/>
            <a:ext cx="628652" cy="628652"/>
          </a:xfrm>
          <a:prstGeom prst="rect">
            <a:avLst/>
          </a:prstGeom>
        </p:spPr>
      </p:pic>
      <p:pic>
        <p:nvPicPr>
          <p:cNvPr id="19" name="グラフィックス 18" descr="マーカー 単色塗りつぶし">
            <a:extLst>
              <a:ext uri="{FF2B5EF4-FFF2-40B4-BE49-F238E27FC236}">
                <a16:creationId xmlns:a16="http://schemas.microsoft.com/office/drawing/2014/main" id="{1ED8B091-25AF-B138-BCE3-12CC44787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485" y="2207418"/>
            <a:ext cx="628652" cy="628652"/>
          </a:xfrm>
          <a:prstGeom prst="rect">
            <a:avLst/>
          </a:prstGeom>
        </p:spPr>
      </p:pic>
      <p:pic>
        <p:nvPicPr>
          <p:cNvPr id="20" name="グラフィックス 19" descr="マーカー 単色塗りつぶし">
            <a:extLst>
              <a:ext uri="{FF2B5EF4-FFF2-40B4-BE49-F238E27FC236}">
                <a16:creationId xmlns:a16="http://schemas.microsoft.com/office/drawing/2014/main" id="{C078CDD5-BDF4-471B-7F7F-E3E3F355F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7137" y="2241540"/>
            <a:ext cx="628652" cy="628652"/>
          </a:xfrm>
          <a:prstGeom prst="rect">
            <a:avLst/>
          </a:prstGeom>
        </p:spPr>
      </p:pic>
      <p:pic>
        <p:nvPicPr>
          <p:cNvPr id="21" name="グラフィックス 20" descr="マーカー 単色塗りつぶし">
            <a:extLst>
              <a:ext uri="{FF2B5EF4-FFF2-40B4-BE49-F238E27FC236}">
                <a16:creationId xmlns:a16="http://schemas.microsoft.com/office/drawing/2014/main" id="{DAFDFA1C-168A-1F5C-5B43-A59FE78DB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3586" y="3567104"/>
            <a:ext cx="628652" cy="628652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B9D0E5C-8E19-4C32-0C29-394FFA4C7024}"/>
              </a:ext>
            </a:extLst>
          </p:cNvPr>
          <p:cNvSpPr txBox="1"/>
          <p:nvPr/>
        </p:nvSpPr>
        <p:spPr>
          <a:xfrm>
            <a:off x="373166" y="2247880"/>
            <a:ext cx="930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L</a:t>
            </a:r>
            <a:r>
              <a:rPr kumimoji="1"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inac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9CC6153-BB78-1DCA-B817-2BFEDD9927E1}"/>
              </a:ext>
            </a:extLst>
          </p:cNvPr>
          <p:cNvSpPr txBox="1"/>
          <p:nvPr/>
        </p:nvSpPr>
        <p:spPr>
          <a:xfrm>
            <a:off x="3940941" y="1290578"/>
            <a:ext cx="54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PF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E8FC2EB-11C3-3329-B6DE-0C16A808501B}"/>
              </a:ext>
            </a:extLst>
          </p:cNvPr>
          <p:cNvSpPr txBox="1"/>
          <p:nvPr/>
        </p:nvSpPr>
        <p:spPr>
          <a:xfrm>
            <a:off x="3111113" y="2241540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KEKB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E080660-9F34-1AF8-375B-AE4249EEB943}"/>
              </a:ext>
            </a:extLst>
          </p:cNvPr>
          <p:cNvSpPr txBox="1"/>
          <p:nvPr/>
        </p:nvSpPr>
        <p:spPr>
          <a:xfrm>
            <a:off x="4560777" y="1914460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BT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EDBA4D3-F18B-C3AC-160E-DD71403563BA}"/>
              </a:ext>
            </a:extLst>
          </p:cNvPr>
          <p:cNvSpPr txBox="1"/>
          <p:nvPr/>
        </p:nvSpPr>
        <p:spPr>
          <a:xfrm>
            <a:off x="6027849" y="2028731"/>
            <a:ext cx="764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K2K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532A859-AF46-EAA5-4C67-9D7AB604E755}"/>
              </a:ext>
            </a:extLst>
          </p:cNvPr>
          <p:cNvSpPr txBox="1"/>
          <p:nvPr/>
        </p:nvSpPr>
        <p:spPr>
          <a:xfrm>
            <a:off x="5175912" y="3290896"/>
            <a:ext cx="1963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熱中性子管理棟</a:t>
            </a: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FBD9D44A-39E4-66F6-CAF7-862F11A54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66884"/>
              </p:ext>
            </p:extLst>
          </p:nvPr>
        </p:nvGraphicFramePr>
        <p:xfrm>
          <a:off x="7966517" y="626500"/>
          <a:ext cx="4003235" cy="581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525">
                  <a:extLst>
                    <a:ext uri="{9D8B030D-6E8A-4147-A177-3AD203B41FA5}">
                      <a16:colId xmlns:a16="http://schemas.microsoft.com/office/drawing/2014/main" val="96569646"/>
                    </a:ext>
                  </a:extLst>
                </a:gridCol>
                <a:gridCol w="2273710">
                  <a:extLst>
                    <a:ext uri="{9D8B030D-6E8A-4147-A177-3AD203B41FA5}">
                      <a16:colId xmlns:a16="http://schemas.microsoft.com/office/drawing/2014/main" val="127443638"/>
                    </a:ext>
                  </a:extLst>
                </a:gridCol>
              </a:tblGrid>
              <a:tr h="69000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場所</a:t>
                      </a:r>
                      <a:endParaRPr kumimoji="1" lang="ja-JP" altLang="en-US" sz="2000" b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等価</a:t>
                      </a:r>
                      <a:endParaRPr kumimoji="1" lang="en-US" altLang="ja-JP" sz="2000" b="0" i="0" dirty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2000" b="0" i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コンクリート</a:t>
                      </a:r>
                      <a:r>
                        <a:rPr kumimoji="1" lang="en-US" altLang="ja-JP" sz="2000" b="0" i="0" dirty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(cm)</a:t>
                      </a:r>
                      <a:endParaRPr kumimoji="1" lang="ja-JP" altLang="en-US" sz="2000" b="0" i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488716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地上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0cm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936484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Linac</a:t>
                      </a:r>
                    </a:p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</a:t>
                      </a:r>
                      <a:r>
                        <a:rPr kumimoji="1" lang="en-US" altLang="ja-JP" sz="2000" dirty="0" err="1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Testhole</a:t>
                      </a:r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)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57cm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94342"/>
                  </a:ext>
                </a:extLst>
              </a:tr>
              <a:tr h="690004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PF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105cm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9627"/>
                  </a:ext>
                </a:extLst>
              </a:tr>
              <a:tr h="5635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BT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189cm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601054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Linac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300cm</a:t>
                      </a: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4898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K2K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444cm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660449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PS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480cm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39273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KEKB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525cm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695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69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1" y="219457"/>
            <a:ext cx="42883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 err="1">
                <a:solidFill>
                  <a:srgbClr val="C0392B"/>
                </a:solidFill>
                <a:latin typeface="游ゴシック"/>
                <a:ea typeface="游ゴシック"/>
              </a:rPr>
              <a:t>実験結果（熱中性子</a:t>
            </a:r>
            <a:r>
              <a:rPr sz="3200" b="1" dirty="0">
                <a:solidFill>
                  <a:srgbClr val="C0392B"/>
                </a:solidFill>
                <a:latin typeface="游ゴシック"/>
                <a:ea typeface="游ゴシック"/>
              </a:rPr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9056"/>
            <a:ext cx="11094720" cy="42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967360"/>
              </p:ext>
            </p:extLst>
          </p:nvPr>
        </p:nvGraphicFramePr>
        <p:xfrm>
          <a:off x="457200" y="1161270"/>
          <a:ext cx="11277600" cy="478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0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527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1" dirty="0">
                        <a:solidFill>
                          <a:srgbClr val="FFFFFF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R_NET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3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2056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4748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0.433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1.69E-3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926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18973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4.88E-2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6.97E-4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9171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45703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0.201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1903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23223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8.20E-2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</a:t>
                      </a:r>
                      <a:r>
                        <a:rPr lang="en"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c</a:t>
                      </a:r>
                      <a:endParaRPr sz="13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333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23286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1.43E-2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2.04E-4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945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9584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9.86E-2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2835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78562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3.61E-2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1.41E-4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650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76893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8.45E-3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1.21E-4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1841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39007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4.72E-2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659298" y="6315456"/>
            <a:ext cx="28886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67">
                <a:solidFill>
                  <a:srgbClr val="888888"/>
                </a:solidFill>
                <a:latin typeface="游ゴシック"/>
                <a:ea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7"/>
            <a:ext cx="47933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7E22"/>
                </a:solidFill>
                <a:latin typeface="游ゴシック"/>
                <a:ea typeface="游ゴシック"/>
              </a:rPr>
              <a:t>実験結果（MeV中性子）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9056"/>
            <a:ext cx="11094720" cy="42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312168"/>
              </p:ext>
            </p:extLst>
          </p:nvPr>
        </p:nvGraphicFramePr>
        <p:xfrm>
          <a:off x="1297622" y="1481263"/>
          <a:ext cx="9144000" cy="4328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907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</a:t>
                      </a: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500" b="1" dirty="0">
                        <a:solidFill>
                          <a:srgbClr val="FFFFFF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R_NET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5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2998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12302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0.244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1.37E-3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5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676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12105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5.59E-2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2.05E-3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500" b="0" dirty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9.50E-4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7381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62848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0.117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6.58E-4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2927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51267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5.71E-2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51379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8.77E-3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3.22E-4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9540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1.27E-2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4.66E-4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39038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5.93E-3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2.18E-4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659298" y="6315456"/>
            <a:ext cx="28886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67">
                <a:solidFill>
                  <a:srgbClr val="888888"/>
                </a:solidFill>
                <a:latin typeface="游ゴシック"/>
                <a:ea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AB88-5C9C-4D0D-D4D0-D6F894F0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E318A-AC62-A773-627E-D043F8E2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586BB0D-57C0-8614-FCDB-D6568AA5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368"/>
            <a:ext cx="6072238" cy="360814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73118E3-0098-8FF6-DF06-A507D360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238" y="1831368"/>
            <a:ext cx="6072238" cy="360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65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FFB9-55DB-4A9A-D94E-CCDE29E9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80243-B9F0-AC9A-76DF-27F7FF16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0A273E5-80AD-BF18-0DC1-9F17C708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677837"/>
            <a:ext cx="7269480" cy="59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2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17D2DF-49A6-522B-D0E0-46CA88E8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6C1D6A-FA50-31D1-27E8-F450389D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D964B8F-A6F5-8843-23FB-AE51D2FC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 b="31282"/>
          <a:stretch>
            <a:fillRect/>
          </a:stretch>
        </p:blipFill>
        <p:spPr>
          <a:xfrm>
            <a:off x="861718" y="1690688"/>
            <a:ext cx="10492082" cy="44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96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BCEA-D885-8B96-5B79-056FF149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CA882-D69A-4980-A137-BDBA37E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6AE9456-204F-696A-6BC3-2E7A60E91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5485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224</Words>
  <Application>Microsoft Macintosh PowerPoint</Application>
  <PresentationFormat>ワイド画面</PresentationFormat>
  <Paragraphs>167</Paragraphs>
  <Slides>10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BIZ UDPGothic</vt:lpstr>
      <vt:lpstr>游ゴシック</vt:lpstr>
      <vt:lpstr>游ゴシック Light</vt:lpstr>
      <vt:lpstr>Arial</vt:lpstr>
      <vt:lpstr>Office テーマ</vt:lpstr>
      <vt:lpstr>実験結果</vt:lpstr>
      <vt:lpstr>PowerPoint プレゼンテーション</vt:lpstr>
      <vt:lpstr>実験結果</vt:lpstr>
      <vt:lpstr>実験結果</vt:lpstr>
      <vt:lpstr>PowerPoint プレゼンテーション</vt:lpstr>
      <vt:lpstr>PowerPoint プレゼンテーション</vt:lpstr>
      <vt:lpstr>実験結果</vt:lpstr>
      <vt:lpstr>実験結果</vt:lpstr>
      <vt:lpstr>実験結果</vt:lpstr>
      <vt:lpstr>実験結果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KAWASHIMA Yuto</dc:creator>
  <cp:lastModifiedBy>KAWASHIMA Yuto</cp:lastModifiedBy>
  <cp:revision>1</cp:revision>
  <dcterms:created xsi:type="dcterms:W3CDTF">2026-08-25T09:54:59Z</dcterms:created>
  <dcterms:modified xsi:type="dcterms:W3CDTF">2026-08-27T16:01:25Z</dcterms:modified>
</cp:coreProperties>
</file>