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8412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C0392B"/>
                </a:solidFill>
                <a:latin typeface="游ゴシック"/>
                <a:ea typeface="游ゴシック"/>
              </a:rPr>
              <a:t>実験結果（熱中性子）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475488"/>
            <a:ext cx="8412480" cy="2743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60520" y="658368"/>
            <a:ext cx="4617720" cy="438912"/>
          </a:xfrm>
          <a:prstGeom prst="roundRect">
            <a:avLst/>
          </a:prstGeom>
          <a:solidFill>
            <a:srgbClr val="FCF3CF"/>
          </a:solidFill>
          <a:ln>
            <a:solidFill>
              <a:srgbClr val="F0C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22222"/>
                </a:solidFill>
                <a:latin typeface="游ゴシック"/>
                <a:ea typeface="游ゴシック"/>
              </a:rPr>
              <a:t>検出: D1（大径裸管）・d1（小径裸管）</a:t>
            </a:r>
          </a:p>
          <a:p>
            <a:pPr algn="ctr"/>
            <a:r>
              <a:rPr sz="1000" b="1">
                <a:solidFill>
                  <a:srgbClr val="222222"/>
                </a:solidFill>
                <a:latin typeface="游ゴシック"/>
                <a:ea typeface="游ゴシック"/>
              </a:rPr>
              <a:t>εS_peak: D1=256.3  d1=70.05 cm²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" y="603503"/>
            <a:ext cx="3584448" cy="826402"/>
          </a:xfrm>
          <a:prstGeom prst="roundRect">
            <a:avLst/>
          </a:prstGeom>
          <a:solidFill>
            <a:srgbClr val="E8EEF5"/>
          </a:solidFill>
          <a:ln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hi_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58368"/>
            <a:ext cx="3474720" cy="71667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691640"/>
          <a:ext cx="827532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685800"/>
                <a:gridCol w="1417320"/>
                <a:gridCol w="960120"/>
                <a:gridCol w="1234440"/>
                <a:gridCol w="1234440"/>
                <a:gridCol w="1417320"/>
              </a:tblGrid>
              <a:tr h="19920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場所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検出器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検出器の種類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検出数 N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測定時間 t/s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計数率 R_NET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フラックス Φ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1992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地上（屋外）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D1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熱・大径裸管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2056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4748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0.433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1.69E-3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1992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管理棟2階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熱・大径裸管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27878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52247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0.534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2.08E-3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992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管理棟2階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d1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熱・小径裸管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9762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76826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0.127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1.81E-3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1992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管理棟1階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熱・大径裸管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6696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17482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0.383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1.49E-3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992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Linac testhole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D1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熱・大径裸管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3430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20239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0.169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6.61E-4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1992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Linac testhole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熱・小径裸管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926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18973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4.88E-2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6.97E-4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992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PF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D1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熱・大径裸管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9171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45703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0.201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7.83E-4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1992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Linac3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熱・大径裸管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1903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23223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8.20E-2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3.20E-4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992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Linac3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d1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熱・小径裸管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333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23286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1.43E-2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2.04E-4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1992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放射線棟BT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熱・大径裸管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945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9584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9.86E-2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3.85E-4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992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PS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D1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熱・大径裸管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2835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78562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3.61E-2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1.41E-4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1992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熱・小径裸管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650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76893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8.45E-3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1.21E-4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9921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KEKB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D1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熱・大径裸管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1841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39007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4.72E-2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1.84E-4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4663440"/>
            <a:ext cx="795527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555555"/>
                </a:solidFill>
                <a:latin typeface="游ゴシック"/>
                <a:ea typeface="游ゴシック"/>
              </a:rPr>
              <a:t>※ 熱中性子用＝³He 裸管。peak ROI（764 keV）NET・peak764_cut200。単位: R [s⁻¹], Φ [cm⁻²·s⁻¹]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4773168"/>
            <a:ext cx="502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游ゴシック"/>
                <a:ea typeface="游ゴシック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8412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E67E22"/>
                </a:solidFill>
                <a:latin typeface="游ゴシック"/>
                <a:ea typeface="游ゴシック"/>
              </a:rPr>
              <a:t>実験結果（MeV中性子）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475488"/>
            <a:ext cx="8412480" cy="2743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60520" y="658368"/>
            <a:ext cx="4617720" cy="438912"/>
          </a:xfrm>
          <a:prstGeom prst="roundRect">
            <a:avLst/>
          </a:prstGeom>
          <a:solidFill>
            <a:srgbClr val="FCF3CF"/>
          </a:solidFill>
          <a:ln>
            <a:solidFill>
              <a:srgbClr val="F0C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22222"/>
                </a:solidFill>
                <a:latin typeface="游ゴシック"/>
                <a:ea typeface="游ゴシック"/>
              </a:rPr>
              <a:t>検出: D2（大径PE）・d2（小径PE）</a:t>
            </a:r>
          </a:p>
          <a:p>
            <a:pPr algn="ctr"/>
            <a:r>
              <a:rPr sz="1000" b="1">
                <a:solidFill>
                  <a:srgbClr val="222222"/>
                </a:solidFill>
                <a:latin typeface="游ゴシック"/>
                <a:ea typeface="游ゴシック"/>
              </a:rPr>
              <a:t>εS_peak: D2=178.5  d2=27.25 cm²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" y="603503"/>
            <a:ext cx="3584448" cy="826402"/>
          </a:xfrm>
          <a:prstGeom prst="roundRect">
            <a:avLst/>
          </a:prstGeom>
          <a:solidFill>
            <a:srgbClr val="E8EEF5"/>
          </a:solidFill>
          <a:ln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hi_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58368"/>
            <a:ext cx="3474720" cy="71667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691640"/>
          <a:ext cx="827532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685800"/>
                <a:gridCol w="1417320"/>
                <a:gridCol w="960120"/>
                <a:gridCol w="1234440"/>
                <a:gridCol w="1234440"/>
                <a:gridCol w="1417320"/>
              </a:tblGrid>
              <a:tr h="30988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場所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検出器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検出器の種類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検出数 N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測定時間 t/s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計数率 R_NET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フラックス Φ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09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地上（屋外）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D2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MeV・大径PE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2998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12302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0.244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1.37E-3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309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地上（屋外）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MeV・小径PE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676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12105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5.59E-2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2.05E-3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9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Linac testhole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D2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MeV・大径PE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3430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20239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0.169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9.50E-4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309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PF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MeV・大径PE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7381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62848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0.117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6.58E-4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9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Linac3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D2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MeV・大径PE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2927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51267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5.71E-2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3.20E-4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309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Linac3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MeV・小径PE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451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51379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8.77E-3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3.22E-4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9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放射線棟BT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d2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MeV・小径PE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121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9540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1.27E-2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4.66E-4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309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KEKB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MeV・小径PE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232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39038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5.93E-3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2.18E-4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4663440"/>
            <a:ext cx="795527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555555"/>
                </a:solidFill>
                <a:latin typeface="游ゴシック"/>
                <a:ea typeface="游ゴシック"/>
              </a:rPr>
              <a:t>※ MeV用＝ポリエチレン（PE）減速材付き。単位: R [s⁻¹], Φ [cm⁻²·s⁻¹]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4773168"/>
            <a:ext cx="502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游ゴシック"/>
                <a:ea typeface="游ゴシック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8412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F4E79"/>
                </a:solidFill>
                <a:latin typeface="游ゴシック"/>
                <a:ea typeface="游ゴシック"/>
              </a:rPr>
              <a:t>実験結果（検出器対応・相対フラックス）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475488"/>
            <a:ext cx="8412480" cy="2743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85039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822960"/>
                <a:gridCol w="1645920"/>
                <a:gridCol w="13716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エネルギー帯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検出器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構成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εS_peak / cm²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主な測定地点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熱中性子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D1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大径 ³He 裸管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256.3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地上・管理棟・地下全地点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熱中性子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小径 ³He 裸管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70.05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管理棟2階・testhole・Linac3・PS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MeV中性子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D2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大径 ³He + PE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178.5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地上・testhole・PF・Linac3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MeV中性子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小径 ³He + 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27.25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地上・Linac3・放射線棟BT・KEKB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2423160"/>
          <a:ext cx="740664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234440"/>
                <a:gridCol w="640080"/>
                <a:gridCol w="1417320"/>
                <a:gridCol w="640080"/>
                <a:gridCol w="1051560"/>
                <a:gridCol w="1051560"/>
              </a:tblGrid>
              <a:tr h="280851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場所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熱 Φ（D1）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検出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MeV Φ（D2/d2）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検出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熱/地上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MeV/地上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28085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地上（屋外）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1.69E-3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D1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1.37E-3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D2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28085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Linac testhole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6.61E-4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9.50E-4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0.391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0.695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PF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7.83E-4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D1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6.58E-4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D2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0.463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0.482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28085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Linac3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3.20E-4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3.20E-4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0.189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0.234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放射線棟BT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3.85E-4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D1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4.66E-4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d2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0.228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0.341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28085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KEKB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1.84E-4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2.18E-4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0.109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0.159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4663440"/>
            <a:ext cx="795527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555555"/>
                </a:solidFill>
                <a:latin typeface="游ゴシック"/>
                <a:ea typeface="游ゴシック"/>
              </a:rPr>
              <a:t>※ 相対は地上Φで規格化（熱＝D1地上、MeV＝D2地上）。「検出」列が実測に用いた検出器。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58200" y="4773168"/>
            <a:ext cx="502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游ゴシック"/>
                <a:ea typeface="游ゴシック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8412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F4E79"/>
                </a:solidFill>
                <a:latin typeface="游ゴシック"/>
                <a:ea typeface="游ゴシック"/>
              </a:rPr>
              <a:t>【附記】計算方法・導出の詳細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475488"/>
            <a:ext cx="8412480" cy="2743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5555"/>
                </a:solidFill>
                <a:latin typeface="游ゴシック"/>
                <a:ea typeface="游ゴシック"/>
              </a:rPr>
              <a:t>解析系統: peak764_cut200　／　数式は TeX（pdflatex）で描画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4E79"/>
                </a:solidFill>
                <a:latin typeface="游ゴシック"/>
                <a:ea typeface="游ゴシック"/>
              </a:rPr>
              <a:t>本解析で使う式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3856" y="996695"/>
            <a:ext cx="6876288" cy="1505356"/>
          </a:xfrm>
          <a:prstGeom prst="roundRect">
            <a:avLst/>
          </a:prstGeom>
          <a:solidFill>
            <a:srgbClr val="E8EEF5"/>
          </a:solidFill>
          <a:ln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hi_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051560"/>
            <a:ext cx="6766560" cy="139562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331720"/>
          <a:ext cx="822960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217920"/>
              </a:tblGrid>
              <a:tr h="35433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記号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意味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φ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絶対フラックス [n/cm²/s] ＝ [cm⁻²·s⁻¹]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R_NET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peak ROI の正味計数率 [s⁻¹]（背景差し引き後）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εS_peak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peak ROI に対する実効面積 [cm²]（検出器ごと）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</a:rPr>
              <a:t>・窓: 764 keV 付近の peak ROI（³He(n,p) ピーク）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</a:rPr>
              <a:t>・熱 = D1/d1（裸管）、MeV = D2/d2（PE付き）　→ 附記①〜⑧で導出を示す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4773168"/>
            <a:ext cx="502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游ゴシック"/>
                <a:ea typeface="游ゴシック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8412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F4E79"/>
                </a:solidFill>
                <a:latin typeface="游ゴシック"/>
                <a:ea typeface="游ゴシック"/>
              </a:rPr>
              <a:t>【附記】① 絶対フラックスの基本式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475488"/>
            <a:ext cx="8412480" cy="2743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4E79"/>
                </a:solidFill>
                <a:latin typeface="游ゴシック"/>
                <a:ea typeface="游ゴシック"/>
              </a:rPr>
              <a:t>定義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33856" y="813815"/>
            <a:ext cx="6876288" cy="1505356"/>
          </a:xfrm>
          <a:prstGeom prst="roundRect">
            <a:avLst/>
          </a:prstGeom>
          <a:solidFill>
            <a:srgbClr val="E8EEF5"/>
          </a:solidFill>
          <a:ln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hi_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868680"/>
            <a:ext cx="6766560" cy="13956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2057400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4E79"/>
                </a:solidFill>
                <a:latin typeface="游ゴシック"/>
                <a:ea typeface="游ゴシック"/>
              </a:rPr>
              <a:t>なぜこの式か（検出の基本関係）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91056" y="2276856"/>
            <a:ext cx="5961888" cy="1269301"/>
          </a:xfrm>
          <a:prstGeom prst="roundRect">
            <a:avLst/>
          </a:prstGeom>
          <a:solidFill>
            <a:srgbClr val="E8EEF5"/>
          </a:solidFill>
          <a:ln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unt_r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2331720"/>
            <a:ext cx="5852160" cy="115957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3429000"/>
            <a:ext cx="8229600" cy="365760"/>
          </a:xfrm>
          <a:prstGeom prst="roundRect">
            <a:avLst/>
          </a:prstGeom>
          <a:solidFill>
            <a:srgbClr val="EBF5FB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22222"/>
                </a:solidFill>
                <a:latin typeface="游ゴシック"/>
                <a:ea typeface="游ゴシック"/>
              </a:rPr>
              <a:t>これを φ について解くと定義式になる。本解析の R は peak ROI の正味 R_NET。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931920"/>
          <a:ext cx="822960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3657600"/>
              </a:tblGrid>
              <a:tr h="173736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検出器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εS_peak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役割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1737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D1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256.3 cm²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熱・大径裸管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1737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70.05 cm²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熱・小径裸管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D2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178.5 cm²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MeV・大径PE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1737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27.25 cm²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MeV・小径PE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458200" y="4773168"/>
            <a:ext cx="502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游ゴシック"/>
                <a:ea typeface="游ゴシック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8412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F4E79"/>
                </a:solidFill>
                <a:latin typeface="游ゴシック"/>
                <a:ea typeface="游ゴシック"/>
              </a:rPr>
              <a:t>【附記】② 正味計数率 R_NET の導出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475488"/>
            <a:ext cx="8412480" cy="2743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4E79"/>
                </a:solidFill>
                <a:latin typeface="游ゴシック"/>
                <a:ea typeface="游ゴシック"/>
              </a:rPr>
              <a:t>計算の順番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16736" y="813815"/>
            <a:ext cx="6510528" cy="1726730"/>
          </a:xfrm>
          <a:prstGeom prst="roundRect">
            <a:avLst/>
          </a:prstGeom>
          <a:solidFill>
            <a:srgbClr val="E8EEF5"/>
          </a:solidFill>
          <a:ln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et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868680"/>
            <a:ext cx="6400800" cy="1617002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468880"/>
          <a:ext cx="822960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217920"/>
              </a:tblGrid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記号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意味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GROSS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peak ROI（ch = lo〜hi）のカウント合計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BG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ピーク左右の側帯から推定した、ROI内の背景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N_NET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正味カウント（本編表の「検出数 N」）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t_live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ライブタイム [s]（本編表の「測定時間 t」）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4343400"/>
            <a:ext cx="8229600" cy="347472"/>
          </a:xfrm>
          <a:prstGeom prst="roundRect">
            <a:avLst/>
          </a:prstGeom>
          <a:solidFill>
            <a:srgbClr val="EBF5FB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22222"/>
                </a:solidFill>
                <a:latin typeface="游ゴシック"/>
                <a:ea typeface="游ゴシック"/>
              </a:rPr>
              <a:t>補足: 右側帯が使えないときは、左側帯だけの水平背景を使う。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4773168"/>
            <a:ext cx="502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游ゴシック"/>
                <a:ea typeface="游ゴシック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8412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F4E79"/>
                </a:solidFill>
                <a:latin typeface="游ゴシック"/>
                <a:ea typeface="游ゴシック"/>
              </a:rPr>
              <a:t>【附記】③ εS_peak の較正（熱・裸管 D1 / d1）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475488"/>
            <a:ext cx="8412480" cy="2743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4E79"/>
                </a:solidFill>
                <a:latin typeface="游ゴシック"/>
                <a:ea typeface="游ゴシック"/>
              </a:rPr>
              <a:t>較正式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2415" y="813815"/>
            <a:ext cx="7059168" cy="1399936"/>
          </a:xfrm>
          <a:prstGeom prst="roundRect">
            <a:avLst/>
          </a:prstGeom>
          <a:solidFill>
            <a:srgbClr val="E8EEF5"/>
          </a:solidFill>
          <a:ln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ps_b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868680"/>
            <a:ext cx="6949440" cy="129020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057400"/>
          <a:ext cx="822960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217920"/>
              </a:tblGrid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記号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意味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εS_total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メーカー感度 [cps/nv]（熱φ=1 のときの全計数率）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f_peak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パイルでの R_peak / R_total の平均（30 cm・80 cm）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154680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4E79"/>
                </a:solidFill>
                <a:latin typeface="游ゴシック"/>
                <a:ea typeface="游ゴシック"/>
              </a:rPr>
              <a:t>代入結果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3374136"/>
            <a:ext cx="7424927" cy="1780409"/>
          </a:xfrm>
          <a:prstGeom prst="roundRect">
            <a:avLst/>
          </a:prstGeom>
          <a:solidFill>
            <a:srgbClr val="E8EEF5"/>
          </a:solidFill>
          <a:ln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ps_d1_d1n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429000"/>
            <a:ext cx="7315200" cy="16706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58200" y="4773168"/>
            <a:ext cx="502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游ゴシック"/>
                <a:ea typeface="游ゴシック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8412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F4E79"/>
                </a:solidFill>
                <a:latin typeface="游ゴシック"/>
                <a:ea typeface="游ゴシック"/>
              </a:rPr>
              <a:t>【附記】④ εS_peak の転送較正（MeV・PE付き D2 / d2）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475488"/>
            <a:ext cx="8412480" cy="2743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4E79"/>
                </a:solidFill>
                <a:latin typeface="游ゴシック"/>
                <a:ea typeface="游ゴシック"/>
              </a:rPr>
              <a:t>転送の考え方（同一地点で並べて測る）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33856" y="813815"/>
            <a:ext cx="6876288" cy="1863006"/>
          </a:xfrm>
          <a:prstGeom prst="roundRect">
            <a:avLst/>
          </a:prstGeom>
          <a:solidFill>
            <a:srgbClr val="E8EEF5"/>
          </a:solidFill>
          <a:ln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ps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868680"/>
            <a:ext cx="6766560" cy="175327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560320"/>
          <a:ext cx="8229600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2743200"/>
              </a:tblGrid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対象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転送地点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結果 εS_peak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d2（小径PE）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地上（d2/D1）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27.25 cm²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D2（大径PE）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Linac 同日（D2/D1）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178.5 cm²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7947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</a:rPr>
              <a:t>・理由: PE付きはメーカーの裸管感度を直接使えない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</a:rPr>
              <a:t>・仮定: 転送地点での応答比が他地点でもだいたい同じ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4773168"/>
            <a:ext cx="502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游ゴシック"/>
                <a:ea typeface="游ゴシック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8412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F4E79"/>
                </a:solidFill>
                <a:latin typeface="游ゴシック"/>
                <a:ea typeface="游ゴシック"/>
              </a:rPr>
              <a:t>【附記】⑤ スペクトル部分補正（peak_partial）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475488"/>
            <a:ext cx="8412480" cy="2743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4E79"/>
                </a:solidFill>
                <a:latin typeface="游ゴシック"/>
                <a:ea typeface="游ゴシック"/>
              </a:rPr>
              <a:t>欠損割合 f（熱中性子パイルで決定）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9536" y="813815"/>
            <a:ext cx="7424927" cy="1474118"/>
          </a:xfrm>
          <a:prstGeom prst="roundRect">
            <a:avLst/>
          </a:prstGeom>
          <a:solidFill>
            <a:srgbClr val="E8EEF5"/>
          </a:solidFill>
          <a:ln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_part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7315200" cy="13643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2057400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4E79"/>
                </a:solidFill>
                <a:latin typeface="游ゴシック"/>
                <a:ea typeface="游ゴシック"/>
              </a:rPr>
              <a:t>補正後の NET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33856" y="2276856"/>
            <a:ext cx="6876288" cy="1409032"/>
          </a:xfrm>
          <a:prstGeom prst="roundRect">
            <a:avLst/>
          </a:prstGeom>
          <a:solidFill>
            <a:srgbClr val="E8EEF5"/>
          </a:solidFill>
          <a:ln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et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2331720"/>
            <a:ext cx="6766560" cy="1299304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520440"/>
          <a:ext cx="502920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468880"/>
              </a:tblGrid>
              <a:tr h="28575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量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値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f_large（D1/D2）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0.7080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f_small（d1/d2）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0.6680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cut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およそ 200 ch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669280" y="3520440"/>
            <a:ext cx="3017520" cy="1143000"/>
          </a:xfrm>
          <a:prstGeom prst="roundRect">
            <a:avLst/>
          </a:prstGeom>
          <a:solidFill>
            <a:srgbClr val="EBF5FB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22222"/>
                </a:solidFill>
                <a:latin typeface="游ゴシック"/>
                <a:ea typeface="游ゴシック"/>
              </a:rPr>
              <a:t>ピークがきれいな点は補正スキップ（peak_skip_clean）。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4773168"/>
            <a:ext cx="502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游ゴシック"/>
                <a:ea typeface="游ゴシック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8412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F4E79"/>
                </a:solidFill>
                <a:latin typeface="游ゴシック"/>
                <a:ea typeface="游ゴシック"/>
              </a:rPr>
              <a:t>【附記】⑥ 相対フラックスと誤差伝播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475488"/>
            <a:ext cx="8412480" cy="2743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4E79"/>
                </a:solidFill>
                <a:latin typeface="游ゴシック"/>
                <a:ea typeface="游ゴシック"/>
              </a:rPr>
              <a:t>相対化（同一検出器なら εS_peak は約分）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8096" y="813815"/>
            <a:ext cx="7607807" cy="1475549"/>
          </a:xfrm>
          <a:prstGeom prst="roundRect">
            <a:avLst/>
          </a:prstGeom>
          <a:solidFill>
            <a:srgbClr val="E8EEF5"/>
          </a:solidFill>
          <a:ln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l_p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868680"/>
            <a:ext cx="7498079" cy="13658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2103120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4E79"/>
                </a:solidFill>
                <a:latin typeface="游ゴシック"/>
                <a:ea typeface="游ゴシック"/>
              </a:rPr>
              <a:t>統計誤差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" y="2322576"/>
            <a:ext cx="7424927" cy="1911677"/>
          </a:xfrm>
          <a:prstGeom prst="roundRect">
            <a:avLst/>
          </a:prstGeom>
          <a:solidFill>
            <a:srgbClr val="E8EEF5"/>
          </a:solidFill>
          <a:ln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rr_ph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377440"/>
            <a:ext cx="7315200" cy="18019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</a:rPr>
              <a:t>・熱の基準 x₀ = D1 地上、MeV の基準 x₀ = D2 地上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</a:rPr>
              <a:t>・相対比では共通の εS 系統が打ち消しやすい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773168"/>
            <a:ext cx="502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游ゴシック"/>
                <a:ea typeface="游ゴシック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8412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F4E79"/>
                </a:solidFill>
                <a:latin typeface="游ゴシック"/>
                <a:ea typeface="游ゴシック"/>
              </a:rPr>
              <a:t>【附記】⑦ 数値例：D1・地上（熱中性子）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475488"/>
            <a:ext cx="8412480" cy="2743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5555"/>
                </a:solidFill>
                <a:latin typeface="游ゴシック"/>
                <a:ea typeface="游ゴシック"/>
              </a:rPr>
              <a:t>ファイル: D1_20260819_1530_地上.mca　／　検出器 D1（大径裸管）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4E79"/>
                </a:solidFill>
                <a:latin typeface="游ゴシック"/>
                <a:ea typeface="游ゴシック"/>
              </a:rPr>
              <a:t>ステップ1 — 正味計数率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2415" y="996695"/>
            <a:ext cx="7059168" cy="1355723"/>
          </a:xfrm>
          <a:prstGeom prst="roundRect">
            <a:avLst/>
          </a:prstGeom>
          <a:solidFill>
            <a:srgbClr val="E8EEF5"/>
          </a:solidFill>
          <a:ln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x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51560"/>
            <a:ext cx="6949440" cy="124599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103120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4E79"/>
                </a:solidFill>
                <a:latin typeface="游ゴシック"/>
                <a:ea typeface="游ゴシック"/>
              </a:rPr>
              <a:t>ステップ2 — 絶対フラックス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2322576"/>
            <a:ext cx="7607807" cy="1387945"/>
          </a:xfrm>
          <a:prstGeom prst="roundRect">
            <a:avLst/>
          </a:prstGeom>
          <a:solidFill>
            <a:srgbClr val="E8EEF5"/>
          </a:solidFill>
          <a:ln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x_ph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377440"/>
            <a:ext cx="7498079" cy="127821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3474720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4E79"/>
                </a:solidFill>
                <a:latin typeface="游ゴシック"/>
                <a:ea typeface="游ゴシック"/>
              </a:rPr>
              <a:t>ステップ3 — 相対（管理棟2階、εS は約分）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16736" y="3694176"/>
            <a:ext cx="6510528" cy="1335328"/>
          </a:xfrm>
          <a:prstGeom prst="roundRect">
            <a:avLst/>
          </a:prstGeom>
          <a:solidFill>
            <a:srgbClr val="E8EEF5"/>
          </a:solidFill>
          <a:ln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x_r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3749039"/>
            <a:ext cx="6400800" cy="1225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58200" y="4773168"/>
            <a:ext cx="502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游ゴシック"/>
                <a:ea typeface="游ゴシック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8412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F4E79"/>
                </a:solidFill>
                <a:latin typeface="游ゴシック"/>
                <a:ea typeface="游ゴシック"/>
              </a:rPr>
              <a:t>【附記】⑧ 処理フローまとめ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475488"/>
            <a:ext cx="8412480" cy="2743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0040" y="731520"/>
            <a:ext cx="1554480" cy="1097280"/>
          </a:xfrm>
          <a:prstGeom prst="roundRect">
            <a:avLst/>
          </a:prstGeom>
          <a:solidFill>
            <a:srgbClr val="EBF5FB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4E79"/>
                </a:solidFill>
                <a:latin typeface="游ゴシック"/>
                <a:ea typeface="游ゴシック"/>
              </a:rPr>
              <a:t>① 取得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</a:rPr>
              <a:t>MCA
live time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874519" y="1097280"/>
            <a:ext cx="182880" cy="292608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057400" y="731520"/>
            <a:ext cx="1554480" cy="1097280"/>
          </a:xfrm>
          <a:prstGeom prst="roundRect">
            <a:avLst/>
          </a:prstGeom>
          <a:solidFill>
            <a:srgbClr val="FFFBF0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4E79"/>
                </a:solidFill>
                <a:latin typeface="游ゴシック"/>
                <a:ea typeface="游ゴシック"/>
              </a:rPr>
              <a:t>② 補正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</a:rPr>
              <a:t>必要なら
×(1/f)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611880" y="1097280"/>
            <a:ext cx="182880" cy="292608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94759" y="731520"/>
            <a:ext cx="1554480" cy="1097280"/>
          </a:xfrm>
          <a:prstGeom prst="roundRect">
            <a:avLst/>
          </a:prstGeom>
          <a:solidFill>
            <a:srgbClr val="EBF5FB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4E79"/>
                </a:solidFill>
                <a:latin typeface="游ゴシック"/>
                <a:ea typeface="游ゴシック"/>
              </a:rPr>
              <a:t>③ NET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</a:rPr>
              <a:t>GROSS−BG
→ R_NET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349240" y="1097280"/>
            <a:ext cx="182880" cy="292608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532119" y="731520"/>
            <a:ext cx="1554480" cy="1097280"/>
          </a:xfrm>
          <a:prstGeom prst="roundRect">
            <a:avLst/>
          </a:prstGeom>
          <a:solidFill>
            <a:srgbClr val="FFFBF0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4E79"/>
                </a:solidFill>
                <a:latin typeface="游ゴシック"/>
                <a:ea typeface="游ゴシック"/>
              </a:rPr>
              <a:t>④ 割る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</a:rPr>
              <a:t>÷ εS_peak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086599" y="1097280"/>
            <a:ext cx="182880" cy="292608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269479" y="731520"/>
            <a:ext cx="1554480" cy="1097280"/>
          </a:xfrm>
          <a:prstGeom prst="roundRect">
            <a:avLst/>
          </a:prstGeom>
          <a:solidFill>
            <a:srgbClr val="EBF5FB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4E79"/>
                </a:solidFill>
                <a:latin typeface="游ゴシック"/>
                <a:ea typeface="游ゴシック"/>
              </a:rPr>
              <a:t>⑤ 相対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</a:rPr>
              <a:t>φ / φ₀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057400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4E79"/>
                </a:solidFill>
                <a:latin typeface="游ゴシック"/>
                <a:ea typeface="游ゴシック"/>
              </a:rPr>
              <a:t>最終的にやっていること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3856" y="2276856"/>
            <a:ext cx="6876288" cy="1505356"/>
          </a:xfrm>
          <a:prstGeom prst="roundRect">
            <a:avLst/>
          </a:prstGeom>
          <a:solidFill>
            <a:srgbClr val="E8EEF5"/>
          </a:solidFill>
          <a:ln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hi_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331720"/>
            <a:ext cx="6766560" cy="13956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200" y="35661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</a:rPr>
              <a:t>・熱: メーカー×パイル窓比　／　MeV: 現場転送　で εS_peak を決める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</a:rPr>
              <a:t>・深い地点は peak_partial のあと、同じ式を適用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</a:rPr>
              <a:t>・数式画像: figures/equations/　（TeX → PNG）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773168"/>
            <a:ext cx="502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游ゴシック"/>
                <a:ea typeface="游ゴシック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9144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F4E79"/>
                </a:solidFill>
                <a:latin typeface="游ゴシック"/>
                <a:ea typeface="游ゴシック"/>
              </a:rPr>
              <a:t>【附記】誤差棒の取り方（概要）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438912"/>
            <a:ext cx="8503920" cy="25603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85039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555555"/>
                </a:solidFill>
                <a:latin typeface="游ゴシック"/>
                <a:ea typeface="游ゴシック"/>
              </a:rPr>
              <a:t>図18: 横軸＝等価コンクリート厚の系統誤差、縦軸＝フラックスの統計誤差</a:t>
            </a:r>
          </a:p>
        </p:txBody>
      </p:sp>
      <p:pic>
        <p:nvPicPr>
          <p:cNvPr id="5" name="Picture 4" descr="18_全地点_フラックス_絶対_熱中性子_D1d1_λ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13232"/>
            <a:ext cx="5029200" cy="29867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532120" y="777240"/>
            <a:ext cx="3246120" cy="2377440"/>
          </a:xfrm>
          <a:prstGeom prst="roundRect">
            <a:avLst/>
          </a:prstGeom>
          <a:solidFill>
            <a:srgbClr val="EBF5FB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22222"/>
                </a:solidFill>
                <a:latin typeface="游ゴシック"/>
                <a:ea typeface="游ゴシック"/>
              </a:rPr>
              <a:t>誤差棒の意味</a:t>
            </a:r>
          </a:p>
          <a:p>
            <a:r>
              <a:rPr sz="1000" b="0">
                <a:solidFill>
                  <a:srgbClr val="222222"/>
                </a:solidFill>
                <a:latin typeface="游ゴシック"/>
                <a:ea typeface="游ゴシック"/>
              </a:rPr>
              <a:t>縦（緑のイメージ）: 統計誤差 δφ</a:t>
            </a:r>
          </a:p>
          <a:p>
            <a:r>
              <a:rPr sz="1000" b="0">
                <a:solidFill>
                  <a:srgbClr val="222222"/>
                </a:solidFill>
                <a:latin typeface="游ゴシック"/>
                <a:ea typeface="游ゴシック"/>
              </a:rPr>
              <a:t>　→ カウントのゆらぎ</a:t>
            </a:r>
          </a:p>
          <a:p>
            <a:r>
              <a:rPr sz="1000" b="0">
                <a:solidFill>
                  <a:srgbClr val="222222"/>
                </a:solidFill>
                <a:latin typeface="游ゴシック"/>
                <a:ea typeface="游ゴシック"/>
              </a:rPr>
              <a:t>横（赤のイメージ）: 系統誤差 δt_eq</a:t>
            </a:r>
          </a:p>
          <a:p>
            <a:r>
              <a:rPr sz="1000" b="0">
                <a:solidFill>
                  <a:srgbClr val="222222"/>
                </a:solidFill>
                <a:latin typeface="游ゴシック"/>
                <a:ea typeface="游ゴシック"/>
              </a:rPr>
              <a:t>　→ 厚さ・密度の不確かさ</a:t>
            </a:r>
          </a:p>
          <a:p>
            <a:r>
              <a:rPr sz="1000" b="0">
                <a:solidFill>
                  <a:srgbClr val="222222"/>
                </a:solidFill>
                <a:latin typeface="游ゴシック"/>
                <a:ea typeface="游ゴシック"/>
              </a:rPr>
              <a:t/>
            </a:r>
          </a:p>
          <a:p>
            <a:r>
              <a:rPr sz="1000" b="0">
                <a:solidFill>
                  <a:srgbClr val="222222"/>
                </a:solidFill>
                <a:latin typeface="游ゴシック"/>
                <a:ea typeface="游ゴシック"/>
              </a:rPr>
              <a:t>両者は独立に評価し、</a:t>
            </a:r>
          </a:p>
          <a:p>
            <a:r>
              <a:rPr sz="1000" b="0">
                <a:solidFill>
                  <a:srgbClr val="222222"/>
                </a:solidFill>
                <a:latin typeface="游ゴシック"/>
                <a:ea typeface="游ゴシック"/>
              </a:rPr>
              <a:t>errorbar の xerr / yerr に載せる。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532120" y="3291840"/>
          <a:ext cx="324612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914400"/>
                <a:gridCol w="640080"/>
                <a:gridCol w="914400"/>
              </a:tblGrid>
              <a:tr h="381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軸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記号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性格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主な由来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縦軸 φ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δφ = y_err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統計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NET のポアソン誤差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横軸 t_eq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δt_eq = x_err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系統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層厚・密度の不確かさ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58200" y="4773168"/>
            <a:ext cx="502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游ゴシック"/>
                <a:ea typeface="游ゴシック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9144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E844E"/>
                </a:solidFill>
                <a:latin typeface="游ゴシック"/>
                <a:ea typeface="游ゴシック"/>
              </a:rPr>
              <a:t>【附記】縦軸の誤差（統計）δφ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438912"/>
            <a:ext cx="8503920" cy="25603"/>
          </a:xfrm>
          <a:prstGeom prst="rect">
            <a:avLst/>
          </a:prstGeom>
          <a:solidFill>
            <a:srgbClr val="1E8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85039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555555"/>
                </a:solidFill>
                <a:latin typeface="游ゴシック"/>
                <a:ea typeface="游ゴシック"/>
              </a:rPr>
              <a:t>絶対フラックス φ = R_NET / εS_peak に対する統計伝播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2296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E844E"/>
                </a:solidFill>
                <a:latin typeface="游ゴシック"/>
                <a:ea typeface="游ゴシック"/>
              </a:rPr>
              <a:t>① 正味計数率の統計誤差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914400"/>
            <a:ext cx="7040879" cy="1348253"/>
          </a:xfrm>
          <a:prstGeom prst="roundRect">
            <a:avLst/>
          </a:prstGeom>
          <a:solidFill>
            <a:srgbClr val="E8EEF5"/>
          </a:solidFill>
          <a:ln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yerr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960120"/>
            <a:ext cx="6949440" cy="12568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2057400"/>
            <a:ext cx="82296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E844E"/>
                </a:solidFill>
                <a:latin typeface="游ゴシック"/>
                <a:ea typeface="游ゴシック"/>
              </a:rPr>
              <a:t>② フラックスへ伝播（εS_peak は定数扱い）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25880" y="2286000"/>
            <a:ext cx="6309359" cy="1305701"/>
          </a:xfrm>
          <a:prstGeom prst="roundRect">
            <a:avLst/>
          </a:prstGeom>
          <a:solidFill>
            <a:srgbClr val="E8EEF5"/>
          </a:solidFill>
          <a:ln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yerr_ph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331720"/>
            <a:ext cx="6217920" cy="1214261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429000"/>
          <a:ext cx="841248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6217920"/>
              </a:tblGrid>
              <a:tr h="28575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記号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意味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GROSS / BG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ROI 総カウント / 側帯から推定した背景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δR_NET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正味計数率の 1σ 統計誤差 [s⁻¹]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δφ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絶対フラックスの 1σ 統計誤差 [n/cm²/s]（= y_err）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458200" y="4773168"/>
            <a:ext cx="502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游ゴシック"/>
                <a:ea typeface="游ゴシック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9144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E844E"/>
                </a:solidFill>
                <a:latin typeface="游ゴシック"/>
                <a:ea typeface="游ゴシック"/>
              </a:rPr>
              <a:t>【附記】縦軸の誤差（相対・数値例）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438912"/>
            <a:ext cx="8503920" cy="25603"/>
          </a:xfrm>
          <a:prstGeom prst="rect">
            <a:avLst/>
          </a:prstGeom>
          <a:solidFill>
            <a:srgbClr val="1E8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82296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E844E"/>
                </a:solidFill>
                <a:latin typeface="游ゴシック"/>
                <a:ea typeface="游ゴシック"/>
              </a:rPr>
              <a:t>相対フラックスの誤差（基準点 x₀ との比）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822959"/>
            <a:ext cx="7406640" cy="1438155"/>
          </a:xfrm>
          <a:prstGeom prst="roundRect">
            <a:avLst/>
          </a:prstGeom>
          <a:solidFill>
            <a:srgbClr val="E8EEF5"/>
          </a:solidFill>
          <a:ln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l_e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868680"/>
            <a:ext cx="7315200" cy="13467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2148840"/>
            <a:ext cx="82296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E844E"/>
                </a:solidFill>
                <a:latin typeface="游ゴシック"/>
                <a:ea typeface="游ゴシック"/>
              </a:rPr>
              <a:t>数値例（D1・peak764）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423160"/>
          <a:ext cx="502920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371600"/>
                <a:gridCol w="1371600"/>
                <a:gridCol w="1097280"/>
              </a:tblGrid>
              <a:tr h="268605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地点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φ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δφ (y_err)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相対%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26860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地上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1.69e-03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4.12e-05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2.4%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26860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testhole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6.61e-04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1.32e-05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2.0%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6860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PF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7.83e-04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9.23e-06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1.2%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26860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BT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3.85e-04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1.43e-05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3.7%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6860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Linac3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3.20e-04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7.93e-06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2.5%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26860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1.41e-04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3.07e-06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2.2%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6860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KEKB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1.84e-04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4.80e-06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2.6%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0" y="2423160"/>
            <a:ext cx="3108960" cy="2148840"/>
          </a:xfrm>
          <a:prstGeom prst="roundRect">
            <a:avLst/>
          </a:prstGeom>
          <a:solidFill>
            <a:srgbClr val="EBF5FB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22222"/>
                </a:solidFill>
                <a:latin typeface="游ゴシック"/>
                <a:ea typeface="游ゴシック"/>
              </a:rPr>
              <a:t>読み方</a:t>
            </a:r>
          </a:p>
          <a:p>
            <a:r>
              <a:rPr sz="1000" b="0">
                <a:solidFill>
                  <a:srgbClr val="222222"/>
                </a:solidFill>
                <a:latin typeface="游ゴシック"/>
                <a:ea typeface="游ゴシック"/>
              </a:rPr>
              <a:t>縦誤差棒はだいたい数 %。</a:t>
            </a:r>
          </a:p>
          <a:p>
            <a:r>
              <a:rPr sz="1000" b="0">
                <a:solidFill>
                  <a:srgbClr val="222222"/>
                </a:solidFill>
                <a:latin typeface="游ゴシック"/>
                <a:ea typeface="游ゴシック"/>
              </a:rPr>
              <a:t>深い地点でも統計は抑えめ</a:t>
            </a:r>
          </a:p>
          <a:p>
            <a:r>
              <a:rPr sz="1000" b="0">
                <a:solidFill>
                  <a:srgbClr val="222222"/>
                </a:solidFill>
                <a:latin typeface="游ゴシック"/>
                <a:ea typeface="游ゴシック"/>
              </a:rPr>
              <a:t>（長時間測定のため）。</a:t>
            </a:r>
          </a:p>
          <a:p>
            <a:r>
              <a:rPr sz="1000" b="0">
                <a:solidFill>
                  <a:srgbClr val="222222"/>
                </a:solidFill>
                <a:latin typeface="游ゴシック"/>
                <a:ea typeface="游ゴシック"/>
              </a:rPr>
              <a:t/>
            </a:r>
          </a:p>
          <a:p>
            <a:r>
              <a:rPr sz="1000" b="0">
                <a:solidFill>
                  <a:srgbClr val="222222"/>
                </a:solidFill>
                <a:latin typeface="游ゴシック"/>
                <a:ea typeface="游ゴシック"/>
              </a:rPr>
              <a:t>※ εS_peak の系統（メーカー</a:t>
            </a:r>
          </a:p>
          <a:p>
            <a:r>
              <a:rPr sz="1000" b="0">
                <a:solidFill>
                  <a:srgbClr val="222222"/>
                </a:solidFill>
                <a:latin typeface="游ゴシック"/>
                <a:ea typeface="游ゴシック"/>
              </a:rPr>
              <a:t>±5%・転送比）は縦棒には</a:t>
            </a:r>
          </a:p>
          <a:p>
            <a:r>
              <a:rPr sz="1000" b="0">
                <a:solidFill>
                  <a:srgbClr val="222222"/>
                </a:solidFill>
                <a:latin typeface="游ゴシック"/>
                <a:ea typeface="游ゴシック"/>
              </a:rPr>
              <a:t>含めていない（別途議論）。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4773168"/>
            <a:ext cx="502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游ゴシック"/>
                <a:ea typeface="游ゴシック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9144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游ゴシック"/>
                <a:ea typeface="游ゴシック"/>
              </a:rPr>
              <a:t>【附記】横軸の誤差（系統）δt_eq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438912"/>
            <a:ext cx="8503920" cy="2560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85039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555555"/>
                </a:solidFill>
                <a:latin typeface="游ゴシック"/>
                <a:ea typeface="游ゴシック"/>
              </a:rPr>
              <a:t>等価コンクリート厚 t_eq = X/ρ_c の不確かさ（厚さ＋密度）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82296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392B"/>
                </a:solidFill>
                <a:latin typeface="游ゴシック"/>
                <a:ea typeface="游ゴシック"/>
              </a:rPr>
              <a:t>① 等価コンクリート厚の定義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59" y="868680"/>
            <a:ext cx="7863840" cy="1429574"/>
          </a:xfrm>
          <a:prstGeom prst="roundRect">
            <a:avLst/>
          </a:prstGeom>
          <a:solidFill>
            <a:srgbClr val="E8EEF5"/>
          </a:solidFill>
          <a:ln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x_t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14400"/>
            <a:ext cx="7772400" cy="133813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2057400"/>
            <a:ext cx="82296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392B"/>
                </a:solidFill>
                <a:latin typeface="游ゴシック"/>
                <a:ea typeface="游ゴシック"/>
              </a:rPr>
              <a:t>② 各層の質量厚さの相対不確かさ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286000"/>
            <a:ext cx="7223759" cy="1393185"/>
          </a:xfrm>
          <a:prstGeom prst="roundRect">
            <a:avLst/>
          </a:prstGeom>
          <a:solidFill>
            <a:srgbClr val="E8EEF5"/>
          </a:solidFill>
          <a:ln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xerr_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331720"/>
            <a:ext cx="7132320" cy="130174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3474720"/>
            <a:ext cx="82296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392B"/>
                </a:solidFill>
                <a:latin typeface="游ゴシック"/>
                <a:ea typeface="游ゴシック"/>
              </a:rPr>
              <a:t>③ 層を合成して t_eq の誤差へ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703320"/>
            <a:ext cx="7406640" cy="1352277"/>
          </a:xfrm>
          <a:prstGeom prst="roundRect">
            <a:avLst/>
          </a:prstGeom>
          <a:solidFill>
            <a:srgbClr val="E8EEF5"/>
          </a:solidFill>
          <a:ln>
            <a:solidFill>
              <a:srgbClr val="C5D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xerr_teq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749039"/>
            <a:ext cx="7315200" cy="126083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58200" y="4773168"/>
            <a:ext cx="502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游ゴシック"/>
                <a:ea typeface="游ゴシック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9144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游ゴシック"/>
                <a:ea typeface="游ゴシック"/>
              </a:rPr>
              <a:t>【附記】横軸誤差の仮定値と地点別の大きさ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438912"/>
            <a:ext cx="8503920" cy="2560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40080"/>
          <a:ext cx="85039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474720"/>
                <a:gridCol w="3200400"/>
              </a:tblGrid>
              <a:tr h="30861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層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厚さの不確かさ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密度の不確かさ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コンクリート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δt_c = max(5 cm, 5%·t)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ρ_c = 2.3 ± 0.1 g/cm³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土（ローム等）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δt_s = 10%·t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相対 15%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鉄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δt_Fe = max(5 cm, 5%·t)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ρ_Fe = 7.2 ± 0.3 g/cm³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2011680"/>
            <a:ext cx="82296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392B"/>
                </a:solidFill>
                <a:latin typeface="游ゴシック"/>
                <a:ea typeface="游ゴシック"/>
              </a:rPr>
              <a:t>地点別 δt_eq（= 図の x_err）と寄与分解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2286000"/>
          <a:ext cx="850392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645920"/>
                <a:gridCol w="1645920"/>
                <a:gridCol w="1828800"/>
                <a:gridCol w="2011680"/>
              </a:tblGrid>
              <a:tr h="268605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地点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t_eq [cm]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δt_eq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厚さ寄与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密度寄与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26860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地上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0.0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0.00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0.00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0.00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26860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testhole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57.0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5.58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5.00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2.48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6860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PF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105.0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6.96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5.25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4.57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26860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Linac3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300.0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19.88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15.00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13.04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6860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BT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189.1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23.95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13.85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19.54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26860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480.0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31.80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24.00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20.87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6860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KEKB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525.4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80.53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44.82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66.91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58200" y="4773168"/>
            <a:ext cx="502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游ゴシック"/>
                <a:ea typeface="游ゴシック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9144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F4E79"/>
                </a:solidFill>
                <a:latin typeface="游ゴシック"/>
                <a:ea typeface="游ゴシック"/>
              </a:rPr>
              <a:t>【附記】数値例：PF 地点の誤差棒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438912"/>
            <a:ext cx="8503920" cy="25603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85039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555555"/>
                </a:solidFill>
                <a:latin typeface="游ゴシック"/>
                <a:ea typeface="游ゴシック"/>
              </a:rPr>
              <a:t>コンクリート 105 cm のみ（土・鉄なし）→ 横軸も縦軸も追える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685800"/>
            <a:ext cx="4114800" cy="960120"/>
          </a:xfrm>
          <a:prstGeom prst="roundRect">
            <a:avLst/>
          </a:prstGeom>
          <a:solidFill>
            <a:srgbClr val="EBF5FB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22222"/>
                </a:solidFill>
                <a:latin typeface="游ゴシック"/>
                <a:ea typeface="游ゴシック"/>
              </a:rPr>
              <a:t>PF の層構造</a:t>
            </a:r>
          </a:p>
          <a:p>
            <a:r>
              <a:rPr sz="1000" b="0">
                <a:solidFill>
                  <a:srgbClr val="222222"/>
                </a:solidFill>
                <a:latin typeface="游ゴシック"/>
                <a:ea typeface="游ゴシック"/>
              </a:rPr>
              <a:t>コンクリート t_c = 105 cm、土・鉄 = 0</a:t>
            </a:r>
          </a:p>
          <a:p>
            <a:r>
              <a:rPr sz="1000" b="0">
                <a:solidFill>
                  <a:srgbClr val="222222"/>
                </a:solidFill>
                <a:latin typeface="游ゴシック"/>
                <a:ea typeface="游ゴシック"/>
              </a:rPr>
              <a:t>t_eq = 105.0 cm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685800"/>
            <a:ext cx="4114800" cy="960120"/>
          </a:xfrm>
          <a:prstGeom prst="roundRect">
            <a:avLst/>
          </a:prstGeom>
          <a:solidFill>
            <a:srgbClr val="E8F8F5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22222"/>
                </a:solidFill>
                <a:latin typeface="游ゴシック"/>
                <a:ea typeface="游ゴシック"/>
              </a:rPr>
              <a:t>縦軸（統計）</a:t>
            </a:r>
          </a:p>
          <a:p>
            <a:r>
              <a:rPr sz="1000" b="0">
                <a:solidFill>
                  <a:srgbClr val="222222"/>
                </a:solidFill>
                <a:latin typeface="游ゴシック"/>
                <a:ea typeface="游ゴシック"/>
              </a:rPr>
              <a:t>φ = 7.829e-04 n/cm²/s</a:t>
            </a:r>
          </a:p>
          <a:p>
            <a:r>
              <a:rPr sz="1000" b="0">
                <a:solidFill>
                  <a:srgbClr val="222222"/>
                </a:solidFill>
                <a:latin typeface="游ゴシック"/>
                <a:ea typeface="游ゴシック"/>
              </a:rPr>
              <a:t>δφ = 9.23e-06  （相対 1.2%）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828800"/>
            <a:ext cx="82296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392B"/>
                </a:solidFill>
                <a:latin typeface="游ゴシック"/>
                <a:ea typeface="游ゴシック"/>
              </a:rPr>
              <a:t>横軸の計算（抜粋）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03120"/>
            <a:ext cx="8412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</a:rPr>
              <a:t>・δt_c = max(5, 0.05×105) = max(5, 5.25) = 5.25 cm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</a:rPr>
              <a:t>・δρ_c/ρ_c = 0.1/2.3 ≈ 4.3%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</a:rPr>
              <a:t>・厚さ寄与 ≈ 5.25 cm、密度寄与 ≈ 4.57 cm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</a:rPr>
              <a:t>・δt_eq = √(厚さ²+密度²) ≈ 6.96 cm  → これが x_err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3566160"/>
          <a:ext cx="841248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3840480"/>
              </a:tblGrid>
              <a:tr h="2286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量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値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図での見え方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x = t_eq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105.0 cm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点の横位置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x_err = δt_eq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6.96 cm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横の誤差棒（±）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y = φ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7.829e-04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点の縦位置（片対数）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y_err = δφ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9.23e-06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縦の誤差棒（±）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458200" y="4773168"/>
            <a:ext cx="502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游ゴシック"/>
                <a:ea typeface="游ゴシック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9144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F4E79"/>
                </a:solidFill>
                <a:latin typeface="游ゴシック"/>
                <a:ea typeface="游ゴシック"/>
              </a:rPr>
              <a:t>【附記】誤差棒つき図（熱 / MeV）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438912"/>
            <a:ext cx="8503920" cy="25603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85039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555555"/>
                </a:solidFill>
                <a:latin typeface="游ゴシック"/>
                <a:ea typeface="游ゴシック"/>
              </a:rPr>
              <a:t>同じ誤差の定義で、検出器グループだけを分けて表示</a:t>
            </a:r>
          </a:p>
        </p:txBody>
      </p:sp>
      <p:pic>
        <p:nvPicPr>
          <p:cNvPr id="5" name="Picture 4" descr="18_全地点_フラックス_絶対_熱中性子_D1d1_λ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685800"/>
            <a:ext cx="4297680" cy="2552271"/>
          </a:xfrm>
          <a:prstGeom prst="rect">
            <a:avLst/>
          </a:prstGeom>
        </p:spPr>
      </p:pic>
      <p:pic>
        <p:nvPicPr>
          <p:cNvPr id="6" name="Picture 5" descr="18_全地点_フラックス_絶対_MeV_D2d2_λ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685800"/>
            <a:ext cx="4297680" cy="25522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28600" y="658368"/>
            <a:ext cx="41148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1E844E"/>
                </a:solidFill>
                <a:latin typeface="游ゴシック"/>
                <a:ea typeface="游ゴシック"/>
              </a:rPr>
              <a:t>熱中性子（D1, d1）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58368"/>
            <a:ext cx="41148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C0392B"/>
                </a:solidFill>
                <a:latin typeface="游ゴシック"/>
                <a:ea typeface="游ゴシック"/>
              </a:rPr>
              <a:t>MeV中性子（D2, d2）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4023360"/>
            <a:ext cx="8503920" cy="777240"/>
          </a:xfrm>
          <a:prstGeom prst="roundRect">
            <a:avLst/>
          </a:prstGeom>
          <a:solidFill>
            <a:srgbClr val="EBF5FB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22222"/>
                </a:solidFill>
                <a:latin typeface="游ゴシック"/>
                <a:ea typeface="游ゴシック"/>
              </a:rPr>
              <a:t>読み取りの注意</a:t>
            </a:r>
          </a:p>
          <a:p>
            <a:r>
              <a:rPr sz="1000" b="0">
                <a:solidFill>
                  <a:srgbClr val="222222"/>
                </a:solidFill>
                <a:latin typeface="游ゴシック"/>
                <a:ea typeface="游ゴシック"/>
              </a:rPr>
              <a:t>・深い地点ほど横棒が長い（δt_eq が増える。特に土層がある BT・KEKB）</a:t>
            </a:r>
          </a:p>
          <a:p>
            <a:r>
              <a:rPr sz="1000" b="0">
                <a:solidFill>
                  <a:srgbClr val="222222"/>
                </a:solidFill>
                <a:latin typeface="游ゴシック"/>
                <a:ea typeface="游ゴシック"/>
              </a:rPr>
              <a:t>・縦棒は片対数でも「相対誤差」がほぼ一定なら見た目の長さが似る</a:t>
            </a:r>
          </a:p>
          <a:p>
            <a:r>
              <a:rPr sz="1000" b="0">
                <a:solidFill>
                  <a:srgbClr val="222222"/>
                </a:solidFill>
                <a:latin typeface="游ゴシック"/>
                <a:ea typeface="游ゴシック"/>
              </a:rPr>
              <a:t>・理論曲線 e^{−x/λ} とのずれを論じるときは、横の系統も合わせて見る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4773168"/>
            <a:ext cx="502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游ゴシック"/>
                <a:ea typeface="游ゴシック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9144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F4E79"/>
                </a:solidFill>
                <a:latin typeface="游ゴシック"/>
                <a:ea typeface="游ゴシック"/>
              </a:rPr>
              <a:t>【附記】誤差のまとめ（チェックリスト）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438912"/>
            <a:ext cx="8503920" cy="25603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85039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520440"/>
                <a:gridCol w="3520440"/>
              </a:tblGrid>
              <a:tr h="339634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項目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縦軸 y_err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横軸 x_err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物理量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δφ（または相対φの誤差）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δt_eq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性格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統計（測定時間で小さくなる）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系統（測り直しでは減らない）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式の要点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δφ = δR_NET / εS_peak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δt_eq = √Σ(δX)² / ρ_c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コード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roi_net → 絶対phi_err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_teq_systematic_err_cm()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CSV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フラックス_地点まとめ.csv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等価コンクリート_減衰_*_誤差棒.csv</a:t>
                      </a:r>
                    </a:p>
                  </a:txBody>
                  <a:tcPr anchor="ctr">
                    <a:solidFill>
                      <a:srgbClr val="D6E3F0"/>
                    </a:solidFill>
                  </a:tcPr>
                </a:tc>
              </a:tr>
              <a:tr h="3396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図の引数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errorbar(..., yerr=...)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</a:rPr>
                        <a:t>errorbar(..., xerr=...)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246120"/>
            <a:ext cx="8412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</a:rPr>
              <a:t>・本編・図18の誤差棒は上記の定義に従う（peak764_cut200）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</a:rPr>
              <a:t>・縦に含めていないもの: εS の系統、背景法の選択、部分補正 f の不確かさ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</a:rPr>
              <a:t>・横に含めていないもの: 地点割り当てミス、遮蔽組成モデルの選択そのもの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</a:rPr>
              <a:t>・参照: _plot_mca.py（系統定数 SYS_DT_* / SYS_DRHO_*）、絶対の.csv の x_err, y_err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4773168"/>
            <a:ext cx="502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游ゴシック"/>
                <a:ea typeface="游ゴシック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