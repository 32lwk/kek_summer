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14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解答：① 原子核  ② 原子核  ③ X = ρ × t、単位 g/cm²  ④ 230 g/cm²  ⑤ 121 cm  ⑥ 質量厚さ（g/cm²）
狙い：密度の違いが消えることを先に納得させる。次の段階で「元素の違いはどうか」に進む。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解答：A^(2/3)。λ = 37 × A^0.3。空欄の λ は C 78、Si 100、Fe 123。A は約200倍、λ は約4倍。
狙い：指数が 0.3 しかないことを自分の計算で発見させるのが山場。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解答：コンクリート 約92 g/cm²、土 約93 g/cm²、差は約1%。どちらも 酸素 と ケイ素 の酸化物。
狙い：混合則の計算を手でやらせる。差が1%しかないことを自分で出すと、1次元化に抵抗がなくなる。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解答：Linac (a) = 2.3 × 250 = 575 g/cm²。Linac (b) = 1.9 × 250 + 2.3 × 150 = 475 + 345 = 820 g/cm²。
含水率が効くのは、各点での MeV・熱中性子の生成量（縦方向のオフセット）。
狙い：仮定を仮定のまま終わらせず、データで裏付ける流れを体験させる。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密度を消す</a:t>
            </a: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(</a:t>
            </a:r>
            <a:r>
              <a:rPr lang="en-US" sz="2800" b="1" dirty="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重量厚さ</a:t>
            </a: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g/cm</a:t>
            </a:r>
            <a:r>
              <a:rPr lang="en-US" sz="2800" b="1" baseline="300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</a:t>
            </a:r>
            <a:r>
              <a:rPr lang="en-US" sz="14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100 cm と 土 100 </a:t>
            </a:r>
            <a:r>
              <a:rPr lang="en-US" sz="1400" i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cm、どちらが中性子をよく止めるか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343400"/>
          </a:xfrm>
          <a:prstGeom prst="roundRect">
            <a:avLst>
              <a:gd name="adj" fmla="val 126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中性子が減るのは、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3635" y="1523883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原子核</a:t>
            </a:r>
            <a:endParaRPr lang="ja-JP"/>
          </a:p>
        </p:txBody>
      </p:sp>
      <p:sp>
        <p:nvSpPr>
          <p:cNvPr id="10" name="Text 8"/>
          <p:cNvSpPr/>
          <p:nvPr/>
        </p:nvSpPr>
        <p:spPr>
          <a:xfrm>
            <a:off x="507492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と反応するから。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反応の起こりやすさは、通り道にある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13386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原子核</a:t>
            </a:r>
            <a:endParaRPr lang="ja-JP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の個数。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単位面積あたりの個数 ∝ 密度 × 厚さ ≡ 質量厚さ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式で書くと  X =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25601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ρ × t</a:t>
            </a:r>
            <a:endParaRPr lang="ja-JP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24612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g/cm²</a:t>
            </a:r>
            <a:endParaRPr lang="ja-JP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コンクリート  ρ = 2.3 g/cm³ × 100 cm =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2388" y="3849624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230</a:t>
            </a:r>
            <a:endParaRPr lang="ja-JP"/>
          </a:p>
        </p:txBody>
      </p:sp>
      <p:sp>
        <p:nvSpPr>
          <p:cNvPr id="21" name="Text 19"/>
          <p:cNvSpPr/>
          <p:nvPr/>
        </p:nvSpPr>
        <p:spPr>
          <a:xfrm>
            <a:off x="6446520" y="3886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土  ρ = 1.9 g/cm³ 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88361" y="447217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121</a:t>
            </a:r>
            <a:endParaRPr lang="ja-JP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 で同じ値になる。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02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結論：密度の違いは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5075" y="5077432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質量厚さ</a:t>
            </a:r>
            <a:endParaRPr lang="ja-JP"/>
          </a:p>
        </p:txBody>
      </p:sp>
      <p:sp>
        <p:nvSpPr>
          <p:cNvPr id="27" name="Text 25"/>
          <p:cNvSpPr/>
          <p:nvPr/>
        </p:nvSpPr>
        <p:spPr>
          <a:xfrm>
            <a:off x="5010912" y="5102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を使えば自動的に消える。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1325880"/>
            <a:ext cx="4023360" cy="4343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635240" y="1325880"/>
            <a:ext cx="4023360" cy="4343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254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81812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同じ質量厚さ = 同じ止め方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2697480"/>
            <a:ext cx="1051560" cy="2011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275320" y="29718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 = 2.3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cm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21240" y="2368296"/>
            <a:ext cx="1051560" cy="234086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692640" y="2807208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 = 1.9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121 cm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4709160"/>
            <a:ext cx="3017520" cy="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7818120" y="4919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厚さは違っても、通り道の原子核の数は同じ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元素が違うとどうなるか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035040" cy="2788920"/>
          </a:xfrm>
          <a:prstGeom prst="roundRect">
            <a:avLst>
              <a:gd name="adj" fmla="val 1967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原子核を「的」と見なすと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 ∝ 半径² ∝ A^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84708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2/3</a:t>
            </a:r>
            <a:endParaRPr lang="ja-JP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経験式：σ ≈ 45 × A^0.7  [mb]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平均自由行程に直すと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λ [g/cm²] = A / (N_A σ) =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31272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37</a:t>
            </a:r>
            <a:endParaRPr lang="ja-JP"/>
          </a:p>
        </p:txBody>
      </p:sp>
      <p:sp>
        <p:nvSpPr>
          <p:cNvPr id="15" name="Text 13"/>
          <p:cNvSpPr/>
          <p:nvPr/>
        </p:nvSpPr>
        <p:spPr>
          <a:xfrm>
            <a:off x="4892040" y="31272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A^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48021" y="31272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0.3</a:t>
            </a:r>
            <a:endParaRPr lang="ja-JP"/>
          </a:p>
        </p:txBody>
      </p:sp>
      <p:sp>
        <p:nvSpPr>
          <p:cNvPr id="17" name="Text 15"/>
          <p:cNvSpPr/>
          <p:nvPr/>
        </p:nvSpPr>
        <p:spPr>
          <a:xfrm>
            <a:off x="777240" y="35844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この2つの数字を、上の σ の式から自分で導くこと。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903720" y="1325880"/>
          <a:ext cx="4754880" cy="24871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ns3:colId val="20000"/>
                    </a:ext>
                  </a:extLst>
                </a:gridCol>
                <a:gridCol w="1280160">
                  <a:extLst>
                    <a:ext uri="{9D8B030D-6E8A-4147-A177-3AD203B41FA5}">
                      <ns3:colId val="20001"/>
                    </a:ext>
                  </a:extLst>
                </a:gridCol>
                <a:gridCol w="182880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元素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λ [g/cm²]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78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100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123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ns3:rowId val="10007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02920" y="429768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77240" y="4480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331720" y="4480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200</a:t>
            </a:r>
            <a:endParaRPr lang="ja-JP"/>
          </a:p>
        </p:txBody>
      </p:sp>
      <p:sp>
        <p:nvSpPr>
          <p:cNvPr id="22" name="Text 19"/>
          <p:cNvSpPr/>
          <p:nvPr/>
        </p:nvSpPr>
        <p:spPr>
          <a:xfrm>
            <a:off x="3337560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倍 変わっても、λ は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23560" y="4480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4</a:t>
            </a:r>
            <a:endParaRPr lang="ja-JP"/>
          </a:p>
        </p:txBody>
      </p:sp>
      <p:sp>
        <p:nvSpPr>
          <p:cNvPr id="24" name="Text 21"/>
          <p:cNvSpPr/>
          <p:nvPr/>
        </p:nvSpPr>
        <p:spPr>
          <a:xfrm>
            <a:off x="6629400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倍しか変わらない。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49560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原子核が大きいほど的も大きいが、その分1個あたりの質量も重い。両者が打ち消し合う。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5358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表の λ を A </a:t>
            </a:r>
            <a:r>
              <a:rPr lang="en-US" sz="1200" dirty="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に対して片対数プロットし、ほとんど寝た直線になることを確かめる</a:t>
            </a: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29" name="テキスト ボックス 28">
            <a:extLst>
              <a:ext uri="{FF2B5EF4-FFF2-40B4-BE49-F238E27FC236}">
                <ns3:creationId id="{F1141FEA-CF57-3DAB-E51D-37205C8A4A85}"/>
              </a:ext>
            </a:extLst>
          </p:cNvPr>
          <p:cNvSpPr txBox="1"/>
          <p:nvPr/>
        </p:nvSpPr>
        <p:spPr>
          <a:xfrm>
            <a:off x="460495" y="6008102"/>
            <a:ext cx="117315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1100"/>
              <a:t>単位体積あたり </a:t>
            </a:r>
            <a:r>
              <a:rPr lang="en-US" altLang="ja-JP" sz="1100" dirty="0"/>
              <a:t>n [cm⁻³] </a:t>
            </a:r>
            <a:r>
              <a:rPr lang="ja-JP" altLang="en-US" sz="1100"/>
              <a:t>の原子核が断面積 </a:t>
            </a:r>
            <a:r>
              <a:rPr lang="el-GR" altLang="ja-JP" sz="1100" dirty="0"/>
              <a:t>σ [</a:t>
            </a:r>
            <a:r>
              <a:rPr lang="en-US" altLang="ja-JP" sz="1100" dirty="0"/>
              <a:t>cm²] </a:t>
            </a:r>
            <a:r>
              <a:rPr lang="ja-JP" altLang="en-US" sz="1100"/>
              <a:t>を持つとき、厚さ </a:t>
            </a:r>
            <a:r>
              <a:rPr lang="el-GR" altLang="ja-JP" sz="1100" dirty="0"/>
              <a:t>λ </a:t>
            </a:r>
            <a:r>
              <a:rPr lang="ja-JP" altLang="en-US" sz="1100"/>
              <a:t>の板を正面から見ると、的の総面積は </a:t>
            </a:r>
            <a:r>
              <a:rPr lang="en-US" altLang="ja-JP" sz="1100" dirty="0"/>
              <a:t>n </a:t>
            </a:r>
            <a:r>
              <a:rPr lang="el-GR" altLang="ja-JP" sz="1100" dirty="0"/>
              <a:t>σ λ</a:t>
            </a:r>
            <a:r>
              <a:rPr lang="ja-JP" altLang="el-GR" sz="1100"/>
              <a:t>（</a:t>
            </a:r>
            <a:r>
              <a:rPr lang="ja-JP" altLang="en-US" sz="1100"/>
              <a:t>単位面積あたり）になります。これが </a:t>
            </a:r>
            <a:r>
              <a:rPr lang="en-US" altLang="ja-JP" sz="1100" dirty="0"/>
              <a:t>1 </a:t>
            </a:r>
            <a:r>
              <a:rPr lang="ja-JP" altLang="en-US" sz="1100"/>
              <a:t>になる厚さが平均自由行程で、</a:t>
            </a:r>
          </a:p>
          <a:p>
            <a:pPr rtl="0">
              <a:buNone/>
            </a:pPr>
            <a:r>
              <a:rPr lang="el-GR" altLang="ja-JP" sz="1100" dirty="0"/>
              <a:t>λ = 1/(</a:t>
            </a:r>
            <a:r>
              <a:rPr lang="en-US" altLang="ja-JP" sz="1100" dirty="0"/>
              <a:t>n</a:t>
            </a:r>
            <a:r>
              <a:rPr lang="el-GR" altLang="ja-JP" sz="1100" dirty="0"/>
              <a:t>σ) [</a:t>
            </a:r>
            <a:r>
              <a:rPr lang="en-US" altLang="ja-JP" sz="1100" dirty="0"/>
              <a:t>cm]</a:t>
            </a:r>
          </a:p>
          <a:p>
            <a:pPr rtl="0">
              <a:buNone/>
            </a:pPr>
            <a:r>
              <a:rPr lang="ja-JP" altLang="en-US" sz="1100"/>
              <a:t>質量厚さに直すと </a:t>
            </a:r>
            <a:r>
              <a:rPr lang="el-GR" altLang="ja-JP" sz="1100" dirty="0" err="1"/>
              <a:t>ρλ</a:t>
            </a:r>
            <a:r>
              <a:rPr lang="el-GR" altLang="ja-JP" sz="1100" dirty="0"/>
              <a:t> = ρ/(</a:t>
            </a:r>
            <a:r>
              <a:rPr lang="en-US" altLang="ja-JP" sz="1100" dirty="0"/>
              <a:t>n</a:t>
            </a:r>
            <a:r>
              <a:rPr lang="el-GR" altLang="ja-JP" sz="1100" dirty="0"/>
              <a:t>σ) </a:t>
            </a:r>
            <a:r>
              <a:rPr lang="ja-JP" altLang="en-US" sz="1100"/>
              <a:t>で、</a:t>
            </a:r>
            <a:r>
              <a:rPr lang="en-US" altLang="ja-JP" sz="1100" dirty="0"/>
              <a:t>n = </a:t>
            </a:r>
            <a:r>
              <a:rPr lang="el-GR" altLang="ja-JP" sz="1100" dirty="0"/>
              <a:t>ρ</a:t>
            </a:r>
            <a:r>
              <a:rPr lang="en-US" altLang="ja-JP" sz="1100" dirty="0"/>
              <a:t>N_A/A </a:t>
            </a:r>
            <a:r>
              <a:rPr lang="ja-JP" altLang="en-US" sz="1100"/>
              <a:t>を入れれば </a:t>
            </a:r>
            <a:r>
              <a:rPr lang="el-GR" altLang="ja-JP" sz="1100" dirty="0"/>
              <a:t>ρ </a:t>
            </a:r>
            <a:r>
              <a:rPr lang="ja-JP" altLang="en-US" sz="1100"/>
              <a:t>が消えて</a:t>
            </a:r>
          </a:p>
          <a:p>
            <a:pPr rtl="0">
              <a:buNone/>
            </a:pPr>
            <a:r>
              <a:rPr lang="el-GR" altLang="ja-JP" sz="1100" dirty="0"/>
              <a:t>λ = </a:t>
            </a:r>
            <a:r>
              <a:rPr lang="en-US" altLang="ja-JP" sz="1100" dirty="0"/>
              <a:t>A/(N_A </a:t>
            </a:r>
            <a:r>
              <a:rPr lang="el-GR" altLang="ja-JP" sz="1100" dirty="0"/>
              <a:t>σ) [</a:t>
            </a:r>
            <a:r>
              <a:rPr lang="en-US" altLang="ja-JP" sz="1100" dirty="0"/>
              <a:t>g/cm²]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実際の組成で確かめる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コンクリートと土は、どのくらい違う物質</a:t>
            </a:r>
            <a:r>
              <a:rPr lang="en-US" sz="14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400" i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</a:t>
            </a:r>
            <a:endParaRPr lang="en-US" sz="1400" i="1" dirty="0">
              <a:solidFill>
                <a:srgbClr val="B85042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混合則：  1 / λ  =  Σ  wᵢ / λᵢ         （wᵢ は元素 i の質量分率、λᵢ は第2段階の表の値）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2240280"/>
          <a:ext cx="11155680" cy="1682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ns3:colId val="20000"/>
                    </a:ext>
                  </a:extLst>
                </a:gridCol>
                <a:gridCol w="5852160">
                  <a:extLst>
                    <a:ext uri="{9D8B030D-6E8A-4147-A177-3AD203B41FA5}">
                      <ns3:colId val="20001"/>
                    </a:ext>
                  </a:extLst>
                </a:gridCol>
                <a:gridCol w="292608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主な組成（質量分率）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λ [g/cm²]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コンクリート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 53% / Si 34% / Ca 4% / Al 3% / H 1%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92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 50% / Si 27% / Al 7% / Fe 4% / H 2%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93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1%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00684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3行目は上の2つの差を % で。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77240" y="4526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結論：どちらも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14600" y="452628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酸素</a:t>
            </a:r>
            <a:endParaRPr lang="ja-JP"/>
          </a:p>
        </p:txBody>
      </p:sp>
      <p:sp>
        <p:nvSpPr>
          <p:cNvPr id="14" name="Text 11"/>
          <p:cNvSpPr/>
          <p:nvPr/>
        </p:nvSpPr>
        <p:spPr>
          <a:xfrm>
            <a:off x="3886200" y="4526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51960" y="452628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ケイ素</a:t>
            </a:r>
            <a:endParaRPr lang="ja-JP"/>
          </a:p>
        </p:txBody>
      </p:sp>
      <p:sp>
        <p:nvSpPr>
          <p:cNvPr id="16" name="Text 13"/>
          <p:cNvSpPr/>
          <p:nvPr/>
        </p:nvSpPr>
        <p:spPr>
          <a:xfrm>
            <a:off x="5623560" y="45262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の酸化物であり、組成そのものがほぼ同じ。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49834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第2段階で「元素にあまり依らない」ことを確かめた上に、そもそも組成が似ている。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3858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したがって（コンクリート厚, 土厚）の2つの数を、質量厚さという1つの数にまとめてよい。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仮定をデータで検証する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1次元化してよいという仮定は、測定データ自身で確かめられるか？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675120" cy="3246120"/>
          </a:xfrm>
          <a:prstGeom prst="roundRect">
            <a:avLst>
              <a:gd name="adj" fmla="val 169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1次元化の式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= ρ(コンクリート) × t(コンクリート) + ρ(土) × t(土)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Linac (a)   コンクリート 250 cm 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66360" y="237744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575</a:t>
            </a:r>
            <a:endParaRPr lang="ja-JP"/>
          </a:p>
        </p:txBody>
      </p:sp>
      <p:sp>
        <p:nvSpPr>
          <p:cNvPr id="12" name="Text 10"/>
          <p:cNvSpPr/>
          <p:nvPr/>
        </p:nvSpPr>
        <p:spPr>
          <a:xfrm>
            <a:off x="6245352" y="23774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Linac (b)   土 250 cm ＋ コンクリート 150 cm 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28803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820</a:t>
            </a:r>
            <a:endParaRPr lang="ja-JP"/>
          </a:p>
        </p:txBody>
      </p:sp>
      <p:sp>
        <p:nvSpPr>
          <p:cNvPr id="15" name="Text 13"/>
          <p:cNvSpPr/>
          <p:nvPr/>
        </p:nvSpPr>
        <p:spPr>
          <a:xfrm>
            <a:off x="6245352" y="2880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(a) は純コンクリート、(b) は土とコンクリートの混合。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1次元化が誤っていれば、この2点は系統的にずれるはず。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325880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54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72668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2点は同じ直線に乗るか？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66760" y="1920240"/>
            <a:ext cx="0" cy="214884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366760" y="4069080"/>
            <a:ext cx="2926080" cy="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607808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 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質量厚さ [g/cm²]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41080" y="2148840"/>
            <a:ext cx="2331720" cy="1600200"/>
          </a:xfrm>
          <a:prstGeom prst="line">
            <a:avLst/>
          </a:prstGeom>
          <a:noFill/>
          <a:ln w="25400">
            <a:solidFill>
              <a:srgbClr val="A7BEAE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015984" y="2514600"/>
            <a:ext cx="155448" cy="1554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619488" y="2926080"/>
            <a:ext cx="155448" cy="1554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732520" y="2212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02368" y="2834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77240" y="48920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注意：水素だけは λ が飛び抜けて小さい（約 42 g/cm²）。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303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土の含水率は、グラフの傾きには効かないが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5303520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各点での MeV・熱中性子の生成量</a:t>
            </a:r>
            <a:endParaRPr lang="ja-JP"/>
          </a:p>
        </p:txBody>
      </p:sp>
      <p:sp>
        <p:nvSpPr>
          <p:cNvPr id="34" name="Text 32"/>
          <p:cNvSpPr/>
          <p:nvPr/>
        </p:nvSpPr>
        <p:spPr>
          <a:xfrm>
            <a:off x="7818120" y="5303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には効く。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81160" y="5303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（→ 後半の熱中性子の話へ）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754</Words>
  <Application>Microsoft Macintosh PowerPoint</Application>
  <PresentationFormat>ワイド画面</PresentationFormat>
  <Paragraphs>108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中性子測定実習 — 質量厚さによる1次元化</dc:title>
  <dc:subject>PptxGenJS Presentation</dc:subject>
  <dc:creator>KEK 放射線科学センター</dc:creator>
  <cp:lastModifiedBy>IWASE Hiroshi</cp:lastModifiedBy>
  <cp:revision>4</cp:revision>
  <dcterms:created xsi:type="dcterms:W3CDTF">2026-08-20T05:26:47Z</dcterms:created>
  <dcterms:modified xsi:type="dcterms:W3CDTF">2026-08-20T08:02:14Z</dcterms:modified>
</cp:coreProperties>
</file>