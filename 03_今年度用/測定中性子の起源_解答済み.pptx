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07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解答：λ は「短く」なる。コンクリート換算は 高エネルギー 92/2.3 ≈ 40 cm、MeV 26/2.3 ≈ 11 cm。
問1：exp(−22) ≈ 3×10⁻¹⁰。問2：実質ゼロ（何年測っても1個も来ない）。問3：検出器から 11 cm 以内で生まれた。
結論：11 cm / 高エネルギー中性子 / 高エネルギー中性子。
狙い：エネルギー依存を暗記項目にせず、矛盾を解く道具として使わせる。第2段階が『同じエネルギーで元素を変える』、ここは『同じ物質でエネルギーを変える』で対になる。
60秒課題は最終日の発表準備を兼ねた到達度チェック。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測っている中性子は、どこで生まれたのか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私たちが測れるのは熱中性子と</a:t>
            </a:r>
            <a:r>
              <a:rPr lang="en-US" sz="14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MeV 中性子だけ。それで何が分かるのか？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エネルギーが下がるほど断面積は大きくなる。だから λ 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371600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短く</a:t>
            </a:r>
            <a:endParaRPr lang="ja-JP"/>
          </a:p>
        </p:txBody>
      </p:sp>
      <p:sp>
        <p:nvSpPr>
          <p:cNvPr id="9" name="Text 7"/>
          <p:cNvSpPr/>
          <p:nvPr/>
        </p:nvSpPr>
        <p:spPr>
          <a:xfrm>
            <a:off x="5532120" y="13716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なる。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1783080"/>
          <a:ext cx="5852160" cy="13167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ns3:colId val="20000"/>
                    </a:ext>
                  </a:extLst>
                </a:gridCol>
                <a:gridCol w="1737360">
                  <a:extLst>
                    <a:ext uri="{9D8B030D-6E8A-4147-A177-3AD203B41FA5}">
                      <ns3:colId val="20001"/>
                    </a:ext>
                  </a:extLst>
                </a:gridCol>
                <a:gridCol w="173736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λ [g/cm²]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コンクリート換算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高エネルギー中性子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92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約 40 cm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MeV 中性子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26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dirty="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約 11 cm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熱中性子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 g/cm²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 cm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3337560"/>
            <a:ext cx="5852160" cy="1600200"/>
          </a:xfrm>
          <a:prstGeom prst="roundRect">
            <a:avLst>
              <a:gd name="adj" fmla="val 3429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77240" y="34198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測っている MeV 中性子は、検出器から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3730752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11</a:t>
            </a:r>
            <a:endParaRPr lang="ja-JP"/>
          </a:p>
        </p:txBody>
      </p:sp>
      <p:sp>
        <p:nvSpPr>
          <p:cNvPr id="15" name="Text 12"/>
          <p:cNvSpPr/>
          <p:nvPr/>
        </p:nvSpPr>
        <p:spPr>
          <a:xfrm>
            <a:off x="4251960" y="3730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 以内で生まれた。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41330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生んだのは、そこまで届いた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0" y="4133088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1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高エネルギー中性子</a:t>
            </a:r>
            <a:endParaRPr lang="ja-JP"/>
          </a:p>
        </p:txBody>
      </p:sp>
      <p:sp>
        <p:nvSpPr>
          <p:cNvPr id="18" name="Text 15"/>
          <p:cNvSpPr/>
          <p:nvPr/>
        </p:nvSpPr>
        <p:spPr>
          <a:xfrm>
            <a:off x="4343400" y="4133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だけ。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45354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深度依存の傾きは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77440" y="4535424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1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高エネルギー中性子</a:t>
            </a:r>
            <a:endParaRPr lang="ja-JP"/>
          </a:p>
        </p:txBody>
      </p:sp>
      <p:sp>
        <p:nvSpPr>
          <p:cNvPr id="21" name="Text 18"/>
          <p:cNvSpPr/>
          <p:nvPr/>
        </p:nvSpPr>
        <p:spPr>
          <a:xfrm>
            <a:off x="3977640" y="45354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 λ を表す。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20840" y="1325880"/>
            <a:ext cx="49377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0"/>
          <p:cNvSpPr/>
          <p:nvPr/>
        </p:nvSpPr>
        <p:spPr>
          <a:xfrm>
            <a:off x="6720840" y="1325880"/>
            <a:ext cx="49377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254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6949440" y="14264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計算してみましょう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49440" y="17556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問1  地表の MeV 中性子のうち、Linac (a) 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  575 g/cm² を通り抜ける割合は？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86600" y="23042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exp( −575 / 26 ) = exp( −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52560" y="2304288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22.1</a:t>
            </a:r>
            <a:endParaRPr lang="ja-JP"/>
          </a:p>
        </p:txBody>
      </p:sp>
      <p:sp>
        <p:nvSpPr>
          <p:cNvPr id="28" name="Text 25"/>
          <p:cNvSpPr/>
          <p:nvPr/>
        </p:nvSpPr>
        <p:spPr>
          <a:xfrm>
            <a:off x="9738360" y="2304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 ≈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104120" y="230428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3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3×10⁻¹⁰</a:t>
            </a:r>
            <a:endParaRPr lang="ja-JP"/>
          </a:p>
        </p:txBody>
      </p:sp>
      <p:sp>
        <p:nvSpPr>
          <p:cNvPr id="30" name="Text 27"/>
          <p:cNvSpPr/>
          <p:nvPr/>
        </p:nvSpPr>
        <p:spPr>
          <a:xfrm>
            <a:off x="6949440" y="27249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問2  地表の MeV </a:t>
            </a:r>
            <a:r>
              <a:rPr lang="en-US" sz="1100" dirty="0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中性子</a:t>
            </a: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dirty="0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の計数率</a:t>
            </a: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0.6 cps 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  すると、地下での予想計数率は？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32320" y="3168396"/>
            <a:ext cx="4251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1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問1の答えを掛ける</a:t>
            </a:r>
            <a:endParaRPr lang="ja-JP"/>
          </a:p>
        </p:txBody>
      </p:sp>
      <p:sp>
        <p:nvSpPr>
          <p:cNvPr id="32" name="Text 29"/>
          <p:cNvSpPr/>
          <p:nvPr/>
        </p:nvSpPr>
        <p:spPr>
          <a:xfrm>
            <a:off x="6949440" y="36667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問3  しかし実際には MeV 中性子が測れている。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  どこで生まれたのか？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086600" y="4187952"/>
            <a:ext cx="4251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ctr"/>
            <a:r>
              <a:rPr lang="ja-JP" sz="11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検出器から 11 cm 以内</a:t>
            </a:r>
            <a:endParaRPr lang="ja-JP"/>
          </a:p>
        </p:txBody>
      </p:sp>
      <p:sp>
        <p:nvSpPr>
          <p:cNvPr id="34" name="Shape 31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 anchor="ctr" wrap="square"/>
          <a:lstStyle/>
          <a:p>
            <a:pPr algn="l"/>
            <a:r>
              <a:rPr lang="ja-JP" sz="11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→ 予想計数率 ≈ 0 cps（実質ゼロ）</a:t>
            </a:r>
            <a:endParaRPr lang="ja-JP"/>
          </a:p>
        </p:txBody>
      </p:sp>
      <p:sp>
        <p:nvSpPr>
          <p:cNvPr id="35" name="Text 32"/>
          <p:cNvSpPr/>
          <p:nvPr/>
        </p:nvSpPr>
        <p:spPr>
          <a:xfrm>
            <a:off x="777240" y="523036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発表の準備：この結論を、計算をしていない人に 60 秒で説明するとどうなるか。書いてみよう。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77240" y="5605272"/>
            <a:ext cx="10607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anchor="ctr" wrap="square"/>
          <a:lstStyle/>
          <a:p>
            <a:pPr algn="l"/>
            <a:r>
              <a:rPr lang="ja-JP" sz="900" dirty="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地表から来た MeV 中性子は 575 g/cm² を通ると通過率は 10⁻¹⁰ 以下で実質ゼロ。地下で MeV 中性子が測れるのは、検出器の近く（約11 cm以内）で生まれているから。深度を変えても減り方が同じなのは、高エネルギー中性子の λ≈92 g/cm² で減衰しているため。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230</Words>
  <Application>Microsoft Macintosh PowerPoint</Application>
  <PresentationFormat>ワイド画面</PresentationFormat>
  <Paragraphs>33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Meiryo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中性子測定実習 — 質量厚さによる1次元化</dc:title>
  <dc:subject>PptxGenJS Presentation</dc:subject>
  <dc:creator>KEK 放射線科学センター</dc:creator>
  <cp:lastModifiedBy>IWASE Hiroshi</cp:lastModifiedBy>
  <cp:revision>3</cp:revision>
  <dcterms:created xsi:type="dcterms:W3CDTF">2026-08-20T08:20:08Z</dcterms:created>
  <dcterms:modified xsi:type="dcterms:W3CDTF">2026-08-20T10:08:05Z</dcterms:modified>
</cp:coreProperties>
</file>