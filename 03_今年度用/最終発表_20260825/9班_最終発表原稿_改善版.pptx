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73" r:id="rId4"/>
    <p:sldId id="258" r:id="rId5"/>
    <p:sldId id="262" r:id="rId6"/>
    <p:sldId id="310" r:id="rId7"/>
    <p:sldId id="260" r:id="rId8"/>
    <p:sldId id="270" r:id="rId9"/>
    <p:sldId id="280" r:id="rId10"/>
    <p:sldId id="276" r:id="rId11"/>
    <p:sldId id="263" r:id="rId12"/>
    <p:sldId id="318" r:id="rId13"/>
    <p:sldId id="282" r:id="rId14"/>
    <p:sldId id="304" r:id="rId15"/>
    <p:sldId id="305" r:id="rId16"/>
    <p:sldId id="306" r:id="rId17"/>
    <p:sldId id="307" r:id="rId18"/>
    <p:sldId id="284" r:id="rId19"/>
    <p:sldId id="319" r:id="rId20"/>
    <p:sldId id="320" r:id="rId21"/>
    <p:sldId id="321" r:id="rId22"/>
    <p:sldId id="259" r:id="rId23"/>
    <p:sldId id="326" r:id="rId24"/>
    <p:sldId id="327" r:id="rId25"/>
    <p:sldId id="328" r:id="rId26"/>
    <p:sldId id="329" r:id="rId27"/>
    <p:sldId id="264" r:id="rId28"/>
    <p:sldId id="265" r:id="rId29"/>
    <p:sldId id="266" r:id="rId30"/>
    <p:sldId id="267" r:id="rId31"/>
    <p:sldId id="268" r:id="rId32"/>
    <p:sldId id="330" r:id="rId33"/>
    <p:sldId id="331" r:id="rId34"/>
    <p:sldId id="271" r:id="rId35"/>
    <p:sldId id="332" r:id="rId36"/>
    <p:sldId id="333" r:id="rId37"/>
    <p:sldId id="261" r:id="rId38"/>
    <p:sldId id="322" r:id="rId39"/>
    <p:sldId id="323" r:id="rId40"/>
    <p:sldId id="324" r:id="rId41"/>
    <p:sldId id="335" r:id="rId42"/>
    <p:sldId id="338" r:id="rId43"/>
    <p:sldId id="343" r:id="rId44"/>
    <p:sldId id="313" r:id="rId45"/>
    <p:sldId id="345" r:id="rId46"/>
    <p:sldId id="294" r:id="rId47"/>
    <p:sldId id="295" r:id="rId48"/>
    <p:sldId id="278" r:id="rId49"/>
    <p:sldId id="341" r:id="rId50"/>
    <p:sldId id="279" r:id="rId51"/>
    <p:sldId id="336" r:id="rId52"/>
    <p:sldId id="317" r:id="rId53"/>
    <p:sldId id="308" r:id="rId54"/>
    <p:sldId id="309" r:id="rId55"/>
    <p:sldId id="269" r:id="rId56"/>
    <p:sldId id="334" r:id="rId57"/>
    <p:sldId id="342" r:id="rId5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41" dt="2026-08-25T19:41:23.101"/>
    <p1510:client id="{151B0E94-B15E-40D5-9329-9B2BB7442E82}" v="8745" dt="2026-08-25T19:30:17.748"/>
    <p1510:client id="{21E18521-82D4-170C-BFC5-CB7BCDD2AA98}" v="353" dt="2026-08-25T19:11:41.093"/>
    <p1510:client id="{3C1CC762-879C-9FBA-3529-667548F77F15}" v="317" dt="2026-08-25T17:16:48.869"/>
    <p1510:client id="{5EE8C15D-D880-FB8B-E33A-4776865949EA}" v="52" dt="2026-08-25T17:27:56.377"/>
    <p1510:client id="{5F7A4D0C-ECE0-D226-21C8-04032B1C2ED0}" v="1494" dt="2026-08-25T19:44:59.654"/>
    <p1510:client id="{6F998C15-6030-B638-A0D4-C9D9E8B2653A}" v="936" dt="2026-08-25T17:35:31.229"/>
    <p1510:client id="{861CF6A5-BD81-A31B-E1BF-24F28D91F59C}" v="248" dt="2026-08-25T19:08:10.560"/>
    <p1510:client id="{9B73AD5F-B852-E25A-0C78-E94449B7D5BF}" v="878" dt="2026-08-25T16:05:46.472"/>
    <p1510:client id="{B6A850FC-2D01-1034-2869-58F9EB72BE1E}" v="412" dt="2026-08-25T19:36:06.039"/>
    <p1510:client id="{D1C16DDB-CDE6-4D4D-DA25-896930B8DAD7}" v="31" dt="2026-08-25T18:19:03.031"/>
    <p1510:client id="{E848CAF9-4ECD-D51B-664B-AAFF594768D2}" v="26" dt="2026-08-25T17:28:41.771"/>
    <p1510:client id="{F0DE2638-6440-0285-A7A4-8141566371E0}" v="395" dt="2026-08-25T18:58:08.0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Relationship Id="rId64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74BC5A-EA6C-4401-9E0F-5B7B97D01A56}" type="datetimeFigureOut">
              <a:t>2026/8/25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EBF6F6-4227-4D86-AB3B-7AE6E63CD769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185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EBF6F6-4227-4D86-AB3B-7AE6E63CD769}" type="slidenum">
              <a:rPr lang="en-US" altLang="ja-JP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5356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解答：① 原子核  ② 原子核  ③ X = ρ × t、単位 g/cm²  ④ 230 g/cm²  ⑤ 121 cm  ⑥ 質量厚さ（g/cm²）
狙い：密度の違いが消えることを先に納得させる。次の段階で「元素の違いはどうか」に進む。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解答：A^(2/3)。λ = 37 × A^0.3。空欄の λ は C 78、Si 100、Fe 123。A は約200倍、λ は約4倍。
狙い：指数が 0.3 しかないことを自分の計算で発見させるのが山場。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解答：コンクリート 約92 g/cm²、土 約93 g/cm²、差は約1%。どちらも 酸素 と ケイ素 の酸化物。
狙い：混合則の計算を手でやらせる。差が1%しかないことを自分で出すと、1次元化に抵抗がなくなる。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解答：Linac (a) = 2.3 × 250 = 575 g/cm²。Linac (b) = 1.9 × 250 + 2.3 × 150 = 475 + 345 = 820 g/cm²。
含水率が効くのは、各点での MeV・熱中性子の生成量（縦方向のオフセット）。
狙い：仮定を仮定のまま終わらせず、データで裏付ける流れを体験させる。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916A4-38B3-CD42-BF41-87D6EDA9523D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170852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57B17B-D005-4A2B-B68F-01A76AE384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76E6E0A-1F25-9861-A3F0-6ABACFE80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1EF196-2221-D8FA-C382-27F14C1BD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855A6-DB8C-4E51-95F4-D88E25CBA11B}" type="datetime1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5720677-1F30-4725-7073-7682CAFE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847915-3685-AF35-41B4-D88AF1DC3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3098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A81494-84FB-279C-D3CC-D28049574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4619F05-9044-4EB4-DE32-C7A4FE094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7D868B-8A5C-2669-C129-B20F81225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0AF47-5679-4EAA-8884-90F28758249F}" type="datetime1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6A43AB-8C87-1157-AD53-31557B1D3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FA8EBA-4733-EB30-E9D1-BEB997076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lang="ja-JP" altLang="en-US" smtClean="0"/>
              <a:pPr/>
              <a:t>‹#›</a:t>
            </a:fld>
            <a:r>
              <a:rPr lang="en-US" altLang="ja-JP"/>
              <a:t>/99</a:t>
            </a:r>
          </a:p>
        </p:txBody>
      </p:sp>
    </p:spTree>
    <p:extLst>
      <p:ext uri="{BB962C8B-B14F-4D97-AF65-F5344CB8AC3E}">
        <p14:creationId xmlns:p14="http://schemas.microsoft.com/office/powerpoint/2010/main" val="2543285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4FF32D-8124-03EF-A145-498136DA0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9DABB0E-85E1-D21E-15E1-6B1A766CD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62DDF2-20D4-A846-EEFD-AB00274A6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522E8-5DF6-4964-8BE3-9B11F581E6C7}" type="datetime1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813020-0515-B534-2372-F3D6DD99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D1E3CA-5EDD-83F2-FAD6-B6E35B7D3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0714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BE6ED6-6BC0-DBA9-23A9-E0F0C8700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094243-6CD8-7E62-4BDA-558F3D2362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C5AB418-AC30-A9B9-C957-3263E4AEA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72981-BE34-E4BD-F1F2-136607A28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C2B2E-5254-4D9F-A090-0015A388E2F2}" type="datetime1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353591A-6853-8B10-6A80-AC3BD879B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EA67D4-0FF3-6771-46C5-2EDFE76DD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897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9DB334-BDE9-C394-55E7-6E574B491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978E2A2-FE55-65DD-883B-67290A755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639B297-C157-A1B3-67C0-C11074EF54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5ABABD5-5D72-5B23-0F60-06F9087878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4AA3C19-1D28-6759-A715-A27C703741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CFEDDA9-285A-0DBA-7682-8016BFB85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5EA79-1FBB-4C49-A9B3-CD025C154027}" type="datetime1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1E1F5D3-ECB0-668D-D2F2-0603A1BD0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AC1312A-3B5F-A2CC-221B-FF565A1A8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5199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E3E178-197F-844A-E06C-5E6BDABFB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02310D1-9315-2E03-D728-7A92EBE9B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775F8-7C41-4548-9180-72E72049477B}" type="datetime1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C9DBC42-DD94-9324-B2B6-CD18DE9BA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ED73DD7-373B-E63C-7B80-01A658717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485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C35278-FBDB-F4E0-C95F-2BF979A72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7235-9064-46BA-946B-5611C845CD28}" type="datetime1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BC6BF8F-3218-267C-3436-76C890F59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D5A82B1-E60C-22CC-0BC3-A19534B3E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8405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88D757-3285-EC54-3338-622488FE0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3E0E5E-6C08-4F54-8EB7-EACCB984F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B80DF47-7A49-76E6-6E9D-C0B19587F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2838731-0D2B-8DBC-CDF7-D03789B75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6955E-92FC-4E11-9B0F-A059409EA828}" type="datetime1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3AF1B76-A833-C046-C0A6-18829FB6F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6074C3B-15C2-AAE1-AC05-F723B5545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4317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B091EF-DE9C-939C-96D9-98979A267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D0E0663-0C79-0161-04A0-A053422892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EC78F18-91F4-B559-9B5C-665094E66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7EEBC6B-671D-5135-3332-811F880C6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841B7-2AA2-4AFB-9CAC-6FC585532E37}" type="datetime1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9804BDE-4C85-D856-83CE-0BE548C6D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DEAE9C5-F98D-7460-4057-C47AA3F1F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7506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3FECAC-71CE-0B87-1265-697B6CB4A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FB15E18-741F-A3D5-9B1D-4CF3ECF783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383C79-2952-10C8-F59F-73646D286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BDBCE-BDF1-45B6-A876-159D86C34826}" type="datetime1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0884F2-8271-0C26-B3EC-5FE1545B0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38F94F-5D54-C8D6-23B4-F172E0C32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0999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139F7C1-79B1-86E7-D5FF-69E7F59724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950EFF7-DD15-AFDF-C3E8-C91B52095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70C0F6-5E47-36D5-EC2E-A57B720C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1D7F-7690-410B-B2E3-E7CFF36EC734}" type="datetime1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6F0EEB-7BDD-B271-C20A-8B499435D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CE9699-DC0A-425C-D41E-A8B6D8719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9225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82726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7960DCC-09B9-7289-D3C5-97E74CA0D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22988B9-6B2A-7ECB-1B63-DC699DB02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180E6B-D350-E2B8-B3CA-EA8E6462EF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E4635D-AD2A-4600-B584-CF4E12DA56D6}" type="datetime1">
              <a:rPr kumimoji="1" lang="ja-JP" altLang="en-US" smtClean="0"/>
              <a:t>2026/8/25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A30CF4-C263-1B85-E2CF-87EC5F17BB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6A2891-ED56-E928-0810-2C9120809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5A9341-D4CB-41D4-9AB9-BB65309E22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5997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jpeg"/><Relationship Id="rId4" Type="http://schemas.openxmlformats.org/officeDocument/2006/relationships/image" Target="../media/image9.jpe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4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eg"/><Relationship Id="rId3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jpeg"/><Relationship Id="rId3" Type="http://schemas.openxmlformats.org/officeDocument/2006/relationships/image" Target="../media/image61.jpe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png"/><Relationship Id="rId3" Type="http://schemas.openxmlformats.org/officeDocument/2006/relationships/image" Target="../media/image7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F18B3E9F-A0C2-B118-5D8D-84ACDF4378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9055"/>
            <a:ext cx="15049862" cy="10033241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B76F635A-EC52-B03C-8B28-E665D77BF6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9832"/>
            <a:ext cx="9979743" cy="2006600"/>
          </a:xfrm>
          <a:solidFill>
            <a:schemeClr val="bg1">
              <a:alpha val="92000"/>
            </a:schemeClr>
          </a:solidFill>
          <a:effectLst>
            <a:outerShdw blurRad="50800" dist="50800" dir="5400000" algn="ctr" rotWithShape="0">
              <a:srgbClr val="000000"/>
            </a:outerShdw>
          </a:effectLst>
        </p:spPr>
        <p:txBody>
          <a:bodyPr>
            <a:normAutofit/>
          </a:bodyPr>
          <a:lstStyle/>
          <a:p>
            <a:r>
              <a:rPr lang="ja-JP" altLang="en-US" b="1"/>
              <a:t>～地下での中性子フラックスの測定～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05AE430-7504-5E8E-D572-469317DCD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202238"/>
            <a:ext cx="9144000" cy="1655762"/>
          </a:xfrm>
          <a:solidFill>
            <a:schemeClr val="bg1">
              <a:alpha val="94000"/>
            </a:schemeClr>
          </a:solidFill>
        </p:spPr>
        <p:txBody>
          <a:bodyPr>
            <a:normAutofit fontScale="77500" lnSpcReduction="20000"/>
          </a:bodyPr>
          <a:lstStyle/>
          <a:p>
            <a:pPr algn="l"/>
            <a:r>
              <a:rPr lang="en-US" altLang="ja-JP"/>
              <a:t>9</a:t>
            </a:r>
            <a:r>
              <a:rPr lang="ja-JP" altLang="en-US"/>
              <a:t>班</a:t>
            </a:r>
            <a:endParaRPr lang="en-US" altLang="ja-JP"/>
          </a:p>
          <a:p>
            <a:pPr algn="l"/>
            <a:r>
              <a:rPr lang="ja-JP" altLang="en-US"/>
              <a:t>教員：岩瀬 広　岸本 祐二　大山 隆宏　</a:t>
            </a:r>
            <a:endParaRPr lang="en-US" altLang="ja-JP"/>
          </a:p>
          <a:p>
            <a:pPr algn="l"/>
            <a:r>
              <a:rPr lang="ja-JP" altLang="en-US"/>
              <a:t>学生：川嶋 宥翔</a:t>
            </a:r>
            <a:r>
              <a:rPr lang="en-US" altLang="ja-JP"/>
              <a:t>(</a:t>
            </a:r>
            <a:r>
              <a:rPr lang="ja-JP" altLang="en-US"/>
              <a:t>名古屋大学</a:t>
            </a:r>
            <a:r>
              <a:rPr lang="en-US" altLang="ja-JP"/>
              <a:t>)</a:t>
            </a:r>
            <a:r>
              <a:rPr lang="ja-JP" altLang="en-US"/>
              <a:t>　鈴江 春樹</a:t>
            </a:r>
            <a:r>
              <a:rPr lang="en-US" altLang="ja-JP"/>
              <a:t>(</a:t>
            </a:r>
            <a:r>
              <a:rPr lang="ja-JP" altLang="en-US"/>
              <a:t>明治大学</a:t>
            </a:r>
            <a:r>
              <a:rPr lang="en-US" altLang="ja-JP"/>
              <a:t>)</a:t>
            </a:r>
            <a:r>
              <a:rPr lang="ja-JP" altLang="en-US"/>
              <a:t>　高橋 源太</a:t>
            </a:r>
            <a:r>
              <a:rPr lang="en-US" altLang="ja-JP"/>
              <a:t>(</a:t>
            </a:r>
            <a:r>
              <a:rPr lang="ja-JP" altLang="en-US"/>
              <a:t>金沢大学</a:t>
            </a:r>
            <a:r>
              <a:rPr lang="en-US" altLang="ja-JP"/>
              <a:t>)</a:t>
            </a:r>
          </a:p>
          <a:p>
            <a:pPr algn="l"/>
            <a:r>
              <a:rPr lang="ja-JP" altLang="en-US"/>
              <a:t>　　　戸田 日々輝</a:t>
            </a:r>
            <a:r>
              <a:rPr lang="en-US" altLang="ja-JP"/>
              <a:t>(</a:t>
            </a:r>
            <a:r>
              <a:rPr lang="ja-JP" altLang="en-US"/>
              <a:t>東京大学</a:t>
            </a:r>
            <a:r>
              <a:rPr lang="en-US" altLang="ja-JP"/>
              <a:t>)</a:t>
            </a:r>
            <a:r>
              <a:rPr lang="ja-JP" altLang="en-US"/>
              <a:t>　西之原 純輝</a:t>
            </a:r>
            <a:r>
              <a:rPr lang="en-US" altLang="ja-JP"/>
              <a:t>(</a:t>
            </a:r>
            <a:r>
              <a:rPr lang="ja-JP" altLang="en-US"/>
              <a:t>宮崎大学</a:t>
            </a:r>
            <a:r>
              <a:rPr lang="en-US" altLang="ja-JP"/>
              <a:t>)</a:t>
            </a:r>
          </a:p>
          <a:p>
            <a:pPr algn="l"/>
            <a:r>
              <a:rPr lang="en-US" altLang="ja-JP"/>
              <a:t>TA</a:t>
            </a:r>
            <a:r>
              <a:rPr lang="ja-JP" altLang="en-US"/>
              <a:t>：星野 稔　落合 勇稀　小川 拓泰　小林 海景</a:t>
            </a:r>
          </a:p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941D0C6-DD53-6B12-101D-B8F936D6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92007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0B97A1-2B6A-1578-9B8B-892DA7B2E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游ゴシック"/>
                <a:ea typeface="游ゴシック"/>
              </a:rPr>
              <a:t>宇宙線由来の中性子線について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47B065-C724-1A25-16D2-541C04DB4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935" y="1525292"/>
            <a:ext cx="10515600" cy="4351338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pPr/>
            <a:r>
              <a:rPr sz="2000" i="0">
                <a:latin typeface="游ゴシック"/>
                <a:ea typeface="游ゴシック"/>
              </a:rPr>
              <a:t>一次宇宙線（主に陽子）が大気中の原子核と反応し、大気シャワーを起こす</a:t>
            </a:r>
            <a:endParaRPr lang="en-US" altLang="ja-JP"/>
          </a:p>
          <a:p>
            <a:pPr/>
            <a:r>
              <a:rPr sz="2000" i="0">
                <a:latin typeface="游ゴシック"/>
                <a:ea typeface="游ゴシック"/>
              </a:rPr>
              <a:t>その二次粒子として、電荷のない中性子が地表へ降り注ぐ</a:t>
            </a:r>
          </a:p>
          <a:p>
            <a:pPr/>
            <a:r>
              <a:rPr sz="2000" i="0">
                <a:latin typeface="游ゴシック"/>
                <a:ea typeface="游ゴシック"/>
              </a:rPr>
              <a:t>高エネルギー中性子は空気中の原子核との弾性衝突などでエネルギーを失い、</a:t>
            </a:r>
          </a:p>
          <a:p>
            <a:pPr/>
            <a:r>
              <a:rPr sz="2000" i="0">
                <a:latin typeface="游ゴシック"/>
                <a:ea typeface="游ゴシック"/>
              </a:rPr>
              <a:t>熱エネルギー領域まで減速したものが「熱中性子」と呼ばれる</a:t>
            </a:r>
          </a:p>
          <a:p>
            <a:pPr/>
            <a:r>
              <a:rPr sz="2000" i="0">
                <a:latin typeface="游ゴシック"/>
                <a:ea typeface="游ゴシック"/>
              </a:rPr>
              <a:t>本発表では、特に「熱中性子」と「MeV中性子」の2帯を測定対象とする</a:t>
            </a:r>
          </a:p>
          <a:p>
            <a:pPr/>
            <a:r>
              <a:rPr sz="2000" i="0">
                <a:latin typeface="游ゴシック"/>
                <a:ea typeface="游ゴシック"/>
              </a:rPr>
              <a:t>（→ 次スライドでエネルギー帯の呼び方を整理）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3368E-A0E5-578E-1B25-9B67274AA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0800000" flipH="1" flipV="1">
            <a:off x="11415310" y="5398801"/>
            <a:ext cx="580887" cy="2147266"/>
          </a:xfrm>
        </p:spPr>
        <p:txBody>
          <a:bodyPr/>
          <a:lstStyle/>
          <a:p>
            <a:fld id="{8E5A9341-D4CB-41D4-9AB9-BB65309E22FA}" type="slidenum">
              <a:rPr kumimoji="1" lang="ja-JP" altLang="en-US" smtClean="0"/>
              <a:t>1</a:t>
            </a:fld>
            <a:endParaRPr lang="ja-JP" altLang="en-US"/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9D18D7F0-BE3D-5519-7318-5DC007E4B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499" y="1986517"/>
            <a:ext cx="4211934" cy="3092287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6EE2602-39C2-BBB8-F966-9CB7F7BECB75}"/>
              </a:ext>
            </a:extLst>
          </p:cNvPr>
          <p:cNvSpPr txBox="1"/>
          <p:nvPr/>
        </p:nvSpPr>
        <p:spPr>
          <a:xfrm>
            <a:off x="8606972" y="5189967"/>
            <a:ext cx="3344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/>
              <a:t>2. </a:t>
            </a:r>
            <a:r>
              <a:rPr kumimoji="1" lang="ja-JP" altLang="en-US"/>
              <a:t>大気シャワー</a:t>
            </a:r>
            <a:endParaRPr kumimoji="1" lang="en-US" altLang="ja-JP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FF145434-2230-293C-C952-EE8A5F512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363" y="3882908"/>
            <a:ext cx="6315364" cy="287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32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C1E6406-7F1A-343F-AEE9-7484F14E2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761" y="2031135"/>
            <a:ext cx="5553456" cy="4122546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EDABB11B-8D81-8E30-1CB3-9388AA655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游ゴシック"/>
                <a:ea typeface="游ゴシック"/>
              </a:rPr>
              <a:t>背景：これまでの9班と昨年の結果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59FBA66-4469-C4F4-236C-E0804F5F8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566728"/>
            <a:ext cx="10039142" cy="5124843"/>
          </a:xfrm>
        </p:spPr>
        <p:txBody>
          <a:bodyPr vert="horz" lIns="91440" tIns="45720" rIns="91440" bIns="45720" rtlCol="0" anchor="t" wrap="square"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sz="2000" i="0">
                <a:latin typeface="游ゴシック"/>
                <a:ea typeface="游ゴシック"/>
              </a:rPr>
              <a:t>9班の系列：自然放射線・環境放射線の振る舞いを測り、理解する</a:t>
            </a:r>
            <a:endParaRPr lang="en-US" altLang="ja-JP">
              <a:ea typeface="游ゴシック"/>
            </a:endParaRPr>
          </a:p>
          <a:p>
            <a:pPr/>
            <a:r>
              <a:rPr sz="2000" i="0">
                <a:latin typeface="游ゴシック"/>
                <a:ea typeface="游ゴシック"/>
              </a:rPr>
              <a:t>2025年度：標高（空気厚）の違いによる宇宙線由来中性子フラックスを測定</a:t>
            </a:r>
          </a:p>
          <a:p>
            <a:pPr/>
            <a:r>
              <a:rPr sz="2000" i="0">
                <a:latin typeface="游ゴシック"/>
                <a:ea typeface="游ゴシック"/>
              </a:rPr>
              <a:t>結果：大気中でフラックスは概ね指数減衰</a:t>
            </a:r>
          </a:p>
          <a:p>
            <a:pPr/>
            <a:r>
              <a:rPr sz="2000" i="1">
                <a:latin typeface="游ゴシック"/>
                <a:ea typeface="游ゴシック"/>
              </a:rPr>
              <a:t>　熱中性子：Φ ∝ exp(−6.78×10⁻⁴ · x)　（x：空気厚 [m]）</a:t>
            </a:r>
          </a:p>
          <a:p>
            <a:pPr/>
            <a:r>
              <a:rPr sz="2000" i="1">
                <a:latin typeface="游ゴシック"/>
                <a:ea typeface="游ゴシック"/>
              </a:rPr>
              <a:t>　MeV中性子：Φ ∝ exp(−9.91×10⁻⁴ · x)</a:t>
            </a:r>
          </a:p>
          <a:p>
            <a:pPr/>
            <a:r>
              <a:rPr sz="2000" i="0">
                <a:latin typeface="游ゴシック"/>
                <a:ea typeface="游ゴシック"/>
              </a:rPr>
              <a:t>問い：地下でも、深度に対して同様に指数減衰するのか？</a:t>
            </a:r>
          </a:p>
        </p:txBody>
      </p:sp>
      <p:sp>
        <p:nvSpPr>
          <p:cNvPr id="6" name="矢印: 下 5">
            <a:extLst>
              <a:ext uri="{FF2B5EF4-FFF2-40B4-BE49-F238E27FC236}">
                <a16:creationId xmlns:a16="http://schemas.microsoft.com/office/drawing/2014/main" id="{51767114-0AE6-2100-0697-D40BB5825EB4}"/>
              </a:ext>
            </a:extLst>
          </p:cNvPr>
          <p:cNvSpPr/>
          <p:nvPr/>
        </p:nvSpPr>
        <p:spPr>
          <a:xfrm>
            <a:off x="2715768" y="4771193"/>
            <a:ext cx="594360" cy="804672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DA247B2-D6A3-DF07-9B70-C875D88BE715}"/>
              </a:ext>
            </a:extLst>
          </p:cNvPr>
          <p:cNvSpPr txBox="1"/>
          <p:nvPr/>
        </p:nvSpPr>
        <p:spPr>
          <a:xfrm>
            <a:off x="6899150" y="6403338"/>
            <a:ext cx="4829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/>
              <a:t>1. </a:t>
            </a:r>
            <a:r>
              <a:rPr kumimoji="1" lang="ja-JP" altLang="en-US"/>
              <a:t>各エネルギー帯での標高とフラックス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96B5763-81E8-400A-1E6F-58B5FF5E6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82456" y="6311755"/>
            <a:ext cx="2743200" cy="365125"/>
          </a:xfrm>
        </p:spPr>
        <p:txBody>
          <a:bodyPr/>
          <a:lstStyle/>
          <a:p>
            <a:fld id="{8E5A9341-D4CB-41D4-9AB9-BB65309E22FA}" type="slidenum">
              <a:rPr kumimoji="1" lang="ja-JP" altLang="en-US" smtClean="0"/>
              <a:t>2</a:t>
            </a:fld>
            <a:endParaRPr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1A91483-7179-B3BA-FBFD-AFAD2B2EBCE6}"/>
              </a:ext>
            </a:extLst>
          </p:cNvPr>
          <p:cNvSpPr txBox="1"/>
          <p:nvPr/>
        </p:nvSpPr>
        <p:spPr>
          <a:xfrm>
            <a:off x="8631941" y="2117830"/>
            <a:ext cx="3279650" cy="1213874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>
            <a:spAutoFit/>
          </a:bodyPr>
          <a:lstStyle/>
          <a:p>
            <a:r>
              <a:rPr kumimoji="1" lang="ja-JP" altLang="en-US"/>
              <a:t>　　熱中性子</a:t>
            </a:r>
            <a:endParaRPr kumimoji="1" lang="en-US" altLang="ja-JP"/>
          </a:p>
          <a:p>
            <a:r>
              <a:rPr kumimoji="1" lang="ja-JP" altLang="en-US">
                <a:ea typeface="游ゴシック"/>
              </a:rPr>
              <a:t>　　</a:t>
            </a:r>
            <a:r>
              <a:rPr kumimoji="1" lang="en-US" altLang="ja-JP">
                <a:ea typeface="游ゴシック"/>
              </a:rPr>
              <a:t>MeV</a:t>
            </a:r>
            <a:r>
              <a:rPr kumimoji="1" lang="ja-JP" altLang="en-US">
                <a:ea typeface="游ゴシック"/>
              </a:rPr>
              <a:t>中性子</a:t>
            </a:r>
            <a:endParaRPr kumimoji="1" lang="en-US" altLang="ja-JP">
              <a:ea typeface="游ゴシック"/>
            </a:endParaRPr>
          </a:p>
          <a:p>
            <a:r>
              <a:rPr kumimoji="1" lang="ja-JP" altLang="en-US">
                <a:ea typeface="游ゴシック"/>
              </a:rPr>
              <a:t>　　</a:t>
            </a:r>
            <a:r>
              <a:rPr kumimoji="1" lang="en-US" altLang="ja-JP" sz="1600">
                <a:ea typeface="游ゴシック"/>
              </a:rPr>
              <a:t>7.08e-03exp(-6.78e-04x</a:t>
            </a:r>
            <a:r>
              <a:rPr lang="en-US" altLang="ja-JP" sz="1600">
                <a:ea typeface="游ゴシック"/>
              </a:rPr>
              <a:t>)</a:t>
            </a:r>
          </a:p>
          <a:p>
            <a:r>
              <a:rPr kumimoji="1" lang="ja-JP" altLang="en-US">
                <a:ea typeface="游ゴシック"/>
              </a:rPr>
              <a:t>　　</a:t>
            </a:r>
            <a:r>
              <a:rPr kumimoji="1" lang="en-US" altLang="ja-JP" sz="1600">
                <a:ea typeface="游ゴシック"/>
              </a:rPr>
              <a:t>5.60e-03exp(-9.91e-04x)</a:t>
            </a:r>
            <a:endParaRPr kumimoji="1" lang="ja-JP" altLang="en-US" sz="1600">
              <a:ea typeface="游ゴシック"/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DC5D79C4-7C67-836B-75FF-9D06DB97F7C6}"/>
              </a:ext>
            </a:extLst>
          </p:cNvPr>
          <p:cNvSpPr/>
          <p:nvPr/>
        </p:nvSpPr>
        <p:spPr>
          <a:xfrm>
            <a:off x="8909304" y="2179590"/>
            <a:ext cx="146304" cy="16459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2EB08DD3-C9C0-CCC7-E5D6-303E70C138FB}"/>
              </a:ext>
            </a:extLst>
          </p:cNvPr>
          <p:cNvSpPr/>
          <p:nvPr/>
        </p:nvSpPr>
        <p:spPr>
          <a:xfrm>
            <a:off x="8909304" y="2502256"/>
            <a:ext cx="146304" cy="164592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019844F6-97B4-4E0E-10F1-EF160A0745F0}"/>
              </a:ext>
            </a:extLst>
          </p:cNvPr>
          <p:cNvCxnSpPr/>
          <p:nvPr/>
        </p:nvCxnSpPr>
        <p:spPr>
          <a:xfrm>
            <a:off x="8753861" y="2889504"/>
            <a:ext cx="371855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67F9CAC9-3896-03C8-7BCC-1EE11E60A033}"/>
              </a:ext>
            </a:extLst>
          </p:cNvPr>
          <p:cNvCxnSpPr/>
          <p:nvPr/>
        </p:nvCxnSpPr>
        <p:spPr>
          <a:xfrm>
            <a:off x="8763005" y="3127248"/>
            <a:ext cx="371855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DE828A0-016D-C9A0-D761-DF6AD9AF9B1C}"/>
              </a:ext>
            </a:extLst>
          </p:cNvPr>
          <p:cNvSpPr txBox="1"/>
          <p:nvPr/>
        </p:nvSpPr>
        <p:spPr>
          <a:xfrm rot="16200000">
            <a:off x="4766463" y="3541767"/>
            <a:ext cx="33905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/>
              <a:t>中性子フラックス</a:t>
            </a:r>
            <a:r>
              <a:rPr lang="en-US" altLang="ja-JP"/>
              <a:t>(/cm²/s)</a:t>
            </a:r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A842916-7D28-2EE3-6B4C-83CBE60A5A70}"/>
              </a:ext>
            </a:extLst>
          </p:cNvPr>
          <p:cNvSpPr txBox="1"/>
          <p:nvPr/>
        </p:nvSpPr>
        <p:spPr>
          <a:xfrm>
            <a:off x="8834243" y="5972097"/>
            <a:ext cx="1511609" cy="3840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15C04FC-A850-6B58-97CB-3CA72CD43FD1}"/>
              </a:ext>
            </a:extLst>
          </p:cNvPr>
          <p:cNvSpPr/>
          <p:nvPr/>
        </p:nvSpPr>
        <p:spPr>
          <a:xfrm>
            <a:off x="8829674" y="5943600"/>
            <a:ext cx="1019175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55EC58B-06A5-85FE-9F21-1262C00862EF}"/>
              </a:ext>
            </a:extLst>
          </p:cNvPr>
          <p:cNvSpPr txBox="1"/>
          <p:nvPr/>
        </p:nvSpPr>
        <p:spPr>
          <a:xfrm>
            <a:off x="9159263" y="6015952"/>
            <a:ext cx="2743199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ea typeface="游ゴシック"/>
              </a:rPr>
              <a:t>空気厚(m)</a:t>
            </a:r>
            <a:endParaRPr lang="ja-JP" altLang="en-US">
              <a:ea typeface="游ゴシック" panose="020B0400000000000000" pitchFamily="34" charset="-128"/>
            </a:endParaRPr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5494B1F6-DE04-5156-1D22-5B0FCACBA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994" y="3992274"/>
            <a:ext cx="1568740" cy="61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407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E26E48-09AC-5FAA-EB7B-AA7E02080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游ゴシック"/>
                <a:ea typeface="游ゴシック"/>
              </a:rPr>
              <a:t>実験の目的とフラックス Φ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069EEEA-0488-0BF9-C2D4-DA258D74F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wrap="square">
            <a:normAutofit/>
          </a:bodyPr>
          <a:lstStyle/>
          <a:p>
            <a:pPr marL="0" indent="0">
              <a:buNone/>
            </a:pPr>
            <a:r>
              <a:rPr sz="2200" i="0">
                <a:latin typeface="游ゴシック"/>
                <a:ea typeface="游ゴシック"/>
              </a:rPr>
              <a:t>目的：地上からの深度に対する中性子フラックスの変化を調べる</a:t>
            </a:r>
            <a:endParaRPr lang="en-US" altLang="ja-JP" sz="7200">
              <a:solidFill>
                <a:srgbClr val="000000"/>
              </a:solidFill>
              <a:latin typeface="Arial"/>
              <a:ea typeface="游ゴシック"/>
              <a:cs typeface="Arial"/>
            </a:endParaRPr>
          </a:p>
          <a:p>
            <a:pPr/>
            <a:r>
              <a:rPr sz="2200" i="0">
                <a:latin typeface="游ゴシック"/>
                <a:ea typeface="游ゴシック"/>
              </a:rPr>
              <a:t/>
            </a:r>
          </a:p>
          <a:p>
            <a:pPr/>
            <a:r>
              <a:rPr sz="2200" i="1">
                <a:latin typeface="游ゴシック"/>
                <a:ea typeface="游ゴシック"/>
              </a:rPr>
              <a:t>フラックス Φ = R / (ε · S)　[/cm²/s]</a:t>
            </a:r>
          </a:p>
          <a:p>
            <a:pPr/>
            <a:r>
              <a:rPr sz="2200" i="1">
                <a:latin typeface="游ゴシック"/>
                <a:ea typeface="游ゴシック"/>
              </a:rPr>
              <a:t>　Φ：1秒あたり 1 cm² を通過する中性子数</a:t>
            </a:r>
          </a:p>
          <a:p>
            <a:pPr/>
            <a:r>
              <a:rPr sz="2200" i="1">
                <a:latin typeface="游ゴシック"/>
                <a:ea typeface="游ゴシック"/>
              </a:rPr>
              <a:t>　R：計数率（単位時間あたりの検出数）[/s]</a:t>
            </a:r>
          </a:p>
          <a:p>
            <a:pPr/>
            <a:r>
              <a:rPr sz="2200" i="1">
                <a:latin typeface="游ゴシック"/>
                <a:ea typeface="游ゴシック"/>
              </a:rPr>
              <a:t>　ε：検出効率（入射したうち検出できた割合）</a:t>
            </a:r>
          </a:p>
          <a:p>
            <a:pPr/>
            <a:r>
              <a:rPr sz="2200" i="1">
                <a:latin typeface="游ゴシック"/>
                <a:ea typeface="游ゴシック"/>
              </a:rPr>
              <a:t>　S：検出面積 [cm²]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8D1063D-755F-221E-3FAA-359D8F8E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18644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866903-D7E1-5313-2414-28FE1AB28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游ゴシック"/>
                <a:ea typeface="游ゴシック"/>
              </a:rPr>
              <a:t>中性子のエネルギー帯と今回の観測対象</a:t>
            </a:r>
            <a:endParaRPr kumimoji="1" lang="ja-JP" altLang="en-US" b="1" u="sng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AF043E-7AC1-A329-E5A5-6DFE0E3B6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417"/>
            <a:ext cx="10866120" cy="4962458"/>
          </a:xfrm>
        </p:spPr>
        <p:txBody>
          <a:bodyPr wrap="square">
            <a:normAutofit/>
          </a:bodyPr>
          <a:lstStyle/>
          <a:p>
            <a:pPr marL="0" indent="0" algn="ctr">
              <a:buNone/>
            </a:pPr>
            <a:r>
              <a:rPr sz="2000" i="0">
                <a:latin typeface="游ゴシック"/>
                <a:ea typeface="游ゴシック"/>
              </a:rPr>
              <a:t>中性子は運動エネルギーによって呼び方が変わる</a:t>
            </a:r>
          </a:p>
          <a:p>
            <a:pPr/>
            <a:r>
              <a:rPr sz="2000" i="0">
                <a:latin typeface="游ゴシック"/>
                <a:ea typeface="游ゴシック"/>
              </a:rPr>
              <a:t>本実験の観測対象は次の2帯：</a:t>
            </a:r>
          </a:p>
          <a:p>
            <a:pPr/>
            <a:r>
              <a:rPr sz="2000" i="0">
                <a:latin typeface="游ゴシック"/>
                <a:ea typeface="游ゴシック"/>
              </a:rPr>
              <a:t>　・熱中性子：〜0.025 eV（熱エネルギー領域）</a:t>
            </a:r>
          </a:p>
          <a:p>
            <a:pPr/>
            <a:r>
              <a:rPr sz="2000" i="0">
                <a:latin typeface="游ゴシック"/>
                <a:ea typeface="游ゴシック"/>
              </a:rPr>
              <a:t>　・MeV中性子：〜1 MeV 前後（減速材付き検出で感度を持つ帯）</a:t>
            </a:r>
          </a:p>
          <a:p>
            <a:pPr/>
            <a:r>
              <a:rPr sz="2000" i="0">
                <a:latin typeface="游ゴシック"/>
                <a:ea typeface="游ゴシック"/>
              </a:rPr>
              <a:t>高エネルギー（GeV）帯は³He検出器では直接測れない</a:t>
            </a:r>
          </a:p>
          <a:p>
            <a:pPr/>
            <a:r>
              <a:rPr sz="2000" i="0">
                <a:latin typeface="游ゴシック"/>
                <a:ea typeface="游ゴシック"/>
              </a:rPr>
              <a:t>→ 以後、スライド中の「熱」「MeV」はこの意味で用いる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3F13F11-60D8-04FB-DE00-3C46988ED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4</a:t>
            </a:fld>
            <a:endParaRPr lang="ja-JP" altLang="en-US"/>
          </a:p>
        </p:txBody>
      </p:sp>
      <p:pic>
        <p:nvPicPr>
          <p:cNvPr id="5" name="Picture 4" descr="中性子エネルギー帯_観測対象強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60520"/>
            <a:ext cx="3566160" cy="237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979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224680-12A8-FCA4-FC45-A31702883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游ゴシック"/>
                <a:ea typeface="游ゴシック"/>
              </a:rPr>
              <a:t>中性子検出の原理：³He(n,p)³H</a:t>
            </a:r>
            <a:endParaRPr kumimoji="1" lang="ja-JP" altLang="en-US" b="1" u="sng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8B75E7E-FCF9-30B9-FF4D-33A219FE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5</a:t>
            </a:fld>
            <a:endParaRPr kumimoji="1" lang="ja-JP" altLang="en-US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41A61D4A-4D8D-96CD-6A21-41CFCD415E3C}"/>
              </a:ext>
            </a:extLst>
          </p:cNvPr>
          <p:cNvGrpSpPr/>
          <p:nvPr/>
        </p:nvGrpSpPr>
        <p:grpSpPr>
          <a:xfrm>
            <a:off x="853722" y="2650459"/>
            <a:ext cx="4295672" cy="3404443"/>
            <a:chOff x="6905320" y="2006965"/>
            <a:chExt cx="4569542" cy="3253481"/>
          </a:xfrm>
        </p:grpSpPr>
        <p:sp>
          <p:nvSpPr>
            <p:cNvPr id="6" name="円柱 5">
              <a:extLst>
                <a:ext uri="{FF2B5EF4-FFF2-40B4-BE49-F238E27FC236}">
                  <a16:creationId xmlns:a16="http://schemas.microsoft.com/office/drawing/2014/main" id="{77B09C35-9B27-3A29-BA1D-9DFE324081DA}"/>
                </a:ext>
              </a:extLst>
            </p:cNvPr>
            <p:cNvSpPr/>
            <p:nvPr/>
          </p:nvSpPr>
          <p:spPr>
            <a:xfrm rot="16200000">
              <a:off x="7887316" y="1672901"/>
              <a:ext cx="2605549" cy="4569542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44C01E42-F242-DC91-12F7-E7765DFDDC7D}"/>
                </a:ext>
              </a:extLst>
            </p:cNvPr>
            <p:cNvGrpSpPr/>
            <p:nvPr/>
          </p:nvGrpSpPr>
          <p:grpSpPr>
            <a:xfrm>
              <a:off x="8740877" y="3392360"/>
              <a:ext cx="583796" cy="606476"/>
              <a:chOff x="8740877" y="3392360"/>
              <a:chExt cx="583796" cy="606476"/>
            </a:xfrm>
          </p:grpSpPr>
          <p:sp>
            <p:nvSpPr>
              <p:cNvPr id="23" name="楕円 22">
                <a:extLst>
                  <a:ext uri="{FF2B5EF4-FFF2-40B4-BE49-F238E27FC236}">
                    <a16:creationId xmlns:a16="http://schemas.microsoft.com/office/drawing/2014/main" id="{3E9FD10D-D9BC-3748-E354-689E22B8C2D6}"/>
                  </a:ext>
                </a:extLst>
              </p:cNvPr>
              <p:cNvSpPr/>
              <p:nvPr/>
            </p:nvSpPr>
            <p:spPr>
              <a:xfrm>
                <a:off x="8740877" y="3569110"/>
                <a:ext cx="314633" cy="312174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4" name="楕円 23">
                <a:extLst>
                  <a:ext uri="{FF2B5EF4-FFF2-40B4-BE49-F238E27FC236}">
                    <a16:creationId xmlns:a16="http://schemas.microsoft.com/office/drawing/2014/main" id="{F108C104-15CA-8D22-17AB-35B22B5EDFCF}"/>
                  </a:ext>
                </a:extLst>
              </p:cNvPr>
              <p:cNvSpPr/>
              <p:nvPr/>
            </p:nvSpPr>
            <p:spPr>
              <a:xfrm>
                <a:off x="9010040" y="3686662"/>
                <a:ext cx="314633" cy="31217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5" name="楕円 24">
                <a:extLst>
                  <a:ext uri="{FF2B5EF4-FFF2-40B4-BE49-F238E27FC236}">
                    <a16:creationId xmlns:a16="http://schemas.microsoft.com/office/drawing/2014/main" id="{26E23F1A-8424-EC90-DB19-9A0A4B62B631}"/>
                  </a:ext>
                </a:extLst>
              </p:cNvPr>
              <p:cNvSpPr/>
              <p:nvPr/>
            </p:nvSpPr>
            <p:spPr>
              <a:xfrm>
                <a:off x="9010039" y="3392360"/>
                <a:ext cx="314633" cy="312174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633AC6EA-A8E8-3E33-1D87-C556FD2F8398}"/>
                </a:ext>
              </a:extLst>
            </p:cNvPr>
            <p:cNvGrpSpPr/>
            <p:nvPr/>
          </p:nvGrpSpPr>
          <p:grpSpPr>
            <a:xfrm>
              <a:off x="10047338" y="3080186"/>
              <a:ext cx="583796" cy="606476"/>
              <a:chOff x="8740877" y="3392360"/>
              <a:chExt cx="583796" cy="606476"/>
            </a:xfrm>
          </p:grpSpPr>
          <p:sp>
            <p:nvSpPr>
              <p:cNvPr id="20" name="楕円 19">
                <a:extLst>
                  <a:ext uri="{FF2B5EF4-FFF2-40B4-BE49-F238E27FC236}">
                    <a16:creationId xmlns:a16="http://schemas.microsoft.com/office/drawing/2014/main" id="{0592326E-32DF-386E-0C5B-D0F5C4EB4D58}"/>
                  </a:ext>
                </a:extLst>
              </p:cNvPr>
              <p:cNvSpPr/>
              <p:nvPr/>
            </p:nvSpPr>
            <p:spPr>
              <a:xfrm>
                <a:off x="8740877" y="3569110"/>
                <a:ext cx="314633" cy="312174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1" name="楕円 20">
                <a:extLst>
                  <a:ext uri="{FF2B5EF4-FFF2-40B4-BE49-F238E27FC236}">
                    <a16:creationId xmlns:a16="http://schemas.microsoft.com/office/drawing/2014/main" id="{A0A3889E-A697-7AFE-3707-0D86533DF706}"/>
                  </a:ext>
                </a:extLst>
              </p:cNvPr>
              <p:cNvSpPr/>
              <p:nvPr/>
            </p:nvSpPr>
            <p:spPr>
              <a:xfrm>
                <a:off x="9010040" y="3686662"/>
                <a:ext cx="314633" cy="31217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2" name="楕円 21">
                <a:extLst>
                  <a:ext uri="{FF2B5EF4-FFF2-40B4-BE49-F238E27FC236}">
                    <a16:creationId xmlns:a16="http://schemas.microsoft.com/office/drawing/2014/main" id="{F0C8EFE3-5154-5217-60A6-F43B26E757E9}"/>
                  </a:ext>
                </a:extLst>
              </p:cNvPr>
              <p:cNvSpPr/>
              <p:nvPr/>
            </p:nvSpPr>
            <p:spPr>
              <a:xfrm>
                <a:off x="9010039" y="3392360"/>
                <a:ext cx="314633" cy="312174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304FA54E-6E9C-80B6-1C25-53E538CD83F3}"/>
                </a:ext>
              </a:extLst>
            </p:cNvPr>
            <p:cNvGrpSpPr/>
            <p:nvPr/>
          </p:nvGrpSpPr>
          <p:grpSpPr>
            <a:xfrm>
              <a:off x="8763612" y="4305531"/>
              <a:ext cx="583796" cy="606476"/>
              <a:chOff x="8740877" y="3392360"/>
              <a:chExt cx="583796" cy="606476"/>
            </a:xfrm>
          </p:grpSpPr>
          <p:sp>
            <p:nvSpPr>
              <p:cNvPr id="17" name="楕円 16">
                <a:extLst>
                  <a:ext uri="{FF2B5EF4-FFF2-40B4-BE49-F238E27FC236}">
                    <a16:creationId xmlns:a16="http://schemas.microsoft.com/office/drawing/2014/main" id="{78B5B59D-61FD-32B2-7F8D-4A0DDEA58A78}"/>
                  </a:ext>
                </a:extLst>
              </p:cNvPr>
              <p:cNvSpPr/>
              <p:nvPr/>
            </p:nvSpPr>
            <p:spPr>
              <a:xfrm>
                <a:off x="8740877" y="3569110"/>
                <a:ext cx="314633" cy="312174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8" name="楕円 17">
                <a:extLst>
                  <a:ext uri="{FF2B5EF4-FFF2-40B4-BE49-F238E27FC236}">
                    <a16:creationId xmlns:a16="http://schemas.microsoft.com/office/drawing/2014/main" id="{8369CFFB-B187-5BF5-4699-B555642C580D}"/>
                  </a:ext>
                </a:extLst>
              </p:cNvPr>
              <p:cNvSpPr/>
              <p:nvPr/>
            </p:nvSpPr>
            <p:spPr>
              <a:xfrm>
                <a:off x="9010040" y="3686662"/>
                <a:ext cx="314633" cy="31217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9" name="楕円 18">
                <a:extLst>
                  <a:ext uri="{FF2B5EF4-FFF2-40B4-BE49-F238E27FC236}">
                    <a16:creationId xmlns:a16="http://schemas.microsoft.com/office/drawing/2014/main" id="{C016494A-D7E2-0628-FFA9-FA4F0BBD4339}"/>
                  </a:ext>
                </a:extLst>
              </p:cNvPr>
              <p:cNvSpPr/>
              <p:nvPr/>
            </p:nvSpPr>
            <p:spPr>
              <a:xfrm>
                <a:off x="9010039" y="3392360"/>
                <a:ext cx="314633" cy="312174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854E9DBF-63BB-9AE8-4B27-F8C53A38B880}"/>
                </a:ext>
              </a:extLst>
            </p:cNvPr>
            <p:cNvSpPr txBox="1"/>
            <p:nvPr/>
          </p:nvSpPr>
          <p:spPr>
            <a:xfrm>
              <a:off x="9616569" y="4019660"/>
              <a:ext cx="144472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ja-JP" altLang="en-US"/>
                <a:t>ヘリウム３</a:t>
              </a: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C85D5762-C0C8-76BE-1A39-C53BDBD8C7FC}"/>
                </a:ext>
              </a:extLst>
            </p:cNvPr>
            <p:cNvSpPr txBox="1"/>
            <p:nvPr/>
          </p:nvSpPr>
          <p:spPr>
            <a:xfrm>
              <a:off x="9055510" y="3393154"/>
              <a:ext cx="457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>
                  <a:solidFill>
                    <a:schemeClr val="bg1"/>
                  </a:solidFill>
                </a:rPr>
                <a:t>Ｐ</a:t>
              </a: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396BFE8A-6ABE-0372-7943-C306003297E1}"/>
                </a:ext>
              </a:extLst>
            </p:cNvPr>
            <p:cNvSpPr txBox="1"/>
            <p:nvPr/>
          </p:nvSpPr>
          <p:spPr>
            <a:xfrm>
              <a:off x="8793729" y="3588340"/>
              <a:ext cx="457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>
                  <a:solidFill>
                    <a:schemeClr val="bg1"/>
                  </a:solidFill>
                </a:rPr>
                <a:t>Ｐ</a:t>
              </a: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7DC4851A-7354-2EF9-AD7B-5E2678F86692}"/>
                </a:ext>
              </a:extLst>
            </p:cNvPr>
            <p:cNvSpPr txBox="1"/>
            <p:nvPr/>
          </p:nvSpPr>
          <p:spPr>
            <a:xfrm>
              <a:off x="9059323" y="3663158"/>
              <a:ext cx="457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/>
                <a:t>ｎ</a:t>
              </a:r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AA56B273-0492-76E2-2EED-71BC8EE49BC8}"/>
                </a:ext>
              </a:extLst>
            </p:cNvPr>
            <p:cNvSpPr/>
            <p:nvPr/>
          </p:nvSpPr>
          <p:spPr>
            <a:xfrm>
              <a:off x="7560272" y="2064637"/>
              <a:ext cx="324464" cy="32446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ja-JP" altLang="en-US"/>
            </a:p>
          </p:txBody>
        </p: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FF2A165E-E156-CEE0-ED8E-898DDB165DF1}"/>
                </a:ext>
              </a:extLst>
            </p:cNvPr>
            <p:cNvCxnSpPr>
              <a:cxnSpLocks/>
              <a:stCxn id="14" idx="5"/>
            </p:cNvCxnSpPr>
            <p:nvPr/>
          </p:nvCxnSpPr>
          <p:spPr>
            <a:xfrm>
              <a:off x="7837219" y="2341585"/>
              <a:ext cx="1033536" cy="106110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4DD697D0-5376-38CD-354D-C6C7F969F604}"/>
                </a:ext>
              </a:extLst>
            </p:cNvPr>
            <p:cNvSpPr txBox="1"/>
            <p:nvPr/>
          </p:nvSpPr>
          <p:spPr>
            <a:xfrm>
              <a:off x="7560271" y="2006965"/>
              <a:ext cx="601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/>
                <a:t>n</a:t>
              </a:r>
              <a:endParaRPr kumimoji="1" lang="ja-JP" altLang="en-US"/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91C1B0AE-2447-388E-FAF5-67C778A1BD4F}"/>
              </a:ext>
            </a:extLst>
          </p:cNvPr>
          <p:cNvGrpSpPr/>
          <p:nvPr/>
        </p:nvGrpSpPr>
        <p:grpSpPr>
          <a:xfrm>
            <a:off x="7154672" y="3141042"/>
            <a:ext cx="5089337" cy="2860764"/>
            <a:chOff x="7205932" y="2406514"/>
            <a:chExt cx="5089337" cy="2860764"/>
          </a:xfrm>
        </p:grpSpPr>
        <p:sp>
          <p:nvSpPr>
            <p:cNvPr id="27" name="円柱 26">
              <a:extLst>
                <a:ext uri="{FF2B5EF4-FFF2-40B4-BE49-F238E27FC236}">
                  <a16:creationId xmlns:a16="http://schemas.microsoft.com/office/drawing/2014/main" id="{DB9E805D-77C1-B492-E2E2-30C24C39542F}"/>
                </a:ext>
              </a:extLst>
            </p:cNvPr>
            <p:cNvSpPr/>
            <p:nvPr/>
          </p:nvSpPr>
          <p:spPr>
            <a:xfrm rot="16200000">
              <a:off x="8339845" y="1642522"/>
              <a:ext cx="2605549" cy="4569542"/>
            </a:xfrm>
            <a:prstGeom prst="can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2511FEA1-7755-85B4-526B-8D084B2A579F}"/>
                </a:ext>
              </a:extLst>
            </p:cNvPr>
            <p:cNvGrpSpPr/>
            <p:nvPr/>
          </p:nvGrpSpPr>
          <p:grpSpPr>
            <a:xfrm>
              <a:off x="11121138" y="4415115"/>
              <a:ext cx="590633" cy="635580"/>
              <a:chOff x="8740877" y="3392360"/>
              <a:chExt cx="590633" cy="635580"/>
            </a:xfrm>
          </p:grpSpPr>
          <p:sp>
            <p:nvSpPr>
              <p:cNvPr id="62" name="楕円 61">
                <a:extLst>
                  <a:ext uri="{FF2B5EF4-FFF2-40B4-BE49-F238E27FC236}">
                    <a16:creationId xmlns:a16="http://schemas.microsoft.com/office/drawing/2014/main" id="{1754C201-1D59-31BD-5B93-3DAA1DB3723B}"/>
                  </a:ext>
                </a:extLst>
              </p:cNvPr>
              <p:cNvSpPr/>
              <p:nvPr/>
            </p:nvSpPr>
            <p:spPr>
              <a:xfrm>
                <a:off x="8740877" y="3569110"/>
                <a:ext cx="314633" cy="312174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3" name="楕円 62">
                <a:extLst>
                  <a:ext uri="{FF2B5EF4-FFF2-40B4-BE49-F238E27FC236}">
                    <a16:creationId xmlns:a16="http://schemas.microsoft.com/office/drawing/2014/main" id="{70ABD807-6B13-9E63-D038-7B65815F6F8E}"/>
                  </a:ext>
                </a:extLst>
              </p:cNvPr>
              <p:cNvSpPr/>
              <p:nvPr/>
            </p:nvSpPr>
            <p:spPr>
              <a:xfrm>
                <a:off x="9016877" y="3715766"/>
                <a:ext cx="314633" cy="31217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4" name="楕円 63">
                <a:extLst>
                  <a:ext uri="{FF2B5EF4-FFF2-40B4-BE49-F238E27FC236}">
                    <a16:creationId xmlns:a16="http://schemas.microsoft.com/office/drawing/2014/main" id="{B8C7C39F-2F4F-C571-17FC-CC7166B21696}"/>
                  </a:ext>
                </a:extLst>
              </p:cNvPr>
              <p:cNvSpPr/>
              <p:nvPr/>
            </p:nvSpPr>
            <p:spPr>
              <a:xfrm>
                <a:off x="9010039" y="3392360"/>
                <a:ext cx="314633" cy="312174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29" name="グループ化 28">
              <a:extLst>
                <a:ext uri="{FF2B5EF4-FFF2-40B4-BE49-F238E27FC236}">
                  <a16:creationId xmlns:a16="http://schemas.microsoft.com/office/drawing/2014/main" id="{9E908BDE-2563-E00F-B3BD-91DF92C9D79D}"/>
                </a:ext>
              </a:extLst>
            </p:cNvPr>
            <p:cNvGrpSpPr/>
            <p:nvPr/>
          </p:nvGrpSpPr>
          <p:grpSpPr>
            <a:xfrm>
              <a:off x="8322268" y="4142982"/>
              <a:ext cx="583796" cy="606476"/>
              <a:chOff x="8333693" y="4143197"/>
              <a:chExt cx="583796" cy="606476"/>
            </a:xfrm>
          </p:grpSpPr>
          <p:grpSp>
            <p:nvGrpSpPr>
              <p:cNvPr id="57" name="グループ化 56">
                <a:extLst>
                  <a:ext uri="{FF2B5EF4-FFF2-40B4-BE49-F238E27FC236}">
                    <a16:creationId xmlns:a16="http://schemas.microsoft.com/office/drawing/2014/main" id="{83A9B1E5-6499-0431-3634-55875466E081}"/>
                  </a:ext>
                </a:extLst>
              </p:cNvPr>
              <p:cNvGrpSpPr/>
              <p:nvPr/>
            </p:nvGrpSpPr>
            <p:grpSpPr>
              <a:xfrm>
                <a:off x="8333693" y="4143197"/>
                <a:ext cx="583796" cy="606476"/>
                <a:chOff x="8740877" y="3392360"/>
                <a:chExt cx="583796" cy="606476"/>
              </a:xfrm>
            </p:grpSpPr>
            <p:sp>
              <p:nvSpPr>
                <p:cNvPr id="59" name="楕円 58">
                  <a:extLst>
                    <a:ext uri="{FF2B5EF4-FFF2-40B4-BE49-F238E27FC236}">
                      <a16:creationId xmlns:a16="http://schemas.microsoft.com/office/drawing/2014/main" id="{F8D8189F-962E-14DA-A6D6-6055B9B1DADA}"/>
                    </a:ext>
                  </a:extLst>
                </p:cNvPr>
                <p:cNvSpPr/>
                <p:nvPr/>
              </p:nvSpPr>
              <p:spPr>
                <a:xfrm>
                  <a:off x="8740877" y="3569110"/>
                  <a:ext cx="314633" cy="31217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60" name="楕円 59">
                  <a:extLst>
                    <a:ext uri="{FF2B5EF4-FFF2-40B4-BE49-F238E27FC236}">
                      <a16:creationId xmlns:a16="http://schemas.microsoft.com/office/drawing/2014/main" id="{8D656BE8-33B4-296F-F1FD-3665F32AECB5}"/>
                    </a:ext>
                  </a:extLst>
                </p:cNvPr>
                <p:cNvSpPr/>
                <p:nvPr/>
              </p:nvSpPr>
              <p:spPr>
                <a:xfrm>
                  <a:off x="9010040" y="3686662"/>
                  <a:ext cx="314633" cy="312174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61" name="楕円 60">
                  <a:extLst>
                    <a:ext uri="{FF2B5EF4-FFF2-40B4-BE49-F238E27FC236}">
                      <a16:creationId xmlns:a16="http://schemas.microsoft.com/office/drawing/2014/main" id="{3137A1DE-D1FC-41E3-9E9E-9B5931318218}"/>
                    </a:ext>
                  </a:extLst>
                </p:cNvPr>
                <p:cNvSpPr/>
                <p:nvPr/>
              </p:nvSpPr>
              <p:spPr>
                <a:xfrm>
                  <a:off x="9010039" y="3392360"/>
                  <a:ext cx="314633" cy="312174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58" name="テキスト ボックス 57">
                <a:extLst>
                  <a:ext uri="{FF2B5EF4-FFF2-40B4-BE49-F238E27FC236}">
                    <a16:creationId xmlns:a16="http://schemas.microsoft.com/office/drawing/2014/main" id="{D11468E6-13FE-E119-4243-667ECD3E9B94}"/>
                  </a:ext>
                </a:extLst>
              </p:cNvPr>
              <p:cNvSpPr txBox="1"/>
              <p:nvPr/>
            </p:nvSpPr>
            <p:spPr>
              <a:xfrm>
                <a:off x="8381221" y="4273824"/>
                <a:ext cx="45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/>
                  <a:t>ｎ</a:t>
                </a:r>
              </a:p>
            </p:txBody>
          </p:sp>
        </p:grp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3D287479-4610-7E96-68C6-91CFEC3B5890}"/>
                </a:ext>
              </a:extLst>
            </p:cNvPr>
            <p:cNvSpPr txBox="1"/>
            <p:nvPr/>
          </p:nvSpPr>
          <p:spPr>
            <a:xfrm>
              <a:off x="8622719" y="4407809"/>
              <a:ext cx="601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/>
                <a:t>n</a:t>
              </a:r>
              <a:endParaRPr kumimoji="1" lang="ja-JP" altLang="en-US"/>
            </a:p>
          </p:txBody>
        </p:sp>
        <p:grpSp>
          <p:nvGrpSpPr>
            <p:cNvPr id="31" name="グループ化 30">
              <a:extLst>
                <a:ext uri="{FF2B5EF4-FFF2-40B4-BE49-F238E27FC236}">
                  <a16:creationId xmlns:a16="http://schemas.microsoft.com/office/drawing/2014/main" id="{EB29B24C-9CC2-3E42-51DC-D2C825E3AAD0}"/>
                </a:ext>
              </a:extLst>
            </p:cNvPr>
            <p:cNvGrpSpPr/>
            <p:nvPr/>
          </p:nvGrpSpPr>
          <p:grpSpPr>
            <a:xfrm>
              <a:off x="10842195" y="2901357"/>
              <a:ext cx="324464" cy="370770"/>
              <a:chOff x="10842195" y="2901357"/>
              <a:chExt cx="324464" cy="370770"/>
            </a:xfrm>
          </p:grpSpPr>
          <p:sp>
            <p:nvSpPr>
              <p:cNvPr id="55" name="楕円 54">
                <a:extLst>
                  <a:ext uri="{FF2B5EF4-FFF2-40B4-BE49-F238E27FC236}">
                    <a16:creationId xmlns:a16="http://schemas.microsoft.com/office/drawing/2014/main" id="{FDD6443E-3F1B-EFB6-6B78-E0B99DF78E01}"/>
                  </a:ext>
                </a:extLst>
              </p:cNvPr>
              <p:cNvSpPr/>
              <p:nvPr/>
            </p:nvSpPr>
            <p:spPr>
              <a:xfrm>
                <a:off x="10842195" y="2901357"/>
                <a:ext cx="324464" cy="324465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56" name="テキスト ボックス 55">
                <a:extLst>
                  <a:ext uri="{FF2B5EF4-FFF2-40B4-BE49-F238E27FC236}">
                    <a16:creationId xmlns:a16="http://schemas.microsoft.com/office/drawing/2014/main" id="{5B518371-4BD5-7230-0588-BA13AE749CBD}"/>
                  </a:ext>
                </a:extLst>
              </p:cNvPr>
              <p:cNvSpPr txBox="1"/>
              <p:nvPr/>
            </p:nvSpPr>
            <p:spPr>
              <a:xfrm>
                <a:off x="10875535" y="2902795"/>
                <a:ext cx="45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>
                    <a:solidFill>
                      <a:schemeClr val="bg1"/>
                    </a:solidFill>
                  </a:rPr>
                  <a:t>Ｐ</a:t>
                </a:r>
              </a:p>
            </p:txBody>
          </p:sp>
        </p:grp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991A2FFE-2F9C-83B7-3FDA-E56F536DB59A}"/>
                </a:ext>
              </a:extLst>
            </p:cNvPr>
            <p:cNvSpPr txBox="1"/>
            <p:nvPr/>
          </p:nvSpPr>
          <p:spPr>
            <a:xfrm>
              <a:off x="8172965" y="4897946"/>
              <a:ext cx="1188427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kumimoji="1" lang="ja-JP" altLang="en-US"/>
                <a:t>トリトン</a:t>
              </a:r>
            </a:p>
          </p:txBody>
        </p:sp>
        <p:sp>
          <p:nvSpPr>
            <p:cNvPr id="33" name="矢印: 下 32">
              <a:extLst>
                <a:ext uri="{FF2B5EF4-FFF2-40B4-BE49-F238E27FC236}">
                  <a16:creationId xmlns:a16="http://schemas.microsoft.com/office/drawing/2014/main" id="{F15D5534-F622-7D28-C151-33F984962124}"/>
                </a:ext>
              </a:extLst>
            </p:cNvPr>
            <p:cNvSpPr/>
            <p:nvPr/>
          </p:nvSpPr>
          <p:spPr>
            <a:xfrm rot="3256119">
              <a:off x="9151943" y="3945042"/>
              <a:ext cx="155995" cy="615198"/>
            </a:xfrm>
            <a:prstGeom prst="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矢印: 下 33">
              <a:extLst>
                <a:ext uri="{FF2B5EF4-FFF2-40B4-BE49-F238E27FC236}">
                  <a16:creationId xmlns:a16="http://schemas.microsoft.com/office/drawing/2014/main" id="{5489D113-1DF2-CC90-3256-F8A58C409A5D}"/>
                </a:ext>
              </a:extLst>
            </p:cNvPr>
            <p:cNvSpPr/>
            <p:nvPr/>
          </p:nvSpPr>
          <p:spPr>
            <a:xfrm rot="14097174">
              <a:off x="10029207" y="2869296"/>
              <a:ext cx="158651" cy="1524028"/>
            </a:xfrm>
            <a:prstGeom prst="down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BF0F5615-363F-9169-F3B3-461EA84666AB}"/>
                </a:ext>
              </a:extLst>
            </p:cNvPr>
            <p:cNvSpPr txBox="1"/>
            <p:nvPr/>
          </p:nvSpPr>
          <p:spPr>
            <a:xfrm>
              <a:off x="10398888" y="3521662"/>
              <a:ext cx="1896381" cy="461665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kumimoji="1" lang="en-US" altLang="ja-JP" sz="2400">
                  <a:ea typeface="游ゴシック"/>
                </a:rPr>
                <a:t>0.573MeV</a:t>
              </a:r>
              <a:endParaRPr lang="ja-JP" altLang="en-US" sz="2400">
                <a:ea typeface="游ゴシック"/>
              </a:endParaRPr>
            </a:p>
          </p:txBody>
        </p:sp>
        <p:cxnSp>
          <p:nvCxnSpPr>
            <p:cNvPr id="36" name="直線矢印コネクタ 35">
              <a:extLst>
                <a:ext uri="{FF2B5EF4-FFF2-40B4-BE49-F238E27FC236}">
                  <a16:creationId xmlns:a16="http://schemas.microsoft.com/office/drawing/2014/main" id="{2C0E75B6-0461-FD13-F638-BDDD16FE5889}"/>
                </a:ext>
              </a:extLst>
            </p:cNvPr>
            <p:cNvCxnSpPr/>
            <p:nvPr/>
          </p:nvCxnSpPr>
          <p:spPr>
            <a:xfrm flipH="1" flipV="1">
              <a:off x="10087276" y="2820202"/>
              <a:ext cx="389854" cy="4519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86AD3317-ED75-CFB2-0FDC-B859ACAAD306}"/>
                </a:ext>
              </a:extLst>
            </p:cNvPr>
            <p:cNvSpPr txBox="1"/>
            <p:nvPr/>
          </p:nvSpPr>
          <p:spPr>
            <a:xfrm>
              <a:off x="7205932" y="3615062"/>
              <a:ext cx="1835112" cy="461665"/>
            </a:xfrm>
            <a:prstGeom prst="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kumimoji="1" lang="en-US" altLang="ja-JP" sz="2400">
                  <a:ea typeface="游ゴシック"/>
                </a:rPr>
                <a:t>0.191MeV</a:t>
              </a:r>
              <a:endParaRPr lang="ja-JP" altLang="en-US" sz="2400">
                <a:ea typeface="游ゴシック"/>
              </a:endParaRPr>
            </a:p>
          </p:txBody>
        </p:sp>
        <p:grpSp>
          <p:nvGrpSpPr>
            <p:cNvPr id="38" name="グループ化 37">
              <a:extLst>
                <a:ext uri="{FF2B5EF4-FFF2-40B4-BE49-F238E27FC236}">
                  <a16:creationId xmlns:a16="http://schemas.microsoft.com/office/drawing/2014/main" id="{3BD62485-6C42-909E-8536-251380D3F2DF}"/>
                </a:ext>
              </a:extLst>
            </p:cNvPr>
            <p:cNvGrpSpPr/>
            <p:nvPr/>
          </p:nvGrpSpPr>
          <p:grpSpPr>
            <a:xfrm>
              <a:off x="9082497" y="2406514"/>
              <a:ext cx="1235769" cy="1529041"/>
              <a:chOff x="9082497" y="2406514"/>
              <a:chExt cx="1235769" cy="1529041"/>
            </a:xfrm>
          </p:grpSpPr>
          <p:cxnSp>
            <p:nvCxnSpPr>
              <p:cNvPr id="48" name="直線矢印コネクタ 47">
                <a:extLst>
                  <a:ext uri="{FF2B5EF4-FFF2-40B4-BE49-F238E27FC236}">
                    <a16:creationId xmlns:a16="http://schemas.microsoft.com/office/drawing/2014/main" id="{88D1E36D-CEF9-3F1C-BFD7-0FBFA6459DCD}"/>
                  </a:ext>
                </a:extLst>
              </p:cNvPr>
              <p:cNvCxnSpPr/>
              <p:nvPr/>
            </p:nvCxnSpPr>
            <p:spPr>
              <a:xfrm flipH="1" flipV="1">
                <a:off x="9860217" y="2987581"/>
                <a:ext cx="389854" cy="4519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直線矢印コネクタ 48">
                <a:extLst>
                  <a:ext uri="{FF2B5EF4-FFF2-40B4-BE49-F238E27FC236}">
                    <a16:creationId xmlns:a16="http://schemas.microsoft.com/office/drawing/2014/main" id="{2630519B-643E-5017-D630-5CFFE2E9E1AA}"/>
                  </a:ext>
                </a:extLst>
              </p:cNvPr>
              <p:cNvCxnSpPr/>
              <p:nvPr/>
            </p:nvCxnSpPr>
            <p:spPr>
              <a:xfrm flipH="1" flipV="1">
                <a:off x="9193984" y="3483630"/>
                <a:ext cx="389854" cy="4519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直線矢印コネクタ 49">
                <a:extLst>
                  <a:ext uri="{FF2B5EF4-FFF2-40B4-BE49-F238E27FC236}">
                    <a16:creationId xmlns:a16="http://schemas.microsoft.com/office/drawing/2014/main" id="{0D05E790-E0C9-DC21-34F8-D0B487BA1032}"/>
                  </a:ext>
                </a:extLst>
              </p:cNvPr>
              <p:cNvCxnSpPr/>
              <p:nvPr/>
            </p:nvCxnSpPr>
            <p:spPr>
              <a:xfrm flipH="1" flipV="1">
                <a:off x="9641131" y="3141324"/>
                <a:ext cx="389854" cy="4519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直線矢印コネクタ 50">
                <a:extLst>
                  <a:ext uri="{FF2B5EF4-FFF2-40B4-BE49-F238E27FC236}">
                    <a16:creationId xmlns:a16="http://schemas.microsoft.com/office/drawing/2014/main" id="{E2D2F6D8-07C0-C7D8-E2C8-332A59B4E680}"/>
                  </a:ext>
                </a:extLst>
              </p:cNvPr>
              <p:cNvCxnSpPr/>
              <p:nvPr/>
            </p:nvCxnSpPr>
            <p:spPr>
              <a:xfrm flipH="1" flipV="1">
                <a:off x="9421527" y="3318486"/>
                <a:ext cx="389854" cy="4519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2" name="テキスト ボックス 51">
                <a:extLst>
                  <a:ext uri="{FF2B5EF4-FFF2-40B4-BE49-F238E27FC236}">
                    <a16:creationId xmlns:a16="http://schemas.microsoft.com/office/drawing/2014/main" id="{23B98A65-CB83-C323-671F-20AA1C096347}"/>
                  </a:ext>
                </a:extLst>
              </p:cNvPr>
              <p:cNvSpPr txBox="1"/>
              <p:nvPr/>
            </p:nvSpPr>
            <p:spPr>
              <a:xfrm rot="19607268">
                <a:off x="9416538" y="2627081"/>
                <a:ext cx="54352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400"/>
                  <a:t>e-</a:t>
                </a:r>
                <a:endParaRPr kumimoji="1" lang="ja-JP" altLang="en-US" sz="2400"/>
              </a:p>
            </p:txBody>
          </p:sp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1C21C96C-3D57-AC29-4F68-4ABD08AAD00F}"/>
                  </a:ext>
                </a:extLst>
              </p:cNvPr>
              <p:cNvSpPr txBox="1"/>
              <p:nvPr/>
            </p:nvSpPr>
            <p:spPr>
              <a:xfrm rot="19583529">
                <a:off x="9082497" y="2883370"/>
                <a:ext cx="52217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sz="2400"/>
                  <a:t>e-</a:t>
                </a:r>
                <a:endParaRPr kumimoji="1" lang="ja-JP" altLang="en-US" sz="2400"/>
              </a:p>
            </p:txBody>
          </p:sp>
          <p:sp>
            <p:nvSpPr>
              <p:cNvPr id="54" name="テキスト ボックス 53">
                <a:extLst>
                  <a:ext uri="{FF2B5EF4-FFF2-40B4-BE49-F238E27FC236}">
                    <a16:creationId xmlns:a16="http://schemas.microsoft.com/office/drawing/2014/main" id="{2964D5F3-5328-BBB9-A9D2-8D8B50E56A64}"/>
                  </a:ext>
                </a:extLst>
              </p:cNvPr>
              <p:cNvSpPr txBox="1"/>
              <p:nvPr/>
            </p:nvSpPr>
            <p:spPr>
              <a:xfrm rot="19339073">
                <a:off x="9738344" y="2406514"/>
                <a:ext cx="57992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sz="2400"/>
                  <a:t>e-</a:t>
                </a:r>
                <a:endParaRPr kumimoji="1" lang="ja-JP" altLang="en-US" sz="2400"/>
              </a:p>
            </p:txBody>
          </p:sp>
        </p:grp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8FA8D771-0B03-12D7-2A92-2825C579A043}"/>
                </a:ext>
              </a:extLst>
            </p:cNvPr>
            <p:cNvSpPr txBox="1"/>
            <p:nvPr/>
          </p:nvSpPr>
          <p:spPr>
            <a:xfrm rot="19327283">
              <a:off x="8804524" y="3206981"/>
              <a:ext cx="53179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400"/>
                <a:t>e-</a:t>
              </a:r>
              <a:endParaRPr kumimoji="1" lang="ja-JP" altLang="en-US" sz="2400"/>
            </a:p>
          </p:txBody>
        </p:sp>
        <p:cxnSp>
          <p:nvCxnSpPr>
            <p:cNvPr id="40" name="直線矢印コネクタ 39">
              <a:extLst>
                <a:ext uri="{FF2B5EF4-FFF2-40B4-BE49-F238E27FC236}">
                  <a16:creationId xmlns:a16="http://schemas.microsoft.com/office/drawing/2014/main" id="{46EF978D-D7AF-2830-F8F8-71EAEA6E116F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9288274" y="4259680"/>
              <a:ext cx="389854" cy="4519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線矢印コネクタ 40">
              <a:extLst>
                <a:ext uri="{FF2B5EF4-FFF2-40B4-BE49-F238E27FC236}">
                  <a16:creationId xmlns:a16="http://schemas.microsoft.com/office/drawing/2014/main" id="{2A432BB8-5247-0F16-95E1-39C1291B418D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9954507" y="3763631"/>
              <a:ext cx="389854" cy="4519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線矢印コネクタ 41">
              <a:extLst>
                <a:ext uri="{FF2B5EF4-FFF2-40B4-BE49-F238E27FC236}">
                  <a16:creationId xmlns:a16="http://schemas.microsoft.com/office/drawing/2014/main" id="{2E2A4E43-A06E-25B7-5A5E-87D6EAA7C647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9507360" y="4105937"/>
              <a:ext cx="389854" cy="4519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線矢印コネクタ 42">
              <a:extLst>
                <a:ext uri="{FF2B5EF4-FFF2-40B4-BE49-F238E27FC236}">
                  <a16:creationId xmlns:a16="http://schemas.microsoft.com/office/drawing/2014/main" id="{4B8993FA-61A8-D971-62A0-4DEE309D288C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9726964" y="3928775"/>
              <a:ext cx="389854" cy="4519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テキスト ボックス 43">
              <a:extLst>
                <a:ext uri="{FF2B5EF4-FFF2-40B4-BE49-F238E27FC236}">
                  <a16:creationId xmlns:a16="http://schemas.microsoft.com/office/drawing/2014/main" id="{98AACAC2-BF24-6BDF-33AA-A070340CFBBB}"/>
                </a:ext>
              </a:extLst>
            </p:cNvPr>
            <p:cNvSpPr txBox="1"/>
            <p:nvPr/>
          </p:nvSpPr>
          <p:spPr>
            <a:xfrm rot="19170704">
              <a:off x="9760534" y="4476796"/>
              <a:ext cx="6165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/>
                <a:t>e-</a:t>
              </a:r>
              <a:endParaRPr kumimoji="1" lang="ja-JP" altLang="en-US" sz="2400"/>
            </a:p>
          </p:txBody>
        </p: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F625FEA7-C993-79A4-78E9-FE3E9F899A49}"/>
                </a:ext>
              </a:extLst>
            </p:cNvPr>
            <p:cNvSpPr txBox="1"/>
            <p:nvPr/>
          </p:nvSpPr>
          <p:spPr>
            <a:xfrm rot="19356226">
              <a:off x="10031249" y="4277827"/>
              <a:ext cx="52217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400"/>
                <a:t>e-</a:t>
              </a:r>
              <a:endParaRPr kumimoji="1" lang="ja-JP" altLang="en-US" sz="2400"/>
            </a:p>
          </p:txBody>
        </p:sp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D5A37731-27F7-AADB-1AAD-4AEDEF293D4A}"/>
                </a:ext>
              </a:extLst>
            </p:cNvPr>
            <p:cNvSpPr txBox="1"/>
            <p:nvPr/>
          </p:nvSpPr>
          <p:spPr>
            <a:xfrm rot="19333767">
              <a:off x="9493277" y="4669736"/>
              <a:ext cx="61055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400"/>
                <a:t>e-</a:t>
              </a:r>
              <a:endParaRPr kumimoji="1" lang="ja-JP" altLang="en-US" sz="2400"/>
            </a:p>
          </p:txBody>
        </p:sp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1579FC2A-4B7C-5237-944B-73FA2F499B49}"/>
                </a:ext>
              </a:extLst>
            </p:cNvPr>
            <p:cNvSpPr txBox="1"/>
            <p:nvPr/>
          </p:nvSpPr>
          <p:spPr>
            <a:xfrm>
              <a:off x="8641957" y="4120436"/>
              <a:ext cx="457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>
                  <a:solidFill>
                    <a:schemeClr val="bg1"/>
                  </a:solidFill>
                </a:rPr>
                <a:t>Ｐ</a:t>
              </a:r>
            </a:p>
          </p:txBody>
        </p:sp>
      </p:grpSp>
      <p:sp>
        <p:nvSpPr>
          <p:cNvPr id="65" name="矢印: 下 64">
            <a:extLst>
              <a:ext uri="{FF2B5EF4-FFF2-40B4-BE49-F238E27FC236}">
                <a16:creationId xmlns:a16="http://schemas.microsoft.com/office/drawing/2014/main" id="{F3085521-AD0D-F661-AEF3-FC0F5B53F43F}"/>
              </a:ext>
            </a:extLst>
          </p:cNvPr>
          <p:cNvSpPr/>
          <p:nvPr/>
        </p:nvSpPr>
        <p:spPr>
          <a:xfrm rot="16200000">
            <a:off x="5940427" y="3863126"/>
            <a:ext cx="751840" cy="1089937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7F0BCDCA-7D7F-E0CD-D91D-E5125FF28B58}"/>
              </a:ext>
            </a:extLst>
          </p:cNvPr>
          <p:cNvSpPr txBox="1"/>
          <p:nvPr/>
        </p:nvSpPr>
        <p:spPr>
          <a:xfrm>
            <a:off x="10902142" y="3185398"/>
            <a:ext cx="118842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/>
              <a:t>プロトン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0CDBB50C-0A31-243A-4289-70FA05C18AC9}"/>
              </a:ext>
            </a:extLst>
          </p:cNvPr>
          <p:cNvSpPr txBox="1"/>
          <p:nvPr/>
        </p:nvSpPr>
        <p:spPr>
          <a:xfrm>
            <a:off x="1017458" y="1451012"/>
            <a:ext cx="9817111" cy="120032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1800">
                <a:latin typeface="游ゴシック"/>
                <a:ea typeface="游ゴシック"/>
              </a:rPr>
              <a:t>検出器内の³Heガスに中性子が入射すると</a:t>
            </a:r>
            <a:endParaRPr lang="en-US" altLang="ja-JP" sz="2400"/>
          </a:p>
          <a:p>
            <a:r>
              <a:rPr sz="1800">
                <a:latin typeface="游ゴシック"/>
                <a:ea typeface="游ゴシック"/>
              </a:rPr>
              <a:t>³He(n,p)³H 反応が起き、Q=0.764 MeV が解放される</a:t>
            </a:r>
          </a:p>
          <a:p>
            <a:r>
              <a:rPr sz="1800">
                <a:latin typeface="游ゴシック"/>
                <a:ea typeface="游ゴシック"/>
              </a:rPr>
              <a:t>（質量欠損 → 陽子とトリトンの運動エネルギー）</a:t>
            </a: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B6F0F457-476D-9477-00E6-C9204FDCE767}"/>
              </a:ext>
            </a:extLst>
          </p:cNvPr>
          <p:cNvSpPr txBox="1"/>
          <p:nvPr/>
        </p:nvSpPr>
        <p:spPr>
          <a:xfrm>
            <a:off x="4798548" y="6193505"/>
            <a:ext cx="3917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/>
              <a:t>図</a:t>
            </a:r>
            <a:r>
              <a:rPr kumimoji="1" lang="en-US" altLang="ja-JP" sz="2000"/>
              <a:t>5. </a:t>
            </a:r>
            <a:r>
              <a:rPr kumimoji="1" lang="ja-JP" altLang="en-US" sz="2000"/>
              <a:t>ヘリウム</a:t>
            </a:r>
            <a:r>
              <a:rPr kumimoji="1" lang="en-US" altLang="ja-JP" sz="2000"/>
              <a:t>3</a:t>
            </a:r>
            <a:r>
              <a:rPr kumimoji="1" lang="ja-JP" altLang="en-US" sz="2000"/>
              <a:t>検出器の原理</a:t>
            </a:r>
          </a:p>
        </p:txBody>
      </p:sp>
      <p:pic>
        <p:nvPicPr>
          <p:cNvPr id="70" name="図 69">
            <a:extLst>
              <a:ext uri="{FF2B5EF4-FFF2-40B4-BE49-F238E27FC236}">
                <a16:creationId xmlns:a16="http://schemas.microsoft.com/office/drawing/2014/main" id="{858F675A-2E38-DF97-9EC9-012E5ABF0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9" y="126999"/>
            <a:ext cx="1218046" cy="1805611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74320" y="5029200"/>
            <a:ext cx="11430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游ゴシック"/>
                <a:ea typeface="游ゴシック"/>
              </a:rPr>
              <a:t>反応：³He + n → ¹H (p) + ³H (t)　＋　Q = 0.764 MeV（質量欠損が運動エネルギーへ）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游ゴシック"/>
                <a:ea typeface="游ゴシック"/>
              </a:rPr>
              <a:t>³Heは熱中性子に対して捕獲断面積が大きく、低エネルギー中性子の検出に適する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游ゴシック"/>
                <a:ea typeface="游ゴシック"/>
              </a:rPr>
              <a:t>検出器内ガスで生じた荷電粒子（p, t）が電離 → パルスとして読み出す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游ゴシック"/>
                <a:ea typeface="游ゴシック"/>
              </a:rPr>
              <a:t>※ 反応後のpとtは反対方向へ放出される（運動量保存）。壁近傍では壁効果でパルスが小さくなる（附記）</a:t>
            </a:r>
          </a:p>
        </p:txBody>
      </p:sp>
    </p:spTree>
    <p:extLst>
      <p:ext uri="{BB962C8B-B14F-4D97-AF65-F5344CB8AC3E}">
        <p14:creationId xmlns:p14="http://schemas.microsoft.com/office/powerpoint/2010/main" val="2301149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図 47" descr="グラフ, 折れ線グラフ&#10;&#10;AI 生成コンテンツは間違っている可能性があります。">
            <a:extLst>
              <a:ext uri="{FF2B5EF4-FFF2-40B4-BE49-F238E27FC236}">
                <a16:creationId xmlns:a16="http://schemas.microsoft.com/office/drawing/2014/main" id="{24D55FCA-BF85-DEDE-A5E3-5201744514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03"/>
          <a:stretch>
            <a:fillRect/>
          </a:stretch>
        </p:blipFill>
        <p:spPr>
          <a:xfrm>
            <a:off x="7506936" y="3394020"/>
            <a:ext cx="4447027" cy="2611948"/>
          </a:xfrm>
          <a:prstGeom prst="rect">
            <a:avLst/>
          </a:prstGeom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80CD9A68-ECEA-EB78-404A-6F01ECE20F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25" t="28837" r="8809" b="12240"/>
          <a:stretch>
            <a:fillRect/>
          </a:stretch>
        </p:blipFill>
        <p:spPr>
          <a:xfrm>
            <a:off x="4253433" y="3754494"/>
            <a:ext cx="2665934" cy="242993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84430298-8AFF-3CF5-FFE8-BAE9C3DAB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4965"/>
            <a:ext cx="10515600" cy="1325563"/>
          </a:xfrm>
        </p:spPr>
        <p:txBody>
          <a:bodyPr/>
          <a:lstStyle/>
          <a:p>
            <a:r>
              <a:rPr sz="3200" b="1">
                <a:latin typeface="游ゴシック"/>
                <a:ea typeface="游ゴシック"/>
              </a:rPr>
              <a:t>実験装置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B9C50D5-B460-E6D3-8987-EE4877A64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864" y="1756807"/>
            <a:ext cx="10515600" cy="4351338"/>
          </a:xfrm>
        </p:spPr>
        <p:txBody>
          <a:bodyPr/>
          <a:lstStyle/>
          <a:p>
            <a:r>
              <a:rPr lang="en-US" altLang="ja-JP"/>
              <a:t>A</a:t>
            </a:r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2B75833D-0DFD-525D-46D2-258DCBE7F332}"/>
              </a:ext>
            </a:extLst>
          </p:cNvPr>
          <p:cNvGrpSpPr/>
          <p:nvPr/>
        </p:nvGrpSpPr>
        <p:grpSpPr>
          <a:xfrm>
            <a:off x="393560" y="1427336"/>
            <a:ext cx="11858356" cy="1574945"/>
            <a:chOff x="360105" y="1556627"/>
            <a:chExt cx="11858356" cy="1574945"/>
          </a:xfrm>
        </p:grpSpPr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5DC47B88-09CA-99E5-7902-795C9D837C0F}"/>
                </a:ext>
              </a:extLst>
            </p:cNvPr>
            <p:cNvCxnSpPr>
              <a:cxnSpLocks/>
            </p:cNvCxnSpPr>
            <p:nvPr/>
          </p:nvCxnSpPr>
          <p:spPr>
            <a:xfrm>
              <a:off x="2097957" y="2018417"/>
              <a:ext cx="62189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AA59F059-EF85-47F4-53E9-53E73CDBE934}"/>
                </a:ext>
              </a:extLst>
            </p:cNvPr>
            <p:cNvSpPr/>
            <p:nvPr/>
          </p:nvSpPr>
          <p:spPr>
            <a:xfrm>
              <a:off x="360105" y="1556627"/>
              <a:ext cx="1737852" cy="8706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/>
                <a:t>流電圧</a:t>
              </a: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F9901C69-0E6D-1B9D-7EDF-46FF697AB2AF}"/>
                </a:ext>
              </a:extLst>
            </p:cNvPr>
            <p:cNvSpPr txBox="1"/>
            <p:nvPr/>
          </p:nvSpPr>
          <p:spPr>
            <a:xfrm>
              <a:off x="467031" y="1748081"/>
              <a:ext cx="17378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800"/>
                <a:t>直流電圧</a:t>
              </a: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FC28BE09-74A8-B951-9386-293C4D6229BD}"/>
                </a:ext>
              </a:extLst>
            </p:cNvPr>
            <p:cNvSpPr txBox="1"/>
            <p:nvPr/>
          </p:nvSpPr>
          <p:spPr>
            <a:xfrm>
              <a:off x="1229031" y="2485241"/>
              <a:ext cx="2507226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kumimoji="1" lang="ja-JP" altLang="en-US"/>
                <a:t>電離作用により生じた電子を増幅し、出力</a:t>
              </a:r>
            </a:p>
          </p:txBody>
        </p:sp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EAD7B2B3-EE2B-A83A-42A0-26216817B823}"/>
                </a:ext>
              </a:extLst>
            </p:cNvPr>
            <p:cNvGrpSpPr/>
            <p:nvPr/>
          </p:nvGrpSpPr>
          <p:grpSpPr>
            <a:xfrm>
              <a:off x="2727222" y="1556627"/>
              <a:ext cx="9491239" cy="1330185"/>
              <a:chOff x="3038167" y="1554880"/>
              <a:chExt cx="9491239" cy="1330185"/>
            </a:xfrm>
          </p:grpSpPr>
          <p:cxnSp>
            <p:nvCxnSpPr>
              <p:cNvPr id="40" name="直線コネクタ 39">
                <a:extLst>
                  <a:ext uri="{FF2B5EF4-FFF2-40B4-BE49-F238E27FC236}">
                    <a16:creationId xmlns:a16="http://schemas.microsoft.com/office/drawing/2014/main" id="{2E561328-06E2-2AC9-7AF1-5520E0C534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92829" y="1987639"/>
                <a:ext cx="62189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直線コネクタ 38">
                <a:extLst>
                  <a:ext uri="{FF2B5EF4-FFF2-40B4-BE49-F238E27FC236}">
                    <a16:creationId xmlns:a16="http://schemas.microsoft.com/office/drawing/2014/main" id="{31FB0E7C-99C1-3B25-2A1F-695ADD94AA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64758" y="1987639"/>
                <a:ext cx="62189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直線コネクタ 37">
                <a:extLst>
                  <a:ext uri="{FF2B5EF4-FFF2-40B4-BE49-F238E27FC236}">
                    <a16:creationId xmlns:a16="http://schemas.microsoft.com/office/drawing/2014/main" id="{39454344-4669-E9C4-4B3E-830CB090C7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0322" y="1994528"/>
                <a:ext cx="621890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130EB2A3-EEF6-2F0F-C9D6-9B0DF122D8AE}"/>
                  </a:ext>
                </a:extLst>
              </p:cNvPr>
              <p:cNvSpPr/>
              <p:nvPr/>
            </p:nvSpPr>
            <p:spPr>
              <a:xfrm>
                <a:off x="3038167" y="1578769"/>
                <a:ext cx="1632155" cy="87929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6330BA87-D5DB-4ED6-A7AB-36D7428929C2}"/>
                  </a:ext>
                </a:extLst>
              </p:cNvPr>
              <p:cNvSpPr txBox="1"/>
              <p:nvPr/>
            </p:nvSpPr>
            <p:spPr>
              <a:xfrm>
                <a:off x="3180735" y="1756807"/>
                <a:ext cx="134701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800"/>
                  <a:t>検出器</a:t>
                </a:r>
              </a:p>
            </p:txBody>
          </p:sp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23B63952-89C5-8ED4-4E8E-47DA822D3A76}"/>
                  </a:ext>
                </a:extLst>
              </p:cNvPr>
              <p:cNvSpPr/>
              <p:nvPr/>
            </p:nvSpPr>
            <p:spPr>
              <a:xfrm>
                <a:off x="5132438" y="1554880"/>
                <a:ext cx="1737852" cy="87929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/>
                  <a:t>流電圧</a:t>
                </a:r>
              </a:p>
            </p:txBody>
          </p:sp>
          <p:sp>
            <p:nvSpPr>
              <p:cNvPr id="27" name="正方形/長方形 26">
                <a:extLst>
                  <a:ext uri="{FF2B5EF4-FFF2-40B4-BE49-F238E27FC236}">
                    <a16:creationId xmlns:a16="http://schemas.microsoft.com/office/drawing/2014/main" id="{C219D8EB-4493-C186-85A2-1C6B9420B58B}"/>
                  </a:ext>
                </a:extLst>
              </p:cNvPr>
              <p:cNvSpPr/>
              <p:nvPr/>
            </p:nvSpPr>
            <p:spPr>
              <a:xfrm>
                <a:off x="7415981" y="1554880"/>
                <a:ext cx="1737852" cy="87929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/>
                  <a:t>流電圧</a:t>
                </a:r>
              </a:p>
            </p:txBody>
          </p:sp>
          <p:sp>
            <p:nvSpPr>
              <p:cNvPr id="29" name="正方形/長方形 28">
                <a:extLst>
                  <a:ext uri="{FF2B5EF4-FFF2-40B4-BE49-F238E27FC236}">
                    <a16:creationId xmlns:a16="http://schemas.microsoft.com/office/drawing/2014/main" id="{EC3B8642-B0FA-DBF3-DC93-B0EDD2EB7916}"/>
                  </a:ext>
                </a:extLst>
              </p:cNvPr>
              <p:cNvSpPr/>
              <p:nvPr/>
            </p:nvSpPr>
            <p:spPr>
              <a:xfrm>
                <a:off x="9636133" y="1560925"/>
                <a:ext cx="2610464" cy="87929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/>
                  <a:t>マルチチャンネル流電圧</a:t>
                </a:r>
              </a:p>
            </p:txBody>
          </p:sp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9BABA076-A706-00A4-674E-8717ACDC1071}"/>
                  </a:ext>
                </a:extLst>
              </p:cNvPr>
              <p:cNvSpPr txBox="1"/>
              <p:nvPr/>
            </p:nvSpPr>
            <p:spPr>
              <a:xfrm>
                <a:off x="5132438" y="1756807"/>
                <a:ext cx="17323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400"/>
                  <a:t>プリアンプ</a:t>
                </a:r>
              </a:p>
            </p:txBody>
          </p:sp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FCFC4F89-2904-2159-52C8-DD64519FFD2A}"/>
                  </a:ext>
                </a:extLst>
              </p:cNvPr>
              <p:cNvSpPr txBox="1"/>
              <p:nvPr/>
            </p:nvSpPr>
            <p:spPr>
              <a:xfrm>
                <a:off x="7616929" y="1732918"/>
                <a:ext cx="173232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800"/>
                  <a:t>アンプ</a:t>
                </a:r>
              </a:p>
            </p:txBody>
          </p:sp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F57596B5-240A-703E-6876-6B3E1CC73FD6}"/>
                  </a:ext>
                </a:extLst>
              </p:cNvPr>
              <p:cNvSpPr txBox="1"/>
              <p:nvPr/>
            </p:nvSpPr>
            <p:spPr>
              <a:xfrm>
                <a:off x="9593827" y="1554881"/>
                <a:ext cx="2743200" cy="860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400"/>
                  <a:t>マルチチャンネルアナライザ</a:t>
                </a:r>
                <a:r>
                  <a:rPr kumimoji="1" lang="en-US" altLang="ja-JP" sz="2400"/>
                  <a:t>(MCA)</a:t>
                </a:r>
                <a:endParaRPr kumimoji="1" lang="ja-JP" altLang="en-US" sz="2400"/>
              </a:p>
            </p:txBody>
          </p:sp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2A0C9751-ACC9-C9F5-C3C9-D2E3C466CA74}"/>
                  </a:ext>
                </a:extLst>
              </p:cNvPr>
              <p:cNvSpPr txBox="1"/>
              <p:nvPr/>
            </p:nvSpPr>
            <p:spPr>
              <a:xfrm>
                <a:off x="4863898" y="2515733"/>
                <a:ext cx="208198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/>
                  <a:t>波高パルスへ変換</a:t>
                </a:r>
              </a:p>
            </p:txBody>
          </p:sp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F54D2D96-E823-CF65-DDA7-46FC7368259B}"/>
                  </a:ext>
                </a:extLst>
              </p:cNvPr>
              <p:cNvSpPr txBox="1"/>
              <p:nvPr/>
            </p:nvSpPr>
            <p:spPr>
              <a:xfrm>
                <a:off x="7069394" y="2501860"/>
                <a:ext cx="247527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/>
                  <a:t>パルスを整形して増幅</a:t>
                </a:r>
              </a:p>
            </p:txBody>
          </p:sp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C1F02344-E473-65C3-635E-EC076DD0136A}"/>
                  </a:ext>
                </a:extLst>
              </p:cNvPr>
              <p:cNvSpPr txBox="1"/>
              <p:nvPr/>
            </p:nvSpPr>
            <p:spPr>
              <a:xfrm>
                <a:off x="10693845" y="2454941"/>
                <a:ext cx="183556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/>
                  <a:t>入力波高の記録</a:t>
                </a:r>
              </a:p>
            </p:txBody>
          </p:sp>
        </p:grpSp>
      </p:grpSp>
      <p:pic>
        <p:nvPicPr>
          <p:cNvPr id="49" name="図 48">
            <a:extLst>
              <a:ext uri="{FF2B5EF4-FFF2-40B4-BE49-F238E27FC236}">
                <a16:creationId xmlns:a16="http://schemas.microsoft.com/office/drawing/2014/main" id="{480CBADC-53F3-E4EA-6E36-9919ED336E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20" y="3230289"/>
            <a:ext cx="3974688" cy="2984826"/>
          </a:xfrm>
          <a:prstGeom prst="rect">
            <a:avLst/>
          </a:prstGeom>
        </p:spPr>
      </p:pic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D685BC1D-3D27-65AF-8E0A-3444D9B197E5}"/>
              </a:ext>
            </a:extLst>
          </p:cNvPr>
          <p:cNvSpPr txBox="1"/>
          <p:nvPr/>
        </p:nvSpPr>
        <p:spPr>
          <a:xfrm>
            <a:off x="2941304" y="4318869"/>
            <a:ext cx="1303680" cy="646331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1" lang="ja-JP" altLang="en-US">
                <a:ea typeface="游ゴシック"/>
              </a:rPr>
              <a:t>検出器</a:t>
            </a:r>
            <a:endParaRPr lang="ja-JP"/>
          </a:p>
          <a:p>
            <a:r>
              <a:rPr lang="ja-JP" altLang="en-US">
                <a:ea typeface="游ゴシック"/>
              </a:rPr>
              <a:t>(熱中性子)</a:t>
            </a:r>
            <a:endParaRPr lang="ja-JP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82E181B9-2A18-4F12-D0CC-DC14C2E92350}"/>
              </a:ext>
            </a:extLst>
          </p:cNvPr>
          <p:cNvSpPr txBox="1"/>
          <p:nvPr/>
        </p:nvSpPr>
        <p:spPr>
          <a:xfrm>
            <a:off x="1522566" y="4017160"/>
            <a:ext cx="1410289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/>
              <a:t>プリアンプ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C6282FDA-166A-363B-D2F5-4EA84F3B7FFF}"/>
              </a:ext>
            </a:extLst>
          </p:cNvPr>
          <p:cNvSpPr txBox="1"/>
          <p:nvPr/>
        </p:nvSpPr>
        <p:spPr>
          <a:xfrm>
            <a:off x="1999967" y="5358322"/>
            <a:ext cx="761334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/>
              <a:t>MCA</a:t>
            </a:r>
            <a:endParaRPr kumimoji="1" lang="ja-JP" altLang="en-US"/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DD3452A4-DC1C-32AD-BC35-E4CD9332F35F}"/>
              </a:ext>
            </a:extLst>
          </p:cNvPr>
          <p:cNvSpPr txBox="1"/>
          <p:nvPr/>
        </p:nvSpPr>
        <p:spPr>
          <a:xfrm>
            <a:off x="47523" y="2905240"/>
            <a:ext cx="962529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/>
              <a:t>アンプ</a:t>
            </a: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64C06E6-FE00-71C6-4DE3-ACCC67D9DAE9}"/>
              </a:ext>
            </a:extLst>
          </p:cNvPr>
          <p:cNvSpPr txBox="1"/>
          <p:nvPr/>
        </p:nvSpPr>
        <p:spPr>
          <a:xfrm>
            <a:off x="4654196" y="3020750"/>
            <a:ext cx="1572353" cy="646331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>
                <a:ea typeface="游ゴシック"/>
              </a:rPr>
              <a:t>ポリエチレンカバー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44BA6D3F-069D-3543-3080-CFB8748646D8}"/>
              </a:ext>
            </a:extLst>
          </p:cNvPr>
          <p:cNvSpPr txBox="1"/>
          <p:nvPr/>
        </p:nvSpPr>
        <p:spPr>
          <a:xfrm>
            <a:off x="5652050" y="5461814"/>
            <a:ext cx="1530990" cy="646331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1" lang="ja-JP" altLang="en-US">
                <a:ea typeface="游ゴシック"/>
              </a:rPr>
              <a:t>検出器</a:t>
            </a:r>
            <a:endParaRPr lang="ja-JP"/>
          </a:p>
          <a:p>
            <a:r>
              <a:rPr lang="ja-JP" altLang="en-US">
                <a:ea typeface="游ゴシック"/>
              </a:rPr>
              <a:t>(MeV中性子)</a:t>
            </a:r>
            <a:endParaRPr lang="ja-JP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85A5C1AA-3F52-F5B0-08F3-21B301982403}"/>
              </a:ext>
            </a:extLst>
          </p:cNvPr>
          <p:cNvSpPr txBox="1"/>
          <p:nvPr/>
        </p:nvSpPr>
        <p:spPr>
          <a:xfrm>
            <a:off x="4368351" y="6318369"/>
            <a:ext cx="2468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図</a:t>
            </a:r>
            <a:r>
              <a:rPr lang="en-US" altLang="ja-JP"/>
              <a:t>7</a:t>
            </a:r>
            <a:r>
              <a:rPr kumimoji="1" lang="en-US" altLang="ja-JP"/>
              <a:t>. </a:t>
            </a:r>
            <a:r>
              <a:rPr kumimoji="1" lang="ja-JP" altLang="en-US"/>
              <a:t>検出器と減速材</a:t>
            </a:r>
            <a:endParaRPr kumimoji="1" lang="en-US" altLang="ja-JP"/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96E9A6D3-1B3F-26F4-B943-5C4792B207E7}"/>
              </a:ext>
            </a:extLst>
          </p:cNvPr>
          <p:cNvSpPr txBox="1"/>
          <p:nvPr/>
        </p:nvSpPr>
        <p:spPr>
          <a:xfrm>
            <a:off x="1175928" y="6297837"/>
            <a:ext cx="281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/>
              <a:t>6. </a:t>
            </a:r>
            <a:r>
              <a:rPr kumimoji="1" lang="ja-JP" altLang="en-US"/>
              <a:t>セットアップ</a:t>
            </a: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C1A00810-D77A-A82B-CE92-4E5552EDB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4512" y="6346072"/>
            <a:ext cx="2743200" cy="365125"/>
          </a:xfrm>
        </p:spPr>
        <p:txBody>
          <a:bodyPr/>
          <a:lstStyle/>
          <a:p>
            <a:fld id="{8E5A9341-D4CB-41D4-9AB9-BB65309E22FA}" type="slidenum">
              <a:rPr kumimoji="1" lang="ja-JP" altLang="en-US" smtClean="0"/>
              <a:t>6</a:t>
            </a:fld>
            <a:endParaRPr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00E3EB6-298A-F0C4-E52B-0BC8CC047891}"/>
              </a:ext>
            </a:extLst>
          </p:cNvPr>
          <p:cNvSpPr txBox="1"/>
          <p:nvPr/>
        </p:nvSpPr>
        <p:spPr>
          <a:xfrm>
            <a:off x="270296" y="4899740"/>
            <a:ext cx="1129152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/>
              <a:t>パソコン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55CAA43-5AC6-BCFE-87C7-A99BA3145EF1}"/>
              </a:ext>
            </a:extLst>
          </p:cNvPr>
          <p:cNvSpPr txBox="1"/>
          <p:nvPr/>
        </p:nvSpPr>
        <p:spPr>
          <a:xfrm>
            <a:off x="8536424" y="5831287"/>
            <a:ext cx="3509983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/>
              <a:t>チャンネル</a:t>
            </a:r>
            <a:r>
              <a:rPr lang="en-US" altLang="ja-JP"/>
              <a:t>(</a:t>
            </a:r>
            <a:r>
              <a:rPr lang="ja-JP" altLang="en-US"/>
              <a:t>エネルギ－</a:t>
            </a:r>
            <a:r>
              <a:rPr lang="en-US" altLang="ja-JP"/>
              <a:t>)</a:t>
            </a:r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AE54D79A-6DA4-5E9E-DB00-66EADF137EE1}"/>
              </a:ext>
            </a:extLst>
          </p:cNvPr>
          <p:cNvSpPr txBox="1"/>
          <p:nvPr/>
        </p:nvSpPr>
        <p:spPr>
          <a:xfrm rot="16200000">
            <a:off x="6507035" y="4336521"/>
            <a:ext cx="197684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2000"/>
              <a:t>計測率</a:t>
            </a:r>
            <a:r>
              <a:rPr kumimoji="1" lang="en-US" altLang="ja-JP" sz="2000"/>
              <a:t>(1/s/ch)</a:t>
            </a:r>
            <a:endParaRPr kumimoji="1" lang="ja-JP" altLang="en-US" sz="200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BDBB3F3-AF9A-9F30-6336-A4A79EABBF00}"/>
              </a:ext>
            </a:extLst>
          </p:cNvPr>
          <p:cNvSpPr txBox="1"/>
          <p:nvPr/>
        </p:nvSpPr>
        <p:spPr>
          <a:xfrm>
            <a:off x="8260904" y="6295805"/>
            <a:ext cx="336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図</a:t>
            </a:r>
            <a:r>
              <a:rPr lang="en-US" altLang="ja-JP"/>
              <a:t>8</a:t>
            </a:r>
            <a:r>
              <a:rPr kumimoji="1" lang="en-US" altLang="ja-JP"/>
              <a:t>. MCA</a:t>
            </a:r>
            <a:r>
              <a:rPr kumimoji="1" lang="ja-JP" altLang="en-US"/>
              <a:t>の出力波形</a:t>
            </a:r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A1CD7876-49F8-F93D-65EB-5B770CCE065D}"/>
              </a:ext>
            </a:extLst>
          </p:cNvPr>
          <p:cNvCxnSpPr>
            <a:cxnSpLocks/>
          </p:cNvCxnSpPr>
          <p:nvPr/>
        </p:nvCxnSpPr>
        <p:spPr>
          <a:xfrm>
            <a:off x="9895840" y="2327397"/>
            <a:ext cx="0" cy="3517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6B807241-972E-1031-C545-AC06DB331A9E}"/>
              </a:ext>
            </a:extLst>
          </p:cNvPr>
          <p:cNvSpPr/>
          <p:nvPr/>
        </p:nvSpPr>
        <p:spPr>
          <a:xfrm>
            <a:off x="9026284" y="2716445"/>
            <a:ext cx="1835560" cy="6463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パソコンに流電圧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FF88B0B-D6FA-5131-CDF3-2ACB07FBF206}"/>
              </a:ext>
            </a:extLst>
          </p:cNvPr>
          <p:cNvSpPr txBox="1"/>
          <p:nvPr/>
        </p:nvSpPr>
        <p:spPr>
          <a:xfrm>
            <a:off x="9205390" y="2818904"/>
            <a:ext cx="1835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/>
              <a:t>パソコン</a:t>
            </a:r>
          </a:p>
        </p:txBody>
      </p:sp>
      <p:sp>
        <p:nvSpPr>
          <p:cNvPr id="42" name="矢印: 下 41">
            <a:extLst>
              <a:ext uri="{FF2B5EF4-FFF2-40B4-BE49-F238E27FC236}">
                <a16:creationId xmlns:a16="http://schemas.microsoft.com/office/drawing/2014/main" id="{2E963D70-2131-769B-E299-582962125832}"/>
              </a:ext>
            </a:extLst>
          </p:cNvPr>
          <p:cNvSpPr/>
          <p:nvPr/>
        </p:nvSpPr>
        <p:spPr>
          <a:xfrm>
            <a:off x="9619695" y="3367352"/>
            <a:ext cx="490274" cy="637699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3DA28759-D44E-0078-1F26-806373308B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3016" y="1191"/>
            <a:ext cx="7334250" cy="1485900"/>
          </a:xfrm>
          <a:prstGeom prst="rect">
            <a:avLst/>
          </a:prstGeom>
        </p:spPr>
      </p:pic>
      <p:pic>
        <p:nvPicPr>
          <p:cNvPr id="20" name="図 19" descr="s18_detectors.png">
            <a:extLst>
              <a:ext uri="{FF2B5EF4-FFF2-40B4-BE49-F238E27FC236}">
                <a16:creationId xmlns:a16="http://schemas.microsoft.com/office/drawing/2014/main" id="{5A48B0B5-597D-1987-1577-814200E8944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659218" y="4875696"/>
            <a:ext cx="2092740" cy="160682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7589520" y="598932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568A"/>
                </a:solidFill>
                <a:latin typeface="游ゴシック"/>
                <a:ea typeface="游ゴシック"/>
              </a:rPr>
              <a:t>MCA：横軸＝チャンネル（エネルギー）、縦軸＝計数</a:t>
            </a:r>
          </a:p>
        </p:txBody>
      </p:sp>
    </p:spTree>
    <p:extLst>
      <p:ext uri="{BB962C8B-B14F-4D97-AF65-F5344CB8AC3E}">
        <p14:creationId xmlns:p14="http://schemas.microsoft.com/office/powerpoint/2010/main" val="3825088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A1E400-0422-455C-53C4-CAE7A4A68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游ゴシック"/>
                <a:ea typeface="游ゴシック"/>
              </a:rPr>
              <a:t>なぜ検出効率が必要か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4C2A46-0685-E7F6-A345-E374A6B04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7890"/>
            <a:ext cx="10515600" cy="4351338"/>
          </a:xfrm>
        </p:spPr>
        <p:txBody>
          <a:bodyPr vert="horz" lIns="91440" tIns="45720" rIns="91440" bIns="45720" rtlCol="0" wrap="square">
            <a:normAutofit/>
          </a:bodyPr>
          <a:lstStyle/>
          <a:p>
            <a:pPr/>
            <a:r>
              <a:rPr sz="1800" i="0">
                <a:latin typeface="游ゴシック"/>
                <a:ea typeface="游ゴシック"/>
              </a:rPr>
              <a:t>荷電粒子は電離で痕跡を残しやすいが、</a:t>
            </a:r>
            <a:endParaRPr kumimoji="1" lang="en-US" altLang="ja-JP" sz="3600"/>
          </a:p>
          <a:p>
            <a:pPr/>
            <a:r>
              <a:rPr sz="1800" i="0">
                <a:latin typeface="游ゴシック"/>
                <a:ea typeface="游ゴシック"/>
              </a:rPr>
              <a:t>中性子は電荷がなく核反応が起きたときだけ見える</a:t>
            </a:r>
          </a:p>
          <a:p>
            <a:pPr/>
            <a:r>
              <a:rPr sz="1800" i="0">
                <a:latin typeface="游ゴシック"/>
                <a:ea typeface="游ゴシック"/>
              </a:rPr>
              <a:t>→ 入射したすべてを数えられるわけではない</a:t>
            </a:r>
          </a:p>
          <a:p>
            <a:pPr/>
            <a:r>
              <a:rPr sz="1800" i="0">
                <a:latin typeface="游ゴシック"/>
                <a:ea typeface="游ゴシック"/>
              </a:rPr>
              <a:t/>
            </a:r>
          </a:p>
          <a:p>
            <a:pPr/>
            <a:r>
              <a:rPr sz="1800" i="1">
                <a:latin typeface="游ゴシック"/>
                <a:ea typeface="游ゴシック"/>
              </a:rPr>
              <a:t>放出率が既知の基準線源（²⁴¹Am-Be）で ε を較正</a:t>
            </a:r>
          </a:p>
          <a:p>
            <a:pPr/>
            <a:r>
              <a:rPr sz="1800" i="1">
                <a:latin typeface="游ゴシック"/>
                <a:ea typeface="游ゴシック"/>
              </a:rPr>
              <a:t>グラファイト減速場で熱中性子束を作り、距離から Φ を得る</a:t>
            </a:r>
          </a:p>
          <a:p>
            <a:pPr/>
            <a:r>
              <a:rPr sz="1800" i="0">
                <a:latin typeface="游ゴシック"/>
                <a:ea typeface="游ゴシック"/>
              </a:rPr>
              <a:t>平易に言うと：既知の「降り方」と比べて、検出器が何割拾えるかを決める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7D57385-6E68-6502-2547-04941BA30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79" t="4872" b="21892"/>
          <a:stretch>
            <a:fillRect/>
          </a:stretch>
        </p:blipFill>
        <p:spPr>
          <a:xfrm>
            <a:off x="7869209" y="487396"/>
            <a:ext cx="3903691" cy="2456057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38705B7-A38B-0615-26B2-A394E5EEC7EC}"/>
              </a:ext>
            </a:extLst>
          </p:cNvPr>
          <p:cNvSpPr txBox="1"/>
          <p:nvPr/>
        </p:nvSpPr>
        <p:spPr>
          <a:xfrm>
            <a:off x="7784738" y="3028890"/>
            <a:ext cx="4539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/>
              <a:t>図</a:t>
            </a:r>
            <a:r>
              <a:rPr kumimoji="1" lang="en-US" altLang="ja-JP" sz="2000"/>
              <a:t>9. </a:t>
            </a:r>
            <a:r>
              <a:rPr kumimoji="1" lang="ja-JP" altLang="en-US" sz="2000"/>
              <a:t>グラファイト</a:t>
            </a:r>
            <a:r>
              <a:rPr kumimoji="1" lang="en-US" altLang="ja-JP" sz="2000"/>
              <a:t>(</a:t>
            </a:r>
            <a:r>
              <a:rPr kumimoji="1" lang="ja-JP" altLang="en-US" sz="2000"/>
              <a:t>減速材</a:t>
            </a:r>
            <a:r>
              <a:rPr kumimoji="1" lang="en-US" altLang="ja-JP" sz="2000"/>
              <a:t>)</a:t>
            </a:r>
            <a:r>
              <a:rPr kumimoji="1" lang="ja-JP" altLang="en-US" sz="2000"/>
              <a:t>と検出器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E60ABCD-A3A9-AA77-0F1C-426DDF0E2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60476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9BE8051C-DADC-0B85-28E9-6C5792FD6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613" y="365125"/>
            <a:ext cx="6831973" cy="423874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D5A9525D-741A-172F-8549-CCB1DBA0B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游ゴシック"/>
                <a:ea typeface="游ゴシック"/>
              </a:rPr>
              <a:t>検出効率の結果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5499D69-98FC-5609-3CEF-71784EE52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372" y="1461167"/>
            <a:ext cx="10811256" cy="5175504"/>
          </a:xfrm>
        </p:spPr>
        <p:txBody>
          <a:bodyPr vert="horz" lIns="91440" tIns="45720" rIns="91440" bIns="45720" rtlCol="0" anchor="t" wrap="square">
            <a:normAutofit fontScale="92500" lnSpcReduction="10000"/>
          </a:bodyPr>
          <a:lstStyle/>
          <a:p>
            <a:pPr marL="0" indent="0">
              <a:buNone/>
            </a:pPr>
            <a:r>
              <a:rPr sz="1800" i="1">
                <a:latin typeface="游ゴシック"/>
                <a:ea typeface="游ゴシック"/>
              </a:rPr>
              <a:t>30 cm 位置の熱中性子フラックス</a:t>
            </a:r>
            <a:endParaRPr kumimoji="1" lang="en-US" altLang="ja-JP"/>
          </a:p>
          <a:p>
            <a:pPr/>
            <a:r>
              <a:rPr sz="1800" i="1">
                <a:latin typeface="游ゴシック"/>
                <a:ea typeface="游ゴシック"/>
              </a:rPr>
              <a:t>　Φ = 21.33 /cm²/s</a:t>
            </a:r>
          </a:p>
          <a:p>
            <a:pPr/>
            <a:r>
              <a:rPr sz="1800" i="0">
                <a:latin typeface="游ゴシック"/>
                <a:ea typeface="游ゴシック"/>
              </a:rPr>
              <a:t/>
            </a:r>
          </a:p>
          <a:p>
            <a:pPr/>
            <a:r>
              <a:rPr sz="1800" i="1">
                <a:latin typeface="游ゴシック"/>
                <a:ea typeface="游ゴシック"/>
              </a:rPr>
              <a:t>計測率 CPS と面積 S から</a:t>
            </a:r>
          </a:p>
          <a:p>
            <a:pPr/>
            <a:r>
              <a:rPr sz="1800" i="1">
                <a:latin typeface="游ゴシック"/>
                <a:ea typeface="游ゴシック"/>
              </a:rPr>
              <a:t>　ε = CPS / (Φ · S)</a:t>
            </a:r>
          </a:p>
          <a:p>
            <a:pPr/>
            <a:r>
              <a:rPr sz="1800" i="0">
                <a:latin typeface="游ゴシック"/>
                <a:ea typeface="游ゴシック"/>
              </a:rPr>
              <a:t/>
            </a:r>
          </a:p>
          <a:p>
            <a:pPr/>
            <a:r>
              <a:rPr sz="1800" i="1">
                <a:latin typeface="游ゴシック"/>
                <a:ea typeface="游ゴシック"/>
              </a:rPr>
              <a:t>以後の解析では εS_peak を使用：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3BF6335-D321-647A-B444-4C67D9DF1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8</a:t>
            </a:fld>
            <a:endParaRPr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89743E4-8CE1-3C51-6D03-140F626F218B}"/>
              </a:ext>
            </a:extLst>
          </p:cNvPr>
          <p:cNvSpPr txBox="1"/>
          <p:nvPr/>
        </p:nvSpPr>
        <p:spPr>
          <a:xfrm>
            <a:off x="7043928" y="4697967"/>
            <a:ext cx="660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600"/>
              <a:t>図</a:t>
            </a:r>
            <a:r>
              <a:rPr kumimoji="1" lang="en-US" altLang="ja-JP" sz="1600"/>
              <a:t>10. </a:t>
            </a:r>
            <a:r>
              <a:rPr kumimoji="1" lang="ja-JP" altLang="en-US" sz="1600"/>
              <a:t>線源からの距離と中性子フラックスの関係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FDBFC6E-DD84-EAC1-2881-416B6FDFC9A8}"/>
              </a:ext>
            </a:extLst>
          </p:cNvPr>
          <p:cNvSpPr txBox="1"/>
          <p:nvPr/>
        </p:nvSpPr>
        <p:spPr>
          <a:xfrm>
            <a:off x="7271068" y="4203755"/>
            <a:ext cx="423164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000"/>
              <a:t>線源から垂直に移動した距離</a:t>
            </a:r>
            <a:r>
              <a:rPr kumimoji="1" lang="en-US" altLang="ja-JP" sz="2000"/>
              <a:t>(cm)</a:t>
            </a:r>
            <a:endParaRPr kumimoji="1" lang="ja-JP" altLang="en-US" sz="200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B47F875-36B3-2244-A43B-E8EDBF0ADF25}"/>
              </a:ext>
            </a:extLst>
          </p:cNvPr>
          <p:cNvSpPr txBox="1"/>
          <p:nvPr/>
        </p:nvSpPr>
        <p:spPr>
          <a:xfrm>
            <a:off x="7122160" y="361736"/>
            <a:ext cx="423164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000"/>
              <a:t>線源から平行に移動した距離</a:t>
            </a:r>
            <a:r>
              <a:rPr kumimoji="1" lang="en-US" altLang="ja-JP" sz="2000"/>
              <a:t>(cm)</a:t>
            </a:r>
            <a:endParaRPr kumimoji="1" lang="ja-JP" altLang="en-US" sz="200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4180CD1-EF9E-859A-2A01-8D790AF1698D}"/>
              </a:ext>
            </a:extLst>
          </p:cNvPr>
          <p:cNvSpPr txBox="1"/>
          <p:nvPr/>
        </p:nvSpPr>
        <p:spPr>
          <a:xfrm rot="16200000">
            <a:off x="3971421" y="1875197"/>
            <a:ext cx="3639558" cy="7078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/>
              <a:t>熱中性子フラックス</a:t>
            </a:r>
            <a:endParaRPr kumimoji="1" lang="en-US" altLang="ja-JP" sz="2000"/>
          </a:p>
          <a:p>
            <a:pPr algn="ctr"/>
            <a:r>
              <a:rPr lang="en-US" altLang="ja-JP" sz="2000"/>
              <a:t>(n/(s cm² source neutron))</a:t>
            </a:r>
            <a:endParaRPr kumimoji="1" lang="ja-JP" altLang="en-US" sz="200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572000"/>
          <a:ext cx="47548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游ゴシック"/>
                          <a:ea typeface="游ゴシック"/>
                        </a:rPr>
                        <a:t>検出器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游ゴシック"/>
                          <a:ea typeface="游ゴシック"/>
                        </a:rPr>
                        <a:t>対象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游ゴシック"/>
                          <a:ea typeface="游ゴシック"/>
                        </a:rPr>
                        <a:t>εS_peak [cm²]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游ゴシック"/>
                          <a:ea typeface="游ゴシック"/>
                        </a:rPr>
                        <a:t>熱（裸）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游ゴシック"/>
                          <a:ea typeface="游ゴシック"/>
                        </a:rPr>
                        <a:t>256.3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游ゴシック"/>
                          <a:ea typeface="游ゴシック"/>
                        </a:rPr>
                        <a:t>熱（裸）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游ゴシック"/>
                          <a:ea typeface="游ゴシック"/>
                        </a:rPr>
                        <a:t>70.05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游ゴシック"/>
                          <a:ea typeface="游ゴシック"/>
                        </a:rPr>
                        <a:t>MeV（PE）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游ゴシック"/>
                          <a:ea typeface="游ゴシック"/>
                        </a:rPr>
                        <a:t>178.5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游ゴシック"/>
                          <a:ea typeface="游ゴシック"/>
                        </a:rPr>
                        <a:t>MeV（PE）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游ゴシック"/>
                          <a:ea typeface="游ゴシック"/>
                        </a:rPr>
                        <a:t>27.25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4268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6E01B5-F1AC-CFA4-AABA-DAB60AB41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D2FDB3B-1850-8C06-5CD5-E8CA3A81E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198BE6C-0704-3D63-DFE2-6F7261D54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3896AAE-8B4E-DC61-A3DE-CB375118AB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5000"/>
            </a:schemeClr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kumimoji="1" lang="ja-JP" altLang="en-US" sz="2489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612C6FA3-D680-9646-952F-33CAB85EE27E}"/>
              </a:ext>
            </a:extLst>
          </p:cNvPr>
          <p:cNvSpPr txBox="1">
            <a:spLocks/>
          </p:cNvSpPr>
          <p:nvPr/>
        </p:nvSpPr>
        <p:spPr>
          <a:xfrm>
            <a:off x="1136647" y="2760663"/>
            <a:ext cx="10515600" cy="2094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500" tIns="52733" rIns="105500" bIns="52733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ja-JP" altLang="en-US" sz="7200">
                <a:solidFill>
                  <a:schemeClr val="bg1"/>
                </a:solidFill>
              </a:rPr>
              <a:t>結果</a:t>
            </a:r>
          </a:p>
        </p:txBody>
      </p:sp>
      <p:sp>
        <p:nvSpPr>
          <p:cNvPr id="9" name="タイトル 1">
            <a:extLst>
              <a:ext uri="{FF2B5EF4-FFF2-40B4-BE49-F238E27FC236}">
                <a16:creationId xmlns:a16="http://schemas.microsoft.com/office/drawing/2014/main" id="{DA798477-2FE9-B49A-1F6B-EC6F503C0365}"/>
              </a:ext>
            </a:extLst>
          </p:cNvPr>
          <p:cNvSpPr txBox="1">
            <a:spLocks/>
          </p:cNvSpPr>
          <p:nvPr/>
        </p:nvSpPr>
        <p:spPr>
          <a:xfrm>
            <a:off x="987424" y="152717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500" tIns="52733" rIns="105500" bIns="52733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kumimoji="1" lang="ja-JP" altLang="en-US" sz="2489">
                <a:solidFill>
                  <a:schemeClr val="bg1"/>
                </a:solidFill>
              </a:rPr>
              <a:t>～第ニ章～</a:t>
            </a:r>
          </a:p>
        </p:txBody>
      </p:sp>
    </p:spTree>
    <p:extLst>
      <p:ext uri="{BB962C8B-B14F-4D97-AF65-F5344CB8AC3E}">
        <p14:creationId xmlns:p14="http://schemas.microsoft.com/office/powerpoint/2010/main" val="1927558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C90755-28F0-D857-5F49-57E31637F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游ゴシック"/>
                <a:ea typeface="游ゴシック"/>
              </a:rPr>
              <a:t>結果の予測（減衰の期待）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12B5A73-765B-6D2B-74A9-D71FF8393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wrap="square">
            <a:normAutofit/>
          </a:bodyPr>
          <a:lstStyle/>
          <a:p>
            <a:pPr/>
            <a:r>
              <a:rPr sz="2200" i="0">
                <a:latin typeface="游ゴシック"/>
                <a:ea typeface="游ゴシック"/>
              </a:rPr>
              <a:t>昨年の空気厚での結果を踏まえ、地下でも一次の減衰として</a:t>
            </a:r>
            <a:endParaRPr lang="en-US" altLang="ja-JP" sz="3600">
              <a:ea typeface="游ゴシック"/>
            </a:endParaRPr>
          </a:p>
          <a:p>
            <a:pPr/>
            <a:r>
              <a:rPr sz="2200" i="1">
                <a:latin typeface="游ゴシック"/>
                <a:ea typeface="游ゴシック"/>
              </a:rPr>
              <a:t>　Φ(x) ∝ exp(−x / λ)</a:t>
            </a:r>
          </a:p>
          <a:p>
            <a:pPr/>
            <a:r>
              <a:rPr sz="2200" i="1">
                <a:latin typeface="游ゴシック"/>
                <a:ea typeface="游ゴシック"/>
              </a:rPr>
              <a:t>を期待する（x：深度、λ：平均自由行程）</a:t>
            </a:r>
          </a:p>
          <a:p>
            <a:pPr/>
            <a:r>
              <a:rPr sz="2200" i="0">
                <a:latin typeface="游ゴシック"/>
                <a:ea typeface="游ゴシック"/>
              </a:rPr>
              <a:t/>
            </a:r>
          </a:p>
          <a:p>
            <a:pPr/>
            <a:r>
              <a:rPr sz="2200" i="0">
                <a:latin typeface="游ゴシック"/>
                <a:ea typeface="游ゴシック"/>
              </a:rPr>
              <a:t>次に測定点と等価コンクリート厚を整理し、</a:t>
            </a:r>
          </a:p>
          <a:p>
            <a:pPr/>
            <a:r>
              <a:rPr sz="2200" i="0">
                <a:latin typeface="游ゴシック"/>
                <a:ea typeface="游ゴシック"/>
              </a:rPr>
              <a:t>実測がこの単純減衰からどれだけ外れるかを見る</a:t>
            </a:r>
          </a:p>
          <a:p>
            <a:pPr/>
            <a:r>
              <a:rPr sz="2200" i="0">
                <a:latin typeface="游ゴシック"/>
                <a:ea typeface="游ゴシック"/>
              </a:rPr>
              <a:t>（詳細な予測曲線は結果スライドで一度に示す）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958631D-C9DE-4F6D-23C5-9278119D0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10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587885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B5946-8EC9-76DF-C449-815EF476D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CBE494-1F88-3FC0-8801-24E6A5E4B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実験結果</a:t>
            </a:r>
          </a:p>
        </p:txBody>
      </p:sp>
      <p:pic>
        <p:nvPicPr>
          <p:cNvPr id="42" name="図 41">
            <a:extLst>
              <a:ext uri="{FF2B5EF4-FFF2-40B4-BE49-F238E27FC236}">
                <a16:creationId xmlns:a16="http://schemas.microsoft.com/office/drawing/2014/main" id="{0D58C700-5363-EFE0-5791-3A46F69BC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68" t="5889" b="5142"/>
          <a:stretch>
            <a:fillRect/>
          </a:stretch>
        </p:blipFill>
        <p:spPr>
          <a:xfrm>
            <a:off x="659752" y="2315528"/>
            <a:ext cx="5349240" cy="2938925"/>
          </a:xfrm>
          <a:prstGeom prst="rect">
            <a:avLst/>
          </a:prstGeom>
        </p:spPr>
      </p:pic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3CDB6CEF-E5A2-612B-892E-1E6ADFBC3799}"/>
              </a:ext>
            </a:extLst>
          </p:cNvPr>
          <p:cNvSpPr txBox="1"/>
          <p:nvPr/>
        </p:nvSpPr>
        <p:spPr>
          <a:xfrm>
            <a:off x="2822052" y="5319666"/>
            <a:ext cx="1024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深度</a:t>
            </a:r>
            <a:r>
              <a:rPr kumimoji="1" lang="en-US" altLang="ja-JP"/>
              <a:t>(m)</a:t>
            </a:r>
            <a:endParaRPr kumimoji="1" lang="ja-JP" altLang="en-US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50C78B08-1AAD-03CB-0376-AD5EEE631F9D}"/>
              </a:ext>
            </a:extLst>
          </p:cNvPr>
          <p:cNvSpPr txBox="1"/>
          <p:nvPr/>
        </p:nvSpPr>
        <p:spPr>
          <a:xfrm>
            <a:off x="342364" y="2632167"/>
            <a:ext cx="3173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絶対フラックス</a:t>
            </a:r>
            <a:endParaRPr kumimoji="1" lang="ja-JP" altLang="en-US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7AA613F3-D3C8-2F40-A353-ADCE907F7D78}"/>
              </a:ext>
            </a:extLst>
          </p:cNvPr>
          <p:cNvSpPr txBox="1"/>
          <p:nvPr/>
        </p:nvSpPr>
        <p:spPr>
          <a:xfrm>
            <a:off x="342364" y="2194483"/>
            <a:ext cx="8087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900"/>
              <a:t>(cm</a:t>
            </a:r>
            <a:r>
              <a:rPr kumimoji="1" lang="en-US" altLang="ja-JP" sz="900" baseline="30000"/>
              <a:t>-2</a:t>
            </a:r>
            <a:r>
              <a:rPr kumimoji="1" lang="en-US" altLang="ja-JP" sz="900"/>
              <a:t>s</a:t>
            </a:r>
            <a:r>
              <a:rPr kumimoji="1" lang="en-US" altLang="ja-JP" sz="900" baseline="30000"/>
              <a:t>-1</a:t>
            </a:r>
            <a:r>
              <a:rPr kumimoji="1" lang="en-US" altLang="ja-JP" sz="900"/>
              <a:t>)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40B915E-55B3-CD52-5ABE-218B4E470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756" y="1441381"/>
            <a:ext cx="6069357" cy="4693064"/>
          </a:xfrm>
          <a:prstGeom prst="rect">
            <a:avLst/>
          </a:prstGeom>
        </p:spPr>
      </p:pic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B4C90C-72AC-7D06-5254-ADB8D4C41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698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D21E03B-1054-15D5-20F8-5079B19FC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91D656-D60F-C82C-20AC-840376CE9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実験結果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BD207FA-196A-AA5A-84B4-5F3C908527C3}"/>
              </a:ext>
            </a:extLst>
          </p:cNvPr>
          <p:cNvSpPr txBox="1"/>
          <p:nvPr/>
        </p:nvSpPr>
        <p:spPr>
          <a:xfrm>
            <a:off x="2205318" y="3012141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測定点の情報</a:t>
            </a:r>
            <a:endParaRPr kumimoji="1" lang="en-US" altLang="ja-JP"/>
          </a:p>
          <a:p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8DAEC6C4-B721-B3C4-6FF2-87423C298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128" y="1104822"/>
            <a:ext cx="7772400" cy="5753178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C52F624-F734-8B82-88AA-D061442FF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12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19716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658368" cy="65836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1325880" y="32918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err="1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密度を消す</a:t>
            </a:r>
            <a:r>
              <a:rPr lang="en-US" sz="2800" b="1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(</a:t>
            </a:r>
            <a:r>
              <a:rPr lang="en-US" sz="2800" b="1" err="1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重量厚さ</a:t>
            </a:r>
            <a:r>
              <a:rPr lang="en-US" sz="2800" b="1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g/cm</a:t>
            </a:r>
            <a:r>
              <a:rPr lang="en-US" sz="2800" b="1" baseline="3000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r>
              <a:rPr lang="en-US" sz="2800" b="1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)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1325880" y="78638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err="1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コンクリート</a:t>
            </a:r>
            <a:r>
              <a:rPr lang="en-US" sz="1400" i="1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100 cm と 土 100 </a:t>
            </a:r>
            <a:r>
              <a:rPr lang="en-US" sz="1400" i="1" err="1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cm、どちらが中性子をよく止めるか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6766560" cy="4343400"/>
          </a:xfrm>
          <a:prstGeom prst="roundRect">
            <a:avLst>
              <a:gd name="adj" fmla="val 1263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77240" y="157276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中性子が減るのは、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2833635" y="1523883"/>
            <a:ext cx="173736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ja-JP" sz="130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原子核</a:t>
            </a:r>
            <a:endParaRPr lang="ja-JP"/>
          </a:p>
        </p:txBody>
      </p:sp>
      <p:sp>
        <p:nvSpPr>
          <p:cNvPr id="10" name="Text 8"/>
          <p:cNvSpPr/>
          <p:nvPr/>
        </p:nvSpPr>
        <p:spPr>
          <a:xfrm>
            <a:off x="5074920" y="15727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と反応するから。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777240" y="21945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反応の起こりやすさは、通り道にある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4251960" y="2133868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ja-JP" sz="130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原子核</a:t>
            </a:r>
            <a:endParaRPr lang="ja-JP"/>
          </a:p>
        </p:txBody>
      </p:sp>
      <p:sp>
        <p:nvSpPr>
          <p:cNvPr id="13" name="Text 11"/>
          <p:cNvSpPr/>
          <p:nvPr/>
        </p:nvSpPr>
        <p:spPr>
          <a:xfrm>
            <a:off x="6446520" y="21945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の個数。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777240" y="278892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単位面積あたりの個数 ∝ 密度 × 厚さ ≡ 質量厚さ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777240" y="32461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  式で書くと  X =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2834640" y="3256018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ja-JP" sz="130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ρ × t</a:t>
            </a:r>
            <a:endParaRPr lang="ja-JP"/>
          </a:p>
        </p:txBody>
      </p:sp>
      <p:sp>
        <p:nvSpPr>
          <p:cNvPr id="17" name="Text 15"/>
          <p:cNvSpPr/>
          <p:nvPr/>
        </p:nvSpPr>
        <p:spPr>
          <a:xfrm>
            <a:off x="4297680" y="324612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単位は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5029200" y="3246120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ja-JP" sz="130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g/cm²</a:t>
            </a:r>
            <a:endParaRPr lang="ja-JP"/>
          </a:p>
        </p:txBody>
      </p:sp>
      <p:sp>
        <p:nvSpPr>
          <p:cNvPr id="19" name="Text 17"/>
          <p:cNvSpPr/>
          <p:nvPr/>
        </p:nvSpPr>
        <p:spPr>
          <a:xfrm>
            <a:off x="777240" y="38862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コンクリート  ρ = 2.3 g/cm³ × 100 cm =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4912388" y="3849624"/>
            <a:ext cx="109728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ja-JP" sz="130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230</a:t>
            </a:r>
            <a:endParaRPr lang="ja-JP"/>
          </a:p>
        </p:txBody>
      </p:sp>
      <p:sp>
        <p:nvSpPr>
          <p:cNvPr id="21" name="Text 19"/>
          <p:cNvSpPr/>
          <p:nvPr/>
        </p:nvSpPr>
        <p:spPr>
          <a:xfrm>
            <a:off x="6446520" y="38862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g/cm²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777240" y="448056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土  ρ = 1.9 g/cm³ ×</a:t>
            </a:r>
            <a:endParaRPr lang="en-US" sz="1300"/>
          </a:p>
        </p:txBody>
      </p:sp>
      <p:sp>
        <p:nvSpPr>
          <p:cNvPr id="23" name="Shape 21"/>
          <p:cNvSpPr/>
          <p:nvPr/>
        </p:nvSpPr>
        <p:spPr>
          <a:xfrm>
            <a:off x="3088361" y="4472170"/>
            <a:ext cx="109728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ja-JP" sz="130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121</a:t>
            </a:r>
            <a:endParaRPr lang="ja-JP"/>
          </a:p>
        </p:txBody>
      </p:sp>
      <p:sp>
        <p:nvSpPr>
          <p:cNvPr id="24" name="Text 22"/>
          <p:cNvSpPr/>
          <p:nvPr/>
        </p:nvSpPr>
        <p:spPr>
          <a:xfrm>
            <a:off x="4572000" y="44805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cm で同じ値になる。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777240" y="51023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⑥ 結論：密度の違いは</a:t>
            </a:r>
            <a:endParaRPr lang="en-US" sz="1300"/>
          </a:p>
        </p:txBody>
      </p:sp>
      <p:sp>
        <p:nvSpPr>
          <p:cNvPr id="26" name="Shape 24"/>
          <p:cNvSpPr/>
          <p:nvPr/>
        </p:nvSpPr>
        <p:spPr>
          <a:xfrm>
            <a:off x="2925075" y="5077432"/>
            <a:ext cx="16459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ja-JP" sz="130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質量厚さ</a:t>
            </a:r>
            <a:endParaRPr lang="ja-JP"/>
          </a:p>
        </p:txBody>
      </p:sp>
      <p:sp>
        <p:nvSpPr>
          <p:cNvPr id="27" name="Text 25"/>
          <p:cNvSpPr/>
          <p:nvPr/>
        </p:nvSpPr>
        <p:spPr>
          <a:xfrm>
            <a:off x="5010912" y="51023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を使えば自動的に消える。</a:t>
            </a:r>
            <a:endParaRPr lang="en-US" sz="1200"/>
          </a:p>
        </p:txBody>
      </p:sp>
      <p:sp>
        <p:nvSpPr>
          <p:cNvPr id="28" name="Shape 26"/>
          <p:cNvSpPr/>
          <p:nvPr/>
        </p:nvSpPr>
        <p:spPr>
          <a:xfrm>
            <a:off x="7635240" y="1325880"/>
            <a:ext cx="4023360" cy="434340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7635240" y="1325880"/>
            <a:ext cx="4023360" cy="434340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254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7818120" y="15361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同じ質量厚さ = 同じ止め方</a:t>
            </a:r>
            <a:endParaRPr lang="en-US" sz="1300"/>
          </a:p>
        </p:txBody>
      </p:sp>
      <p:sp>
        <p:nvSpPr>
          <p:cNvPr id="31" name="Shape 29"/>
          <p:cNvSpPr/>
          <p:nvPr/>
        </p:nvSpPr>
        <p:spPr>
          <a:xfrm>
            <a:off x="8503920" y="2697480"/>
            <a:ext cx="1051560" cy="20116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30"/>
          <p:cNvSpPr/>
          <p:nvPr/>
        </p:nvSpPr>
        <p:spPr>
          <a:xfrm>
            <a:off x="8275320" y="2971800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コンクリート</a:t>
            </a:r>
            <a:endParaRPr lang="en-US" sz="110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0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ρ = 2.3</a:t>
            </a:r>
            <a:endParaRPr lang="en-US" sz="110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0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 cm</a:t>
            </a:r>
            <a:endParaRPr lang="en-US" sz="1100"/>
          </a:p>
        </p:txBody>
      </p:sp>
      <p:sp>
        <p:nvSpPr>
          <p:cNvPr id="33" name="Shape 31"/>
          <p:cNvSpPr/>
          <p:nvPr/>
        </p:nvSpPr>
        <p:spPr>
          <a:xfrm>
            <a:off x="9921240" y="2368296"/>
            <a:ext cx="1051560" cy="2340864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9692640" y="2807208"/>
            <a:ext cx="1508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</a:t>
            </a:r>
            <a:endParaRPr lang="en-US" sz="110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0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ρ = 1.9</a:t>
            </a:r>
            <a:endParaRPr lang="en-US" sz="110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0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121 cm</a:t>
            </a:r>
            <a:endParaRPr lang="en-US" sz="1100"/>
          </a:p>
        </p:txBody>
      </p:sp>
      <p:sp>
        <p:nvSpPr>
          <p:cNvPr id="35" name="Shape 33"/>
          <p:cNvSpPr/>
          <p:nvPr/>
        </p:nvSpPr>
        <p:spPr>
          <a:xfrm>
            <a:off x="8229600" y="4709160"/>
            <a:ext cx="3017520" cy="0"/>
          </a:xfrm>
          <a:prstGeom prst="line">
            <a:avLst/>
          </a:prstGeom>
          <a:noFill/>
          <a:ln w="19050">
            <a:solidFill>
              <a:srgbClr val="2E2A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7818120" y="491947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7A73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厚さは違っても、通り道の原子核の数は同じ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947837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658368" cy="65836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1325880" y="32918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元素が違うとどうなるか</a:t>
            </a:r>
            <a:endParaRPr lang="en-US" sz="280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6035040" cy="2788920"/>
          </a:xfrm>
          <a:prstGeom prst="roundRect">
            <a:avLst>
              <a:gd name="adj" fmla="val 1967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7A73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原子核を「的」と見なすと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777240" y="184708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断面積 ∝ 半径² ∝ A^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2697480" y="1847088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ja-JP" sz="130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2/3</a:t>
            </a:r>
            <a:endParaRPr lang="ja-JP"/>
          </a:p>
        </p:txBody>
      </p:sp>
      <p:sp>
        <p:nvSpPr>
          <p:cNvPr id="11" name="Text 9"/>
          <p:cNvSpPr/>
          <p:nvPr/>
        </p:nvSpPr>
        <p:spPr>
          <a:xfrm>
            <a:off x="777240" y="228600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7A73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  経験式：σ ≈ 45 × A^0.7  [mb]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777240" y="27432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7A73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平均自由行程に直すと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777240" y="31272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λ [g/cm²] = A / (N_A σ) =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3977640" y="3127248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ja-JP" sz="130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37</a:t>
            </a:r>
            <a:endParaRPr lang="ja-JP"/>
          </a:p>
        </p:txBody>
      </p:sp>
      <p:sp>
        <p:nvSpPr>
          <p:cNvPr id="15" name="Text 13"/>
          <p:cNvSpPr/>
          <p:nvPr/>
        </p:nvSpPr>
        <p:spPr>
          <a:xfrm>
            <a:off x="4892040" y="31272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× A^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5448021" y="3127248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ja-JP" sz="130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0.3</a:t>
            </a:r>
            <a:endParaRPr lang="ja-JP"/>
          </a:p>
        </p:txBody>
      </p:sp>
      <p:sp>
        <p:nvSpPr>
          <p:cNvPr id="17" name="Text 15"/>
          <p:cNvSpPr/>
          <p:nvPr/>
        </p:nvSpPr>
        <p:spPr>
          <a:xfrm>
            <a:off x="777240" y="35844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7A73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この2つの数字を、上の σ の式から自分で導くこと。</a:t>
            </a:r>
            <a:endParaRPr lang="en-US" sz="110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6903720" y="1325880"/>
          <a:ext cx="4754880" cy="248716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元素</a:t>
                      </a:r>
                      <a:endParaRPr lang="en-US" sz="120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</a:t>
                      </a:r>
                      <a:endParaRPr lang="en-US" sz="120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λ [g/cm²]</a:t>
                      </a:r>
                      <a:endParaRPr lang="en-US" sz="120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</a:t>
                      </a:r>
                      <a:endParaRPr lang="en-US" sz="120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20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42</a:t>
                      </a:r>
                      <a:endParaRPr lang="en-US" sz="120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</a:t>
                      </a:r>
                      <a:endParaRPr lang="en-US" sz="120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</a:t>
                      </a:r>
                      <a:endParaRPr lang="en-US" sz="120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200" b="1">
                          <a:solidFill>
                            <a:srgbClr val="C0392B"/>
                          </a:solidFill>
                          <a:latin typeface="Meiryo" pitchFamily="34"/>
                          <a:ea typeface="Meiryo" pitchFamily="34"/>
                          <a:cs typeface="Meiryo" pitchFamily="34"/>
                        </a:rPr>
                        <a:t>78</a:t>
                      </a:r>
                      <a:endParaRPr lang="ja-JP"/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</a:t>
                      </a:r>
                      <a:endParaRPr lang="en-US" sz="120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16</a:t>
                      </a:r>
                      <a:endParaRPr lang="en-US" sz="120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85</a:t>
                      </a:r>
                      <a:endParaRPr lang="en-US" sz="120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Si</a:t>
                      </a:r>
                      <a:endParaRPr lang="en-US" sz="120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28</a:t>
                      </a:r>
                      <a:endParaRPr lang="en-US" sz="120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200" b="1">
                          <a:solidFill>
                            <a:srgbClr val="C0392B"/>
                          </a:solidFill>
                          <a:latin typeface="Meiryo" pitchFamily="34"/>
                          <a:ea typeface="Meiryo" pitchFamily="34"/>
                          <a:cs typeface="Meiryo" pitchFamily="34"/>
                        </a:rPr>
                        <a:t>100</a:t>
                      </a:r>
                      <a:endParaRPr lang="ja-JP"/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Ca</a:t>
                      </a:r>
                      <a:endParaRPr lang="en-US" sz="120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</a:t>
                      </a:r>
                      <a:endParaRPr lang="en-US" sz="120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112</a:t>
                      </a:r>
                      <a:endParaRPr lang="en-US" sz="120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Fe</a:t>
                      </a:r>
                      <a:endParaRPr lang="en-US" sz="120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56</a:t>
                      </a:r>
                      <a:endParaRPr lang="en-US" sz="120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200" b="1">
                          <a:solidFill>
                            <a:srgbClr val="C0392B"/>
                          </a:solidFill>
                          <a:latin typeface="Meiryo" pitchFamily="34"/>
                          <a:ea typeface="Meiryo" pitchFamily="34"/>
                          <a:cs typeface="Meiryo" pitchFamily="34"/>
                        </a:rPr>
                        <a:t>123</a:t>
                      </a:r>
                      <a:endParaRPr lang="ja-JP"/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Pb</a:t>
                      </a:r>
                      <a:endParaRPr lang="en-US" sz="120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207</a:t>
                      </a:r>
                      <a:endParaRPr lang="en-US" sz="120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183</a:t>
                      </a:r>
                      <a:endParaRPr lang="en-US" sz="120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02920" y="4297680"/>
            <a:ext cx="11155680" cy="1691640"/>
          </a:xfrm>
          <a:prstGeom prst="roundRect">
            <a:avLst>
              <a:gd name="adj" fmla="val 3243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7"/>
          <p:cNvSpPr/>
          <p:nvPr/>
        </p:nvSpPr>
        <p:spPr>
          <a:xfrm>
            <a:off x="777240" y="44805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 が</a:t>
            </a:r>
            <a:endParaRPr lang="en-US" sz="1300"/>
          </a:p>
        </p:txBody>
      </p:sp>
      <p:sp>
        <p:nvSpPr>
          <p:cNvPr id="21" name="Shape 18"/>
          <p:cNvSpPr/>
          <p:nvPr/>
        </p:nvSpPr>
        <p:spPr>
          <a:xfrm>
            <a:off x="2331720" y="4480560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ja-JP" sz="130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200</a:t>
            </a:r>
            <a:endParaRPr lang="ja-JP"/>
          </a:p>
        </p:txBody>
      </p:sp>
      <p:sp>
        <p:nvSpPr>
          <p:cNvPr id="22" name="Text 19"/>
          <p:cNvSpPr/>
          <p:nvPr/>
        </p:nvSpPr>
        <p:spPr>
          <a:xfrm>
            <a:off x="3337560" y="44805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倍 変わっても、λ は</a:t>
            </a:r>
            <a:endParaRPr lang="en-US" sz="1300"/>
          </a:p>
        </p:txBody>
      </p:sp>
      <p:sp>
        <p:nvSpPr>
          <p:cNvPr id="23" name="Shape 20"/>
          <p:cNvSpPr/>
          <p:nvPr/>
        </p:nvSpPr>
        <p:spPr>
          <a:xfrm>
            <a:off x="5623560" y="4480560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ja-JP" sz="130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4</a:t>
            </a:r>
            <a:endParaRPr lang="ja-JP"/>
          </a:p>
        </p:txBody>
      </p:sp>
      <p:sp>
        <p:nvSpPr>
          <p:cNvPr id="24" name="Text 21"/>
          <p:cNvSpPr/>
          <p:nvPr/>
        </p:nvSpPr>
        <p:spPr>
          <a:xfrm>
            <a:off x="6629400" y="44805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倍しか変わらない。</a:t>
            </a:r>
            <a:endParaRPr lang="en-US" sz="1300"/>
          </a:p>
        </p:txBody>
      </p:sp>
      <p:sp>
        <p:nvSpPr>
          <p:cNvPr id="25" name="Text 22"/>
          <p:cNvSpPr/>
          <p:nvPr/>
        </p:nvSpPr>
        <p:spPr>
          <a:xfrm>
            <a:off x="777240" y="49560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原子核が大きいほど的も大きいが、その分1個あたりの質量も重い。両者が打ち消し合う。</a:t>
            </a:r>
            <a:endParaRPr lang="en-US" sz="1200"/>
          </a:p>
        </p:txBody>
      </p:sp>
      <p:sp>
        <p:nvSpPr>
          <p:cNvPr id="26" name="Text 23"/>
          <p:cNvSpPr/>
          <p:nvPr/>
        </p:nvSpPr>
        <p:spPr>
          <a:xfrm>
            <a:off x="777240" y="535838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表の λ を A </a:t>
            </a:r>
            <a:r>
              <a:rPr lang="en-US" sz="1200" err="1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に対して片対数プロットし、ほとんど寝た直線になることを確かめる</a:t>
            </a:r>
            <a:r>
              <a:rPr lang="en-US" sz="120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</a:t>
            </a:r>
            <a:endParaRPr lang="en-US" sz="120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F1141FEA-CF57-3DAB-E51D-37205C8A4A85}"/>
              </a:ext>
            </a:extLst>
          </p:cNvPr>
          <p:cNvSpPr txBox="1"/>
          <p:nvPr/>
        </p:nvSpPr>
        <p:spPr>
          <a:xfrm>
            <a:off x="460495" y="6008102"/>
            <a:ext cx="117315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ja-JP" altLang="en-US" sz="1100"/>
              <a:t>単位体積あたり </a:t>
            </a:r>
            <a:r>
              <a:rPr lang="en-US" altLang="ja-JP" sz="1100"/>
              <a:t>n [cm⁻³] </a:t>
            </a:r>
            <a:r>
              <a:rPr lang="ja-JP" altLang="en-US" sz="1100"/>
              <a:t>の原子核が断面積 </a:t>
            </a:r>
            <a:r>
              <a:rPr lang="el-GR" altLang="ja-JP" sz="1100"/>
              <a:t>σ [</a:t>
            </a:r>
            <a:r>
              <a:rPr lang="en-US" altLang="ja-JP" sz="1100"/>
              <a:t>cm²] </a:t>
            </a:r>
            <a:r>
              <a:rPr lang="ja-JP" altLang="en-US" sz="1100"/>
              <a:t>を持つとき、厚さ </a:t>
            </a:r>
            <a:r>
              <a:rPr lang="el-GR" altLang="ja-JP" sz="1100"/>
              <a:t>λ </a:t>
            </a:r>
            <a:r>
              <a:rPr lang="ja-JP" altLang="en-US" sz="1100"/>
              <a:t>の板を正面から見ると、的の総面積は </a:t>
            </a:r>
            <a:r>
              <a:rPr lang="en-US" altLang="ja-JP" sz="1100"/>
              <a:t>n </a:t>
            </a:r>
            <a:r>
              <a:rPr lang="el-GR" altLang="ja-JP" sz="1100"/>
              <a:t>σ λ</a:t>
            </a:r>
            <a:r>
              <a:rPr lang="ja-JP" altLang="el-GR" sz="1100"/>
              <a:t>（</a:t>
            </a:r>
            <a:r>
              <a:rPr lang="ja-JP" altLang="en-US" sz="1100"/>
              <a:t>単位面積あたり）になります。これが </a:t>
            </a:r>
            <a:r>
              <a:rPr lang="en-US" altLang="ja-JP" sz="1100"/>
              <a:t>1 </a:t>
            </a:r>
            <a:r>
              <a:rPr lang="ja-JP" altLang="en-US" sz="1100"/>
              <a:t>になる厚さが平均自由行程で、</a:t>
            </a:r>
          </a:p>
          <a:p>
            <a:pPr rtl="0">
              <a:buNone/>
            </a:pPr>
            <a:r>
              <a:rPr lang="el-GR" altLang="ja-JP" sz="1100"/>
              <a:t>λ = 1/(</a:t>
            </a:r>
            <a:r>
              <a:rPr lang="en-US" altLang="ja-JP" sz="1100"/>
              <a:t>n</a:t>
            </a:r>
            <a:r>
              <a:rPr lang="el-GR" altLang="ja-JP" sz="1100"/>
              <a:t>σ) [</a:t>
            </a:r>
            <a:r>
              <a:rPr lang="en-US" altLang="ja-JP" sz="1100"/>
              <a:t>cm]</a:t>
            </a:r>
          </a:p>
          <a:p>
            <a:pPr rtl="0">
              <a:buNone/>
            </a:pPr>
            <a:r>
              <a:rPr lang="ja-JP" altLang="en-US" sz="1100"/>
              <a:t>質量厚さに直すと </a:t>
            </a:r>
            <a:r>
              <a:rPr lang="el-GR" altLang="ja-JP" sz="1100" err="1"/>
              <a:t>ρλ</a:t>
            </a:r>
            <a:r>
              <a:rPr lang="el-GR" altLang="ja-JP" sz="1100"/>
              <a:t> = ρ/(</a:t>
            </a:r>
            <a:r>
              <a:rPr lang="en-US" altLang="ja-JP" sz="1100"/>
              <a:t>n</a:t>
            </a:r>
            <a:r>
              <a:rPr lang="el-GR" altLang="ja-JP" sz="1100"/>
              <a:t>σ) </a:t>
            </a:r>
            <a:r>
              <a:rPr lang="ja-JP" altLang="en-US" sz="1100"/>
              <a:t>で、</a:t>
            </a:r>
            <a:r>
              <a:rPr lang="en-US" altLang="ja-JP" sz="1100"/>
              <a:t>n = </a:t>
            </a:r>
            <a:r>
              <a:rPr lang="el-GR" altLang="ja-JP" sz="1100"/>
              <a:t>ρ</a:t>
            </a:r>
            <a:r>
              <a:rPr lang="en-US" altLang="ja-JP" sz="1100"/>
              <a:t>N_A/A </a:t>
            </a:r>
            <a:r>
              <a:rPr lang="ja-JP" altLang="en-US" sz="1100"/>
              <a:t>を入れれば </a:t>
            </a:r>
            <a:r>
              <a:rPr lang="el-GR" altLang="ja-JP" sz="1100"/>
              <a:t>ρ </a:t>
            </a:r>
            <a:r>
              <a:rPr lang="ja-JP" altLang="en-US" sz="1100"/>
              <a:t>が消えて</a:t>
            </a:r>
          </a:p>
          <a:p>
            <a:pPr rtl="0">
              <a:buNone/>
            </a:pPr>
            <a:r>
              <a:rPr lang="el-GR" altLang="ja-JP" sz="1100"/>
              <a:t>λ = </a:t>
            </a:r>
            <a:r>
              <a:rPr lang="en-US" altLang="ja-JP" sz="1100"/>
              <a:t>A/(N_A </a:t>
            </a:r>
            <a:r>
              <a:rPr lang="el-GR" altLang="ja-JP" sz="1100"/>
              <a:t>σ) [</a:t>
            </a:r>
            <a:r>
              <a:rPr lang="en-US" altLang="ja-JP" sz="1100"/>
              <a:t>g/cm²]</a:t>
            </a:r>
          </a:p>
        </p:txBody>
      </p:sp>
    </p:spTree>
    <p:extLst>
      <p:ext uri="{BB962C8B-B14F-4D97-AF65-F5344CB8AC3E}">
        <p14:creationId xmlns:p14="http://schemas.microsoft.com/office/powerpoint/2010/main" val="2121351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658368" cy="65836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1325880" y="32918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実際の組成で確かめる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1325880" y="78638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err="1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コンクリートと土は、どのくらい違う物質</a:t>
            </a:r>
            <a:r>
              <a:rPr lang="en-US" sz="1400" i="1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400" i="1" err="1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</a:t>
            </a:r>
            <a:endParaRPr lang="en-US" sz="1400" i="1">
              <a:solidFill>
                <a:srgbClr val="B85042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77240" y="14904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混合則：  1 / λ  =  Σ  wᵢ / λᵢ         （wᵢ は元素 i の質量分率、λᵢ は第2段階の表の値）</a:t>
            </a:r>
            <a:endParaRPr lang="en-US" sz="140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02920" y="2240280"/>
          <a:ext cx="11155680" cy="168249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主な組成（質量分率）</a:t>
                      </a:r>
                      <a:endParaRPr lang="en-US" sz="120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λ [g/cm²]</a:t>
                      </a:r>
                      <a:endParaRPr lang="en-US" sz="120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コンクリート</a:t>
                      </a:r>
                      <a:endParaRPr lang="en-US" sz="120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 53% / Si 34% / Ca 4% / Al 3% / H 1%</a:t>
                      </a:r>
                      <a:endParaRPr lang="en-US" sz="120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200" b="1">
                          <a:solidFill>
                            <a:srgbClr val="C0392B"/>
                          </a:solidFill>
                          <a:latin typeface="Meiryo" pitchFamily="34"/>
                          <a:ea typeface="Meiryo" pitchFamily="34"/>
                          <a:cs typeface="Meiryo" pitchFamily="34"/>
                        </a:rPr>
                        <a:t>92</a:t>
                      </a:r>
                      <a:endParaRPr lang="ja-JP"/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土</a:t>
                      </a:r>
                      <a:endParaRPr lang="en-US" sz="120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 50% / Si 27% / Al 7% / Fe 4% / H 2%</a:t>
                      </a:r>
                      <a:endParaRPr lang="en-US" sz="120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200" b="1">
                          <a:solidFill>
                            <a:srgbClr val="C0392B"/>
                          </a:solidFill>
                          <a:latin typeface="Meiryo" pitchFamily="34"/>
                          <a:ea typeface="Meiryo" pitchFamily="34"/>
                          <a:cs typeface="Meiryo" pitchFamily="34"/>
                        </a:rPr>
                        <a:t>93</a:t>
                      </a:r>
                      <a:endParaRPr lang="ja-JP"/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>
                          <a:solidFill>
                            <a:srgbClr val="2E2A26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差</a:t>
                      </a:r>
                      <a:endParaRPr lang="en-US" sz="120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200" b="1">
                          <a:solidFill>
                            <a:srgbClr val="C0392B"/>
                          </a:solidFill>
                          <a:latin typeface="Meiryo" pitchFamily="34"/>
                          <a:ea typeface="Meiryo" pitchFamily="34"/>
                          <a:cs typeface="Meiryo" pitchFamily="34"/>
                        </a:rPr>
                        <a:t>1</a:t>
                      </a:r>
                      <a:endParaRPr lang="ja-JP"/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sz="1200" b="1">
                          <a:solidFill>
                            <a:srgbClr val="C0392B"/>
                          </a:solidFill>
                          <a:latin typeface="Meiryo" pitchFamily="34"/>
                          <a:ea typeface="Meiryo" pitchFamily="34"/>
                          <a:cs typeface="Meiryo" pitchFamily="34"/>
                        </a:rPr>
                        <a:t>1%</a:t>
                      </a:r>
                      <a:endParaRPr lang="ja-JP"/>
                    </a:p>
                  </a:txBody>
                  <a:tcPr anchor="ctr">
                    <a:lnL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9006840" y="39319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A73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3行目は上の2つの差を % で。</a:t>
            </a:r>
            <a:endParaRPr lang="en-US" sz="1000"/>
          </a:p>
        </p:txBody>
      </p:sp>
      <p:sp>
        <p:nvSpPr>
          <p:cNvPr id="11" name="Shape 8"/>
          <p:cNvSpPr/>
          <p:nvPr/>
        </p:nvSpPr>
        <p:spPr>
          <a:xfrm>
            <a:off x="502920" y="4343400"/>
            <a:ext cx="11155680" cy="1691640"/>
          </a:xfrm>
          <a:prstGeom prst="roundRect">
            <a:avLst>
              <a:gd name="adj" fmla="val 3243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777240" y="45262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結論：どちらも</a:t>
            </a:r>
            <a:endParaRPr lang="en-US" sz="1300"/>
          </a:p>
        </p:txBody>
      </p:sp>
      <p:sp>
        <p:nvSpPr>
          <p:cNvPr id="13" name="Shape 10"/>
          <p:cNvSpPr/>
          <p:nvPr/>
        </p:nvSpPr>
        <p:spPr>
          <a:xfrm>
            <a:off x="2514600" y="4526280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ja-JP" sz="130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酸素</a:t>
            </a:r>
            <a:endParaRPr lang="ja-JP"/>
          </a:p>
        </p:txBody>
      </p:sp>
      <p:sp>
        <p:nvSpPr>
          <p:cNvPr id="14" name="Text 11"/>
          <p:cNvSpPr/>
          <p:nvPr/>
        </p:nvSpPr>
        <p:spPr>
          <a:xfrm>
            <a:off x="3886200" y="452628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</a:t>
            </a:r>
            <a:endParaRPr lang="en-US" sz="1300"/>
          </a:p>
        </p:txBody>
      </p:sp>
      <p:sp>
        <p:nvSpPr>
          <p:cNvPr id="15" name="Shape 12"/>
          <p:cNvSpPr/>
          <p:nvPr/>
        </p:nvSpPr>
        <p:spPr>
          <a:xfrm>
            <a:off x="4251960" y="4526280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ja-JP" sz="130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ケイ素</a:t>
            </a:r>
            <a:endParaRPr lang="ja-JP"/>
          </a:p>
        </p:txBody>
      </p:sp>
      <p:sp>
        <p:nvSpPr>
          <p:cNvPr id="16" name="Text 13"/>
          <p:cNvSpPr/>
          <p:nvPr/>
        </p:nvSpPr>
        <p:spPr>
          <a:xfrm>
            <a:off x="5623560" y="45262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の酸化物であり、組成そのものがほぼ同じ。</a:t>
            </a:r>
            <a:endParaRPr lang="en-US" sz="1300"/>
          </a:p>
        </p:txBody>
      </p:sp>
      <p:sp>
        <p:nvSpPr>
          <p:cNvPr id="17" name="Text 14"/>
          <p:cNvSpPr/>
          <p:nvPr/>
        </p:nvSpPr>
        <p:spPr>
          <a:xfrm>
            <a:off x="777240" y="4983480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第2段階で「元素にあまり依らない」ことを確かめた上に、そもそも組成が似ている。</a:t>
            </a:r>
            <a:endParaRPr lang="en-US" sz="1200"/>
          </a:p>
        </p:txBody>
      </p:sp>
      <p:sp>
        <p:nvSpPr>
          <p:cNvPr id="18" name="Text 15"/>
          <p:cNvSpPr/>
          <p:nvPr/>
        </p:nvSpPr>
        <p:spPr>
          <a:xfrm>
            <a:off x="777240" y="538581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したがって（コンクリート厚, 土厚）の2つの数を、質量厚さという1つの数にまとめてよい。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800542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658368" cy="65836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1325880" y="32918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仮定をデータで検証する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1325880" y="78638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1次元化してよいという仮定は、測定データ自身で確かめられるか？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6675120" cy="3246120"/>
          </a:xfrm>
          <a:prstGeom prst="roundRect">
            <a:avLst>
              <a:gd name="adj" fmla="val 1690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7A73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1次元化の式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 = ρ(コンクリート) × t(コンクリート) + ρ(土) × t(土)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Linac (a)   コンクリート 250 cm  →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5166360" y="2377440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ja-JP" sz="130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575</a:t>
            </a:r>
            <a:endParaRPr lang="ja-JP"/>
          </a:p>
        </p:txBody>
      </p:sp>
      <p:sp>
        <p:nvSpPr>
          <p:cNvPr id="12" name="Text 10"/>
          <p:cNvSpPr/>
          <p:nvPr/>
        </p:nvSpPr>
        <p:spPr>
          <a:xfrm>
            <a:off x="6245352" y="23774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g/cm²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777240" y="28803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Linac (b)   土 250 cm ＋ コンクリート 150 cm  →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5166360" y="2880360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ja-JP" sz="130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820</a:t>
            </a:r>
            <a:endParaRPr lang="ja-JP"/>
          </a:p>
        </p:txBody>
      </p:sp>
      <p:sp>
        <p:nvSpPr>
          <p:cNvPr id="15" name="Text 13"/>
          <p:cNvSpPr/>
          <p:nvPr/>
        </p:nvSpPr>
        <p:spPr>
          <a:xfrm>
            <a:off x="6245352" y="28803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g/cm²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777240" y="347472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7A73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(a) は純コンクリート、(b) は土とコンクリートの混合。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777240" y="384048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7A73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1次元化が誤っていれば、この2点は系統的にずれるはず。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7543800" y="1325880"/>
            <a:ext cx="411480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54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7726680" y="1444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2点は同じ直線に乗るか？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8366760" y="1920240"/>
            <a:ext cx="0" cy="2148840"/>
          </a:xfrm>
          <a:prstGeom prst="line">
            <a:avLst/>
          </a:prstGeom>
          <a:noFill/>
          <a:ln w="19050">
            <a:solidFill>
              <a:srgbClr val="2E2A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8366760" y="4069080"/>
            <a:ext cx="2926080" cy="0"/>
          </a:xfrm>
          <a:prstGeom prst="line">
            <a:avLst/>
          </a:prstGeom>
          <a:noFill/>
          <a:ln w="19050">
            <a:solidFill>
              <a:srgbClr val="2E2A2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7607808" y="1920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7A73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log Φ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877824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7A73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質量厚さ [g/cm²]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8641080" y="2148840"/>
            <a:ext cx="2331720" cy="1600200"/>
          </a:xfrm>
          <a:prstGeom prst="line">
            <a:avLst/>
          </a:prstGeom>
          <a:noFill/>
          <a:ln w="25400">
            <a:solidFill>
              <a:srgbClr val="A7BEAE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9015984" y="2514600"/>
            <a:ext cx="155448" cy="1554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9619488" y="2926080"/>
            <a:ext cx="155448" cy="15544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8732520" y="22128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(a)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9802368" y="28346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(b)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502920" y="4754880"/>
            <a:ext cx="11155680" cy="1280160"/>
          </a:xfrm>
          <a:prstGeom prst="roundRect">
            <a:avLst>
              <a:gd name="adj" fmla="val 4286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777240" y="4892040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注意：水素だけは λ が飛び抜けて小さい（約 42 g/cm²）。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777240" y="53035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土の含水率は、グラフの傾きには効かないが</a:t>
            </a:r>
            <a:endParaRPr lang="en-US" sz="1200"/>
          </a:p>
        </p:txBody>
      </p:sp>
      <p:sp>
        <p:nvSpPr>
          <p:cNvPr id="33" name="Shape 31"/>
          <p:cNvSpPr/>
          <p:nvPr/>
        </p:nvSpPr>
        <p:spPr>
          <a:xfrm>
            <a:off x="5532120" y="5303520"/>
            <a:ext cx="219456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ja-JP" sz="1100" b="1">
                <a:solidFill>
                  <a:srgbClr val="C0392B"/>
                </a:solidFill>
                <a:latin typeface="Meiryo" pitchFamily="34"/>
                <a:ea typeface="Meiryo" pitchFamily="34"/>
                <a:cs typeface="Meiryo" pitchFamily="34"/>
              </a:rPr>
              <a:t>各点での MeV・熱中性子の生成量</a:t>
            </a:r>
            <a:endParaRPr lang="ja-JP"/>
          </a:p>
        </p:txBody>
      </p:sp>
      <p:sp>
        <p:nvSpPr>
          <p:cNvPr id="34" name="Text 32"/>
          <p:cNvSpPr/>
          <p:nvPr/>
        </p:nvSpPr>
        <p:spPr>
          <a:xfrm>
            <a:off x="7818120" y="53035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2E2A2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には効く。</a:t>
            </a:r>
            <a:endParaRPr lang="en-US" sz="1200"/>
          </a:p>
        </p:txBody>
      </p:sp>
      <p:sp>
        <p:nvSpPr>
          <p:cNvPr id="35" name="Text 33"/>
          <p:cNvSpPr/>
          <p:nvPr/>
        </p:nvSpPr>
        <p:spPr>
          <a:xfrm>
            <a:off x="9281160" y="53035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7A736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（→ 後半の熱中性子の話へ）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9980102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71044-F3C5-B318-D02D-C60F2B5C9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692E22-635B-E569-C818-2EAB7E97B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游ゴシック"/>
                <a:ea typeface="游ゴシック"/>
              </a:rPr>
              <a:t>補足：等価コンクリート厚への換算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87B3E63-24CB-1937-6ED9-A95104DCD498}"/>
              </a:ext>
            </a:extLst>
          </p:cNvPr>
          <p:cNvSpPr/>
          <p:nvPr/>
        </p:nvSpPr>
        <p:spPr>
          <a:xfrm>
            <a:off x="1599997" y="1940182"/>
            <a:ext cx="2692382" cy="2852414"/>
          </a:xfrm>
          <a:prstGeom prst="rect">
            <a:avLst/>
          </a:prstGeom>
          <a:pattFill prst="pct10">
            <a:fgClr>
              <a:schemeClr val="bg1"/>
            </a:fgClr>
            <a:bgClr>
              <a:srgbClr val="A27745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1FACE44-5C99-9E66-8938-3DF80D03CF8D}"/>
              </a:ext>
            </a:extLst>
          </p:cNvPr>
          <p:cNvSpPr/>
          <p:nvPr/>
        </p:nvSpPr>
        <p:spPr>
          <a:xfrm>
            <a:off x="1599998" y="4795656"/>
            <a:ext cx="2692382" cy="1173537"/>
          </a:xfrm>
          <a:prstGeom prst="rect">
            <a:avLst/>
          </a:prstGeom>
          <a:pattFill prst="pct90">
            <a:fgClr>
              <a:schemeClr val="bg2">
                <a:lumMod val="75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BF9F1DE-4B68-631A-6708-66C381DAB378}"/>
              </a:ext>
            </a:extLst>
          </p:cNvPr>
          <p:cNvSpPr/>
          <p:nvPr/>
        </p:nvSpPr>
        <p:spPr>
          <a:xfrm>
            <a:off x="7879022" y="2475074"/>
            <a:ext cx="2692382" cy="2292089"/>
          </a:xfrm>
          <a:prstGeom prst="rect">
            <a:avLst/>
          </a:prstGeom>
          <a:pattFill prst="pct90">
            <a:fgClr>
              <a:schemeClr val="bg2">
                <a:lumMod val="75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0E5FD38-D355-B5C3-1031-86ABED477ABC}"/>
              </a:ext>
            </a:extLst>
          </p:cNvPr>
          <p:cNvSpPr txBox="1"/>
          <p:nvPr/>
        </p:nvSpPr>
        <p:spPr>
          <a:xfrm>
            <a:off x="7243403" y="1771236"/>
            <a:ext cx="4108817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ja-JP" altLang="en-US">
                <a:ea typeface="游ゴシック"/>
              </a:rPr>
              <a:t>この厚みを等価</a:t>
            </a:r>
            <a:r>
              <a:rPr kumimoji="1" lang="ja-JP" altLang="en-US">
                <a:ea typeface="游ゴシック"/>
              </a:rPr>
              <a:t>コンクリート</a:t>
            </a:r>
            <a:r>
              <a:rPr lang="ja-JP" altLang="en-US">
                <a:ea typeface="游ゴシック"/>
              </a:rPr>
              <a:t>厚と呼ぶ</a:t>
            </a:r>
            <a:endParaRPr lang="ja-JP">
              <a:ea typeface="游ゴシック"/>
            </a:endParaRP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225F1BD-9622-BA35-334E-82EB24A6B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17</a:t>
            </a:fld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300F4C5-878F-7008-05FC-9AA7823EFD1E}"/>
              </a:ext>
            </a:extLst>
          </p:cNvPr>
          <p:cNvSpPr/>
          <p:nvPr/>
        </p:nvSpPr>
        <p:spPr>
          <a:xfrm>
            <a:off x="7874949" y="4766791"/>
            <a:ext cx="2692382" cy="1173537"/>
          </a:xfrm>
          <a:prstGeom prst="rect">
            <a:avLst/>
          </a:prstGeom>
          <a:pattFill prst="pct90">
            <a:fgClr>
              <a:schemeClr val="bg2">
                <a:lumMod val="75000"/>
              </a:schemeClr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2D3751A-9EF8-94FB-5A33-24B565C6F2CB}"/>
              </a:ext>
            </a:extLst>
          </p:cNvPr>
          <p:cNvSpPr txBox="1"/>
          <p:nvPr/>
        </p:nvSpPr>
        <p:spPr>
          <a:xfrm>
            <a:off x="2100613" y="2905284"/>
            <a:ext cx="169216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5400" b="1">
                <a:solidFill>
                  <a:schemeClr val="bg1"/>
                </a:solidFill>
                <a:ea typeface="游ゴシック"/>
              </a:rPr>
              <a:t>土壌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9412C23-0746-FAED-C296-9BF8344A85DC}"/>
              </a:ext>
            </a:extLst>
          </p:cNvPr>
          <p:cNvSpPr txBox="1"/>
          <p:nvPr/>
        </p:nvSpPr>
        <p:spPr>
          <a:xfrm>
            <a:off x="462001" y="5120179"/>
            <a:ext cx="496361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800" b="1">
                <a:solidFill>
                  <a:schemeClr val="bg1"/>
                </a:solidFill>
                <a:ea typeface="游ゴシック"/>
              </a:rPr>
              <a:t>コンクリート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6DE94EE-D6C7-1CF8-DB85-B9C51821A15F}"/>
              </a:ext>
            </a:extLst>
          </p:cNvPr>
          <p:cNvSpPr txBox="1"/>
          <p:nvPr/>
        </p:nvSpPr>
        <p:spPr>
          <a:xfrm>
            <a:off x="6736953" y="5091314"/>
            <a:ext cx="496361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800" b="1">
                <a:solidFill>
                  <a:schemeClr val="bg1"/>
                </a:solidFill>
                <a:ea typeface="游ゴシック"/>
              </a:rPr>
              <a:t>コンクリート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F648BB0-1E53-08C1-741F-A552999D8502}"/>
              </a:ext>
            </a:extLst>
          </p:cNvPr>
          <p:cNvSpPr txBox="1"/>
          <p:nvPr/>
        </p:nvSpPr>
        <p:spPr>
          <a:xfrm>
            <a:off x="6736952" y="3356679"/>
            <a:ext cx="496361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800" b="1">
                <a:solidFill>
                  <a:schemeClr val="bg1"/>
                </a:solidFill>
                <a:ea typeface="游ゴシック"/>
              </a:rPr>
              <a:t>コンクリート</a:t>
            </a:r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D92F43D7-1252-2A2F-BE00-21C014C254BA}"/>
              </a:ext>
            </a:extLst>
          </p:cNvPr>
          <p:cNvSpPr/>
          <p:nvPr/>
        </p:nvSpPr>
        <p:spPr>
          <a:xfrm>
            <a:off x="4615719" y="3426916"/>
            <a:ext cx="2942105" cy="10819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6" name="矢印: 上下 15">
            <a:extLst>
              <a:ext uri="{FF2B5EF4-FFF2-40B4-BE49-F238E27FC236}">
                <a16:creationId xmlns:a16="http://schemas.microsoft.com/office/drawing/2014/main" id="{368C3CCE-5C86-049D-3459-4597371F7ACF}"/>
              </a:ext>
            </a:extLst>
          </p:cNvPr>
          <p:cNvSpPr/>
          <p:nvPr/>
        </p:nvSpPr>
        <p:spPr>
          <a:xfrm>
            <a:off x="10743801" y="2447446"/>
            <a:ext cx="262327" cy="2348459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7" name="矢印: 上下 16">
            <a:extLst>
              <a:ext uri="{FF2B5EF4-FFF2-40B4-BE49-F238E27FC236}">
                <a16:creationId xmlns:a16="http://schemas.microsoft.com/office/drawing/2014/main" id="{5EFDAA97-F082-9770-93EC-8F0CD56B5625}"/>
              </a:ext>
            </a:extLst>
          </p:cNvPr>
          <p:cNvSpPr/>
          <p:nvPr/>
        </p:nvSpPr>
        <p:spPr>
          <a:xfrm>
            <a:off x="1166847" y="1933673"/>
            <a:ext cx="256555" cy="2833368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820C1A0-9CDA-BD13-FA18-CB6797A32B6E}"/>
              </a:ext>
            </a:extLst>
          </p:cNvPr>
          <p:cNvSpPr txBox="1"/>
          <p:nvPr/>
        </p:nvSpPr>
        <p:spPr>
          <a:xfrm>
            <a:off x="460587" y="2889676"/>
            <a:ext cx="67455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5400" i="1">
                <a:ea typeface="游ゴシック"/>
              </a:rPr>
              <a:t>h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4440B95-ACB0-CA37-B06F-984327CC354D}"/>
              </a:ext>
            </a:extLst>
          </p:cNvPr>
          <p:cNvSpPr txBox="1"/>
          <p:nvPr/>
        </p:nvSpPr>
        <p:spPr>
          <a:xfrm>
            <a:off x="11007171" y="3157775"/>
            <a:ext cx="108678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5400" i="1">
                <a:ea typeface="游ゴシック"/>
              </a:rPr>
              <a:t>h'</a:t>
            </a:r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E3E23DD8-A03A-2322-C2CF-011B839D0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604" y="1954068"/>
            <a:ext cx="2044700" cy="1980046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420F2ED-8713-2961-5D28-C6F8D4218304}"/>
              </a:ext>
            </a:extLst>
          </p:cNvPr>
          <p:cNvSpPr txBox="1"/>
          <p:nvPr/>
        </p:nvSpPr>
        <p:spPr>
          <a:xfrm>
            <a:off x="4474715" y="4508405"/>
            <a:ext cx="324077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 b="1">
                <a:solidFill>
                  <a:srgbClr val="FF0000"/>
                </a:solidFill>
                <a:ea typeface="游ゴシック"/>
              </a:rPr>
              <a:t>密度比</a:t>
            </a:r>
            <a:r>
              <a:rPr lang="ja-JP" altLang="en-US" sz="2000">
                <a:ea typeface="游ゴシック"/>
              </a:rPr>
              <a:t>を用いて</a:t>
            </a:r>
          </a:p>
          <a:p>
            <a:r>
              <a:rPr lang="ja-JP" altLang="en-US" sz="2000" b="1">
                <a:solidFill>
                  <a:srgbClr val="FF0000"/>
                </a:solidFill>
                <a:ea typeface="游ゴシック"/>
              </a:rPr>
              <a:t>コンクリートの厚み</a:t>
            </a:r>
            <a:r>
              <a:rPr lang="ja-JP" altLang="en-US" sz="2000" b="1">
                <a:ea typeface="游ゴシック"/>
              </a:rPr>
              <a:t>に変換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游ゴシック"/>
                <a:ea typeface="游ゴシック"/>
              </a:rPr>
              <a:t>土とコンクリートの密度比で厚みをそろえ、以後の横軸を「等価コンクリート厚」に統一する（詳細は附記）</a:t>
            </a:r>
          </a:p>
        </p:txBody>
      </p:sp>
    </p:spTree>
    <p:extLst>
      <p:ext uri="{BB962C8B-B14F-4D97-AF65-F5344CB8AC3E}">
        <p14:creationId xmlns:p14="http://schemas.microsoft.com/office/powerpoint/2010/main" val="2810878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A6BF27E1-45E3-8299-474C-5C33E85E07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5400000">
            <a:off x="2414656" y="-1211331"/>
            <a:ext cx="6305826" cy="9458739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85668F0-A492-E242-94E5-BD6C2E07A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游ゴシック"/>
                <a:ea typeface="游ゴシック"/>
              </a:rPr>
              <a:t>測定地点（KEK構内の地下トンネル）</a:t>
            </a:r>
            <a:endParaRPr kumimoji="1" lang="ja-JP" altLang="en-US"/>
          </a:p>
        </p:txBody>
      </p:sp>
      <p:pic>
        <p:nvPicPr>
          <p:cNvPr id="15" name="グラフィックス 14" descr="マーカー 単色塗りつぶし">
            <a:extLst>
              <a:ext uri="{FF2B5EF4-FFF2-40B4-BE49-F238E27FC236}">
                <a16:creationId xmlns:a16="http://schemas.microsoft.com/office/drawing/2014/main" id="{996568A0-CB3D-6792-2D7F-2E3A535DF6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872" y="2571748"/>
            <a:ext cx="628652" cy="628652"/>
          </a:xfrm>
          <a:prstGeom prst="rect">
            <a:avLst/>
          </a:prstGeom>
        </p:spPr>
      </p:pic>
      <p:pic>
        <p:nvPicPr>
          <p:cNvPr id="16" name="グラフィックス 15" descr="マーカー 単色塗りつぶし">
            <a:extLst>
              <a:ext uri="{FF2B5EF4-FFF2-40B4-BE49-F238E27FC236}">
                <a16:creationId xmlns:a16="http://schemas.microsoft.com/office/drawing/2014/main" id="{2E2DB044-2214-F1CB-0849-C3D17899C0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8885" y="3200400"/>
            <a:ext cx="628652" cy="628652"/>
          </a:xfrm>
          <a:prstGeom prst="rect">
            <a:avLst/>
          </a:prstGeom>
        </p:spPr>
      </p:pic>
      <p:pic>
        <p:nvPicPr>
          <p:cNvPr id="17" name="グラフィックス 16" descr="マーカー 単色塗りつぶし">
            <a:extLst>
              <a:ext uri="{FF2B5EF4-FFF2-40B4-BE49-F238E27FC236}">
                <a16:creationId xmlns:a16="http://schemas.microsoft.com/office/drawing/2014/main" id="{6A0B707E-A122-A40D-56A7-74984108C2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98485" y="1578766"/>
            <a:ext cx="628652" cy="628652"/>
          </a:xfrm>
          <a:prstGeom prst="rect">
            <a:avLst/>
          </a:prstGeom>
        </p:spPr>
      </p:pic>
      <p:pic>
        <p:nvPicPr>
          <p:cNvPr id="18" name="グラフィックス 17" descr="マーカー 単色塗りつぶし">
            <a:extLst>
              <a:ext uri="{FF2B5EF4-FFF2-40B4-BE49-F238E27FC236}">
                <a16:creationId xmlns:a16="http://schemas.microsoft.com/office/drawing/2014/main" id="{39264A09-791A-4526-3EF7-BD278593AC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2314570"/>
            <a:ext cx="628652" cy="628652"/>
          </a:xfrm>
          <a:prstGeom prst="rect">
            <a:avLst/>
          </a:prstGeom>
        </p:spPr>
      </p:pic>
      <p:pic>
        <p:nvPicPr>
          <p:cNvPr id="19" name="グラフィックス 18" descr="マーカー 単色塗りつぶし">
            <a:extLst>
              <a:ext uri="{FF2B5EF4-FFF2-40B4-BE49-F238E27FC236}">
                <a16:creationId xmlns:a16="http://schemas.microsoft.com/office/drawing/2014/main" id="{1ED8B091-25AF-B138-BCE3-12CC447878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98485" y="2207418"/>
            <a:ext cx="628652" cy="628652"/>
          </a:xfrm>
          <a:prstGeom prst="rect">
            <a:avLst/>
          </a:prstGeom>
        </p:spPr>
      </p:pic>
      <p:pic>
        <p:nvPicPr>
          <p:cNvPr id="20" name="グラフィックス 19" descr="マーカー 単色塗りつぶし">
            <a:extLst>
              <a:ext uri="{FF2B5EF4-FFF2-40B4-BE49-F238E27FC236}">
                <a16:creationId xmlns:a16="http://schemas.microsoft.com/office/drawing/2014/main" id="{C078CDD5-BDF4-471B-7F7F-E3E3F355F5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7137" y="2241540"/>
            <a:ext cx="628652" cy="628652"/>
          </a:xfrm>
          <a:prstGeom prst="rect">
            <a:avLst/>
          </a:prstGeom>
        </p:spPr>
      </p:pic>
      <p:pic>
        <p:nvPicPr>
          <p:cNvPr id="21" name="グラフィックス 20" descr="マーカー 単色塗りつぶし">
            <a:extLst>
              <a:ext uri="{FF2B5EF4-FFF2-40B4-BE49-F238E27FC236}">
                <a16:creationId xmlns:a16="http://schemas.microsoft.com/office/drawing/2014/main" id="{DAFDFA1C-168A-1F5C-5B43-A59FE78DB1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43586" y="3567104"/>
            <a:ext cx="628652" cy="628652"/>
          </a:xfrm>
          <a:prstGeom prst="rect">
            <a:avLst/>
          </a:prstGeom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B9D0E5C-8E19-4C32-0C29-394FFA4C7024}"/>
              </a:ext>
            </a:extLst>
          </p:cNvPr>
          <p:cNvSpPr txBox="1"/>
          <p:nvPr/>
        </p:nvSpPr>
        <p:spPr>
          <a:xfrm>
            <a:off x="373166" y="2247880"/>
            <a:ext cx="9300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>
                <a:latin typeface="BIZ UDPGothic" panose="020B0400000000000000" pitchFamily="34" charset="-128"/>
                <a:ea typeface="BIZ UDPGothic" panose="020B0400000000000000" pitchFamily="34" charset="-128"/>
              </a:rPr>
              <a:t>L</a:t>
            </a:r>
            <a:r>
              <a:rPr kumimoji="1" lang="en-US" altLang="ja-JP" sz="2000">
                <a:latin typeface="BIZ UDPGothic" panose="020B0400000000000000" pitchFamily="34" charset="-128"/>
                <a:ea typeface="BIZ UDPGothic" panose="020B0400000000000000" pitchFamily="34" charset="-128"/>
              </a:rPr>
              <a:t>inac</a:t>
            </a:r>
            <a:endParaRPr kumimoji="1" lang="ja-JP" altLang="en-US" sz="20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9CC6153-BB78-1DCA-B817-2BFEDD9927E1}"/>
              </a:ext>
            </a:extLst>
          </p:cNvPr>
          <p:cNvSpPr txBox="1"/>
          <p:nvPr/>
        </p:nvSpPr>
        <p:spPr>
          <a:xfrm>
            <a:off x="3940941" y="1290578"/>
            <a:ext cx="5437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>
                <a:latin typeface="BIZ UDPGothic" panose="020B0400000000000000" pitchFamily="34" charset="-128"/>
                <a:ea typeface="BIZ UDPGothic" panose="020B0400000000000000" pitchFamily="34" charset="-128"/>
              </a:rPr>
              <a:t>PF</a:t>
            </a:r>
            <a:endParaRPr kumimoji="1" lang="ja-JP" altLang="en-US" sz="20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E8FC2EB-11C3-3329-B6DE-0C16A808501B}"/>
              </a:ext>
            </a:extLst>
          </p:cNvPr>
          <p:cNvSpPr txBox="1"/>
          <p:nvPr/>
        </p:nvSpPr>
        <p:spPr>
          <a:xfrm>
            <a:off x="3111113" y="2241540"/>
            <a:ext cx="9460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>
                <a:latin typeface="BIZ UDPGothic" panose="020B0400000000000000" pitchFamily="34" charset="-128"/>
                <a:ea typeface="BIZ UDPGothic" panose="020B0400000000000000" pitchFamily="34" charset="-128"/>
              </a:rPr>
              <a:t>KEKB</a:t>
            </a:r>
            <a:endParaRPr kumimoji="1" lang="ja-JP" altLang="en-US" sz="20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E080660-9F34-1AF8-375B-AE4249EEB943}"/>
              </a:ext>
            </a:extLst>
          </p:cNvPr>
          <p:cNvSpPr txBox="1"/>
          <p:nvPr/>
        </p:nvSpPr>
        <p:spPr>
          <a:xfrm>
            <a:off x="4560777" y="1914460"/>
            <a:ext cx="5613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>
                <a:latin typeface="BIZ UDPGothic" panose="020B0400000000000000" pitchFamily="34" charset="-128"/>
                <a:ea typeface="BIZ UDPGothic" panose="020B0400000000000000" pitchFamily="34" charset="-128"/>
              </a:rPr>
              <a:t>BT</a:t>
            </a:r>
            <a:endParaRPr kumimoji="1" lang="ja-JP" altLang="en-US" sz="20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EDBA4D3-F18B-C3AC-160E-DD71403563BA}"/>
              </a:ext>
            </a:extLst>
          </p:cNvPr>
          <p:cNvSpPr txBox="1"/>
          <p:nvPr/>
        </p:nvSpPr>
        <p:spPr>
          <a:xfrm>
            <a:off x="6027849" y="2028731"/>
            <a:ext cx="7649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>
                <a:latin typeface="BIZ UDPGothic" panose="020B0400000000000000" pitchFamily="34" charset="-128"/>
                <a:ea typeface="BIZ UDPGothic" panose="020B0400000000000000" pitchFamily="34" charset="-128"/>
              </a:rPr>
              <a:t>K2K</a:t>
            </a:r>
            <a:endParaRPr kumimoji="1" lang="ja-JP" altLang="en-US" sz="20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532A859-AF46-EAA5-4C67-9D7AB604E755}"/>
              </a:ext>
            </a:extLst>
          </p:cNvPr>
          <p:cNvSpPr txBox="1"/>
          <p:nvPr/>
        </p:nvSpPr>
        <p:spPr>
          <a:xfrm>
            <a:off x="5175912" y="3290896"/>
            <a:ext cx="1963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>
                <a:latin typeface="BIZ UDPGothic" panose="020B0400000000000000" pitchFamily="34" charset="-128"/>
                <a:ea typeface="BIZ UDPGothic" panose="020B0400000000000000" pitchFamily="34" charset="-128"/>
              </a:rPr>
              <a:t>熱中性子管理棟</a:t>
            </a:r>
          </a:p>
        </p:txBody>
      </p:sp>
      <p:graphicFrame>
        <p:nvGraphicFramePr>
          <p:cNvPr id="29" name="表 28">
            <a:extLst>
              <a:ext uri="{FF2B5EF4-FFF2-40B4-BE49-F238E27FC236}">
                <a16:creationId xmlns:a16="http://schemas.microsoft.com/office/drawing/2014/main" id="{FBD9D44A-39E4-66F6-CAF7-862F11A54908}"/>
              </a:ext>
            </a:extLst>
          </p:cNvPr>
          <p:cNvGraphicFramePr>
            <a:graphicFrameLocks noGrp="1"/>
          </p:cNvGraphicFramePr>
          <p:nvPr/>
        </p:nvGraphicFramePr>
        <p:xfrm>
          <a:off x="7966517" y="626500"/>
          <a:ext cx="4003235" cy="5816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9525">
                  <a:extLst>
                    <a:ext uri="{9D8B030D-6E8A-4147-A177-3AD203B41FA5}">
                      <a16:colId xmlns:a16="http://schemas.microsoft.com/office/drawing/2014/main" val="96569646"/>
                    </a:ext>
                  </a:extLst>
                </a:gridCol>
                <a:gridCol w="2273710">
                  <a:extLst>
                    <a:ext uri="{9D8B030D-6E8A-4147-A177-3AD203B41FA5}">
                      <a16:colId xmlns:a16="http://schemas.microsoft.com/office/drawing/2014/main" val="127443638"/>
                    </a:ext>
                  </a:extLst>
                </a:gridCol>
              </a:tblGrid>
              <a:tr h="69000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ja-JP" altLang="en-US" sz="2000" b="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場所</a:t>
                      </a:r>
                      <a:endParaRPr kumimoji="1" lang="ja-JP" altLang="en-US" sz="2000" b="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0" i="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等価</a:t>
                      </a:r>
                      <a:endParaRPr kumimoji="1" lang="en-US" altLang="ja-JP" sz="2000" b="0" i="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  <a:p>
                      <a:pPr algn="ctr"/>
                      <a:r>
                        <a:rPr kumimoji="1" lang="ja-JP" altLang="en-US" sz="2000" b="0" i="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コンクリート</a:t>
                      </a:r>
                      <a:r>
                        <a:rPr kumimoji="1" lang="en-US" altLang="ja-JP" sz="2000" b="0" i="0">
                          <a:solidFill>
                            <a:schemeClr val="tx1"/>
                          </a:solidFill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(cm)</a:t>
                      </a:r>
                      <a:endParaRPr kumimoji="1" lang="ja-JP" altLang="en-US" sz="2000" b="0" i="0">
                        <a:solidFill>
                          <a:schemeClr val="tx1"/>
                        </a:solidFill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488716"/>
                  </a:ext>
                </a:extLst>
              </a:tr>
              <a:tr h="61668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地上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0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0cm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936484"/>
                  </a:ext>
                </a:extLst>
              </a:tr>
              <a:tr h="61668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Linac</a:t>
                      </a:r>
                    </a:p>
                    <a:p>
                      <a:pPr algn="ctr"/>
                      <a:r>
                        <a:rPr kumimoji="1" lang="en-US" altLang="ja-JP" sz="20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(</a:t>
                      </a:r>
                      <a:r>
                        <a:rPr kumimoji="1" lang="en-US" altLang="ja-JP" sz="2000" err="1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Testhole</a:t>
                      </a:r>
                      <a:r>
                        <a:rPr kumimoji="1" lang="en-US" altLang="ja-JP" sz="20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)</a:t>
                      </a:r>
                      <a:endParaRPr kumimoji="1" lang="ja-JP" altLang="en-US" sz="20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57cm</a:t>
                      </a:r>
                      <a:endParaRPr kumimoji="1" lang="ja-JP" altLang="en-US" sz="20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094342"/>
                  </a:ext>
                </a:extLst>
              </a:tr>
              <a:tr h="690004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0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PF</a:t>
                      </a:r>
                      <a:endParaRPr kumimoji="1" lang="ja-JP" altLang="en-US" sz="20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ja-JP" sz="20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105cm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39627"/>
                  </a:ext>
                </a:extLst>
              </a:tr>
              <a:tr h="56352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BT</a:t>
                      </a:r>
                      <a:endParaRPr kumimoji="1" lang="ja-JP" altLang="en-US" sz="20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189cm</a:t>
                      </a:r>
                      <a:endParaRPr kumimoji="1" lang="ja-JP" altLang="en-US" sz="20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601054"/>
                  </a:ext>
                </a:extLst>
              </a:tr>
              <a:tr h="635958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0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Linac</a:t>
                      </a:r>
                      <a:endParaRPr kumimoji="1" lang="ja-JP" altLang="en-US" sz="20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 anchor="ctr">
                    <a:lnL w="0">
                      <a:noFill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300cm</a:t>
                      </a:r>
                    </a:p>
                  </a:txBody>
                  <a:tcPr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34898"/>
                  </a:ext>
                </a:extLst>
              </a:tr>
              <a:tr h="635958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K2K</a:t>
                      </a:r>
                      <a:endParaRPr kumimoji="1" lang="ja-JP" altLang="en-US" sz="20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 anchor="ctr">
                    <a:lnL w="0">
                      <a:noFill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444cm</a:t>
                      </a:r>
                      <a:endParaRPr kumimoji="1" lang="ja-JP" altLang="en-US" sz="20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660449"/>
                  </a:ext>
                </a:extLst>
              </a:tr>
              <a:tr h="635958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PS</a:t>
                      </a:r>
                      <a:endParaRPr kumimoji="1" lang="ja-JP" altLang="en-US" sz="20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 anchor="ctr">
                    <a:lnL w="0">
                      <a:noFill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480cm</a:t>
                      </a:r>
                      <a:endParaRPr kumimoji="1" lang="ja-JP" altLang="en-US" sz="20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noFill/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239273"/>
                  </a:ext>
                </a:extLst>
              </a:tr>
              <a:tr h="635958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KEKB</a:t>
                      </a:r>
                      <a:endParaRPr kumimoji="1" lang="ja-JP" altLang="en-US" sz="20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 anchor="ctr">
                    <a:lnL w="0">
                      <a:noFill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>
                          <a:latin typeface="BIZ UDPGothic" panose="020B0400000000000000" pitchFamily="34" charset="-128"/>
                          <a:ea typeface="BIZ UDPGothic" panose="020B0400000000000000" pitchFamily="34" charset="-128"/>
                        </a:rPr>
                        <a:t>525cm</a:t>
                      </a:r>
                      <a:endParaRPr kumimoji="1" lang="ja-JP" altLang="en-US" sz="2000">
                        <a:latin typeface="BIZ UDPGothic" panose="020B0400000000000000" pitchFamily="34" charset="-128"/>
                        <a:ea typeface="BIZ UDPGothic" panose="020B0400000000000000" pitchFamily="34" charset="-128"/>
                      </a:endParaRPr>
                    </a:p>
                  </a:txBody>
                  <a:tcPr anchor="ctr">
                    <a:lnL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FFFF">
                        <a:alpha val="5058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695329"/>
                  </a:ext>
                </a:extLst>
              </a:tr>
            </a:tbl>
          </a:graphicData>
        </a:graphic>
      </p:graphicFrame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AEE91CF-9BEF-84F9-C025-3D7CEDC930CF}"/>
              </a:ext>
            </a:extLst>
          </p:cNvPr>
          <p:cNvSpPr txBox="1"/>
          <p:nvPr/>
        </p:nvSpPr>
        <p:spPr>
          <a:xfrm>
            <a:off x="2018644" y="2888402"/>
            <a:ext cx="697627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ja-JP" sz="2000" err="1">
                <a:ea typeface="BIZ UDPGothic"/>
              </a:rPr>
              <a:t>地上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B11424-6460-F87E-7B60-597C89B1A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18</a:t>
            </a:fld>
            <a:endParaRPr kumimoji="1" lang="ja-JP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274320" y="5989320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568A"/>
                </a:solidFill>
                <a:latin typeface="游ゴシック"/>
                <a:ea typeface="游ゴシック"/>
              </a:rPr>
              <a:t>KEKには深さの異なる地下トンネルが複数ある → 深度依存を一度のキャンペーンで測れる</a:t>
            </a:r>
          </a:p>
        </p:txBody>
      </p:sp>
    </p:spTree>
    <p:extLst>
      <p:ext uri="{BB962C8B-B14F-4D97-AF65-F5344CB8AC3E}">
        <p14:creationId xmlns:p14="http://schemas.microsoft.com/office/powerpoint/2010/main" val="32546938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1" y="219457"/>
            <a:ext cx="428835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err="1">
                <a:solidFill>
                  <a:srgbClr val="C0392B"/>
                </a:solidFill>
                <a:latin typeface="游ゴシック"/>
                <a:ea typeface="游ゴシック"/>
              </a:rPr>
              <a:t>実験結果（熱中性子</a:t>
            </a:r>
            <a:r>
              <a:rPr sz="3200" b="1">
                <a:solidFill>
                  <a:srgbClr val="C0392B"/>
                </a:solidFill>
                <a:latin typeface="游ゴシック"/>
                <a:ea typeface="游ゴシック"/>
              </a:rPr>
              <a:t>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9056"/>
            <a:ext cx="11094720" cy="426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61270"/>
          <a:ext cx="11277600" cy="4788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0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88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99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299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307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5273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場所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検出器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検出数 N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err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測定時間</a:t>
                      </a:r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  <a:r>
                        <a:rPr lang="en-US"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(</a:t>
                      </a:r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s</a:t>
                      </a:r>
                      <a:r>
                        <a:rPr lang="en-US"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)</a:t>
                      </a:r>
                      <a:endParaRPr sz="1300" b="1">
                        <a:solidFill>
                          <a:srgbClr val="FFFFFF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err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計数率</a:t>
                      </a:r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 R_NET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フラックス Φ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273">
                <a:tc>
                  <a:txBody>
                    <a:bodyPr/>
                    <a:lstStyle/>
                    <a:p>
                      <a:pPr algn="l"/>
                      <a:r>
                        <a:rPr sz="1300" b="0" err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地上</a:t>
                      </a:r>
                      <a:endParaRPr sz="1300" b="0">
                        <a:solidFill>
                          <a:srgbClr val="222222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L="121920" marR="121920" marT="60960" marB="6096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marL="121920" marR="121920" marT="60960" marB="6096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2056</a:t>
                      </a:r>
                    </a:p>
                  </a:txBody>
                  <a:tcPr marL="121920" marR="121920" marT="60960" marB="6096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4748</a:t>
                      </a:r>
                    </a:p>
                  </a:txBody>
                  <a:tcPr marL="121920" marR="121920" marT="60960" marB="6096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0.433</a:t>
                      </a:r>
                    </a:p>
                  </a:txBody>
                  <a:tcPr marL="121920" marR="121920" marT="60960" marB="6096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1.69E-3</a:t>
                      </a:r>
                    </a:p>
                  </a:txBody>
                  <a:tcPr marL="121920" marR="121920" marT="60960" marB="6096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27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Linac</a:t>
                      </a:r>
                      <a:r>
                        <a:rPr lang="en-US"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(</a:t>
                      </a:r>
                      <a:r>
                        <a:rPr sz="1300" b="0" err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testhole</a:t>
                      </a:r>
                      <a:r>
                        <a:rPr lang="en-US"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)</a:t>
                      </a:r>
                      <a:endParaRPr sz="1300" b="0">
                        <a:solidFill>
                          <a:srgbClr val="222222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3430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20239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0.169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6.61E-4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527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Linac</a:t>
                      </a:r>
                      <a:r>
                        <a:rPr lang="en-US"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(</a:t>
                      </a:r>
                      <a:r>
                        <a:rPr sz="1300" b="0" err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testhole</a:t>
                      </a:r>
                      <a:r>
                        <a:rPr lang="en-US"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)</a:t>
                      </a:r>
                      <a:endParaRPr sz="1300" b="0">
                        <a:solidFill>
                          <a:srgbClr val="222222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926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18973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4.88E-2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6.97E-4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527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PF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9171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45703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0.201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7.83E-4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527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Linac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1903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23223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8.20E-2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3.20E-4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527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Lina</a:t>
                      </a:r>
                      <a:r>
                        <a:rPr lang="en"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c</a:t>
                      </a:r>
                      <a:endParaRPr sz="1300" b="0">
                        <a:solidFill>
                          <a:srgbClr val="222222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333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23286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1.43E-2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2.04E-4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527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BT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945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9584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9.86E-2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3.85E-4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527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PS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2835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78562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3.61E-2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1.41E-4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527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PS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650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76893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8.45E-3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1.21E-4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5273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KEKB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1841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39007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4.72E-2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1.84E-4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659298" y="6315456"/>
            <a:ext cx="288862" cy="31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67">
                <a:solidFill>
                  <a:srgbClr val="888888"/>
                </a:solidFill>
                <a:latin typeface="游ゴシック"/>
                <a:ea typeface="游ゴシック"/>
              </a:rPr>
              <a:t>1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ACC8170-BFB6-CB14-5CE0-52195D128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3923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19457"/>
            <a:ext cx="479330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7E22"/>
                </a:solidFill>
                <a:latin typeface="游ゴシック"/>
                <a:ea typeface="游ゴシック"/>
              </a:rPr>
              <a:t>実験結果（MeV中性子）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29056"/>
            <a:ext cx="11094720" cy="426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97622" y="1481263"/>
          <a:ext cx="9144000" cy="43281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0907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場所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検出器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検出数 N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err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測定時間</a:t>
                      </a:r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 </a:t>
                      </a:r>
                      <a:r>
                        <a:rPr lang="en-US"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(</a:t>
                      </a:r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s</a:t>
                      </a:r>
                      <a:r>
                        <a:rPr lang="en-US"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)</a:t>
                      </a:r>
                      <a:endParaRPr sz="1500" b="1">
                        <a:solidFill>
                          <a:srgbClr val="FFFFFF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err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計数率</a:t>
                      </a:r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 R_NET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フラックス Φ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907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地上</a:t>
                      </a:r>
                      <a:endParaRPr sz="1500" b="0">
                        <a:solidFill>
                          <a:srgbClr val="222222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2998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12302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0.244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1.37E-3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907">
                <a:tc>
                  <a:txBody>
                    <a:bodyPr/>
                    <a:lstStyle/>
                    <a:p>
                      <a:pPr algn="l"/>
                      <a:r>
                        <a:rPr sz="1500" b="0" err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地上</a:t>
                      </a:r>
                      <a:endParaRPr sz="1500" b="0">
                        <a:solidFill>
                          <a:srgbClr val="222222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676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12105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5.59E-2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2.05E-3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907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Linac</a:t>
                      </a:r>
                      <a:r>
                        <a:rPr lang="en-US"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(</a:t>
                      </a:r>
                      <a:r>
                        <a:rPr sz="1500" b="0" err="1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testhole</a:t>
                      </a:r>
                      <a:r>
                        <a:rPr lang="en-US"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)</a:t>
                      </a:r>
                      <a:endParaRPr sz="1500" b="0">
                        <a:solidFill>
                          <a:srgbClr val="222222"/>
                        </a:solidFill>
                        <a:latin typeface="游ゴシック"/>
                        <a:ea typeface="游ゴシック"/>
                      </a:endParaRP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3430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20239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0.169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9.50E-4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907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PF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7381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62848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0.117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6.58E-4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907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Linac3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2927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51267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5.71E-2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3.20E-4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907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Linac3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451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51379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8.77E-3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3.22E-4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907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BT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121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9540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1.27E-2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4.66E-4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0907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KEKB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232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39038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5.93E-3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2.18E-4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659298" y="6315456"/>
            <a:ext cx="288862" cy="3181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67">
                <a:solidFill>
                  <a:srgbClr val="888888"/>
                </a:solidFill>
                <a:latin typeface="游ゴシック"/>
                <a:ea typeface="游ゴシック"/>
              </a:rPr>
              <a:t>2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1551EB-4BA2-DFA6-3A7A-4DED42454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79824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7680" y="146304"/>
            <a:ext cx="11216640" cy="5436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933" b="1">
                <a:solidFill>
                  <a:srgbClr val="1F4E79"/>
                </a:solidFill>
                <a:latin typeface="游ゴシック"/>
                <a:ea typeface="游ゴシック"/>
              </a:rPr>
              <a:t>【附記】計算方法・導出の詳細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680" y="633984"/>
            <a:ext cx="1121664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sp>
        <p:nvSpPr>
          <p:cNvPr id="6" name="Rounded Rectangle 5"/>
          <p:cNvSpPr/>
          <p:nvPr/>
        </p:nvSpPr>
        <p:spPr>
          <a:xfrm>
            <a:off x="1511808" y="843014"/>
            <a:ext cx="9168384" cy="2007141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pic>
        <p:nvPicPr>
          <p:cNvPr id="7" name="Picture 6" descr="phi_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60" y="916167"/>
            <a:ext cx="9022080" cy="1860837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122255"/>
              </p:ext>
            </p:extLst>
          </p:nvPr>
        </p:nvGraphicFramePr>
        <p:xfrm>
          <a:off x="609600" y="3004047"/>
          <a:ext cx="10972800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記号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意味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φ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絶対フラックス [n/cm²/s] ＝ [cm⁻²·s⁻¹]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R_NET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peak ROI の正味計数率 [s⁻¹]（背景差し引き後）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εS_peak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peak ROI に対する実効面積 [cm²]（検出器ごと）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4078" y="5093473"/>
            <a:ext cx="10972800" cy="6769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00"/>
              </a:spcAft>
            </a:pPr>
            <a:r>
              <a:rPr sz="1733" b="0">
                <a:solidFill>
                  <a:srgbClr val="222222"/>
                </a:solidFill>
                <a:latin typeface="游ゴシック"/>
                <a:ea typeface="游ゴシック"/>
              </a:rPr>
              <a:t>・窓: 764 keV 付近の peak ROI（³He(n,p) ピーク）</a:t>
            </a:r>
          </a:p>
          <a:p>
            <a:pPr>
              <a:spcAft>
                <a:spcPts val="400"/>
              </a:spcAft>
            </a:pPr>
            <a:r>
              <a:rPr sz="1733" b="0">
                <a:solidFill>
                  <a:srgbClr val="222222"/>
                </a:solidFill>
                <a:latin typeface="游ゴシック"/>
                <a:ea typeface="游ゴシック"/>
              </a:rPr>
              <a:t>・熱 = D1/d1（裸管）、MeV = D2/d2（PE付き）　→ 附記①〜⑧で導出を示す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600" y="6364224"/>
            <a:ext cx="670560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333" b="0">
                <a:solidFill>
                  <a:srgbClr val="888888"/>
                </a:solidFill>
                <a:latin typeface="游ゴシック"/>
                <a:ea typeface="游ゴシック"/>
              </a:rPr>
              <a:t>4</a:t>
            </a:r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B167C22B-36D5-E485-5CD6-FB2FCE4FD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7680" y="146304"/>
            <a:ext cx="11216640" cy="5436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933" b="1">
                <a:solidFill>
                  <a:srgbClr val="1F4E79"/>
                </a:solidFill>
                <a:latin typeface="游ゴシック"/>
                <a:ea typeface="游ゴシック"/>
              </a:rPr>
              <a:t>【附記】① 絶対フラックスの基本式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680" y="633984"/>
            <a:ext cx="1121664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sp>
        <p:nvSpPr>
          <p:cNvPr id="4" name="TextBox 3"/>
          <p:cNvSpPr txBox="1"/>
          <p:nvPr/>
        </p:nvSpPr>
        <p:spPr>
          <a:xfrm>
            <a:off x="609600" y="792480"/>
            <a:ext cx="1097280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67" b="1">
                <a:solidFill>
                  <a:srgbClr val="1F4E79"/>
                </a:solidFill>
                <a:latin typeface="游ゴシック"/>
                <a:ea typeface="游ゴシック"/>
              </a:rPr>
              <a:t>定義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0765" y="715130"/>
            <a:ext cx="9168384" cy="2007141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pic>
        <p:nvPicPr>
          <p:cNvPr id="6" name="Picture 5" descr="phi_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917" y="788283"/>
            <a:ext cx="9022080" cy="1860837"/>
          </a:xfrm>
          <a:prstGeom prst="rect">
            <a:avLst/>
          </a:prstGeom>
        </p:spPr>
      </p:pic>
      <p:pic>
        <p:nvPicPr>
          <p:cNvPr id="9" name="Picture 8" descr="count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647" y="4213309"/>
            <a:ext cx="7802880" cy="1546097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748967"/>
              </p:ext>
            </p:extLst>
          </p:nvPr>
        </p:nvGraphicFramePr>
        <p:xfrm>
          <a:off x="598557" y="4105082"/>
          <a:ext cx="6096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44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500" b="1" err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検出器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500" b="1" err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ε</a:t>
                      </a:r>
                      <a:r>
                        <a:rPr lang="af-ZA" sz="1500" b="1" err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S_peak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256.3 cm²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d1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70.05 cm²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178.5 cm²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27.25 cm²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277600" y="6364224"/>
            <a:ext cx="670560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333" b="0">
                <a:solidFill>
                  <a:srgbClr val="888888"/>
                </a:solidFill>
                <a:latin typeface="游ゴシック"/>
                <a:ea typeface="游ゴシック"/>
              </a:rPr>
              <a:t>5</a:t>
            </a:r>
          </a:p>
        </p:txBody>
      </p:sp>
      <p:pic>
        <p:nvPicPr>
          <p:cNvPr id="14" name="Picture 6" descr="phi_def.png">
            <a:extLst>
              <a:ext uri="{FF2B5EF4-FFF2-40B4-BE49-F238E27FC236}">
                <a16:creationId xmlns:a16="http://schemas.microsoft.com/office/drawing/2014/main" id="{D8D31FE9-9B3A-A6B1-48E2-FAFD1391E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60" y="794689"/>
            <a:ext cx="9022080" cy="1860837"/>
          </a:xfrm>
          <a:prstGeom prst="rect">
            <a:avLst/>
          </a:prstGeom>
        </p:spPr>
      </p:pic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87F689C-9597-7BA0-5CD3-4406CF36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94380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7680" y="146304"/>
            <a:ext cx="11216640" cy="5436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933" b="1">
                <a:solidFill>
                  <a:srgbClr val="1F4E79"/>
                </a:solidFill>
                <a:latin typeface="游ゴシック"/>
                <a:ea typeface="游ゴシック"/>
              </a:rPr>
              <a:t>【附記】② 正味計数率 R_NET の導出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680" y="633984"/>
            <a:ext cx="1121664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sp>
        <p:nvSpPr>
          <p:cNvPr id="4" name="TextBox 3"/>
          <p:cNvSpPr txBox="1"/>
          <p:nvPr/>
        </p:nvSpPr>
        <p:spPr>
          <a:xfrm>
            <a:off x="609600" y="792480"/>
            <a:ext cx="1097280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67" b="1">
                <a:solidFill>
                  <a:srgbClr val="1F4E79"/>
                </a:solidFill>
                <a:latin typeface="游ゴシック"/>
                <a:ea typeface="游ゴシック"/>
              </a:rPr>
              <a:t>計算の順番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55648" y="1085087"/>
            <a:ext cx="8680704" cy="2302307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pic>
        <p:nvPicPr>
          <p:cNvPr id="6" name="Picture 5" descr="net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58240"/>
            <a:ext cx="8534400" cy="2156003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361803"/>
              </p:ext>
            </p:extLst>
          </p:nvPr>
        </p:nvGraphicFramePr>
        <p:xfrm>
          <a:off x="609600" y="3650753"/>
          <a:ext cx="10972800" cy="225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1104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記号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意味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GROSS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peak ROI（ch = lo〜hi）のカウント合計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BG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ピーク左右の側帯から推定した、ROI内の背景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N_NET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正味カウント（本編表の「検出数 N」）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104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t_live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ライブタイム [s]（本編表の「測定時間 t」）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09600" y="6133548"/>
            <a:ext cx="10972800" cy="463296"/>
          </a:xfrm>
          <a:prstGeom prst="roundRect">
            <a:avLst/>
          </a:prstGeom>
          <a:solidFill>
            <a:srgbClr val="EBF5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267"/>
              </a:spcAft>
            </a:pPr>
            <a:r>
              <a:rPr sz="1467" b="1">
                <a:solidFill>
                  <a:srgbClr val="222222"/>
                </a:solidFill>
                <a:latin typeface="游ゴシック"/>
                <a:ea typeface="游ゴシック"/>
              </a:rPr>
              <a:t>補足: 右側帯が使えないときは、左側帯だけの水平背景を使う。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600" y="6364224"/>
            <a:ext cx="670560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333" b="0">
                <a:solidFill>
                  <a:srgbClr val="888888"/>
                </a:solidFill>
                <a:latin typeface="游ゴシック"/>
                <a:ea typeface="游ゴシック"/>
              </a:rPr>
              <a:t>6</a:t>
            </a: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366F5326-B4D3-7FF1-895C-7CB9E3FF3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8707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7680" y="146304"/>
            <a:ext cx="11216640" cy="5436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933" b="1">
                <a:solidFill>
                  <a:srgbClr val="1F4E79"/>
                </a:solidFill>
                <a:latin typeface="游ゴシック"/>
                <a:ea typeface="游ゴシック"/>
              </a:rPr>
              <a:t>【附記】③ εS_peak の較正（熱・裸管 D1 / d1）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680" y="633984"/>
            <a:ext cx="1121664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sp>
        <p:nvSpPr>
          <p:cNvPr id="4" name="TextBox 3"/>
          <p:cNvSpPr txBox="1"/>
          <p:nvPr/>
        </p:nvSpPr>
        <p:spPr>
          <a:xfrm>
            <a:off x="604078" y="665480"/>
            <a:ext cx="1097280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67" b="1">
                <a:solidFill>
                  <a:srgbClr val="1F4E79"/>
                </a:solidFill>
                <a:latin typeface="游ゴシック"/>
                <a:ea typeface="游ゴシック"/>
              </a:rPr>
              <a:t>較正式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89887" y="704087"/>
            <a:ext cx="9412224" cy="1866581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pic>
        <p:nvPicPr>
          <p:cNvPr id="6" name="Picture 5" descr="eps_b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77240"/>
            <a:ext cx="9265920" cy="1720277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244416"/>
              </p:ext>
            </p:extLst>
          </p:nvPr>
        </p:nvGraphicFramePr>
        <p:xfrm>
          <a:off x="609600" y="2682461"/>
          <a:ext cx="109728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記号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意味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εS_total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メーカー感度 [cps/nv]（熱φ=1 のときの全計数率）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f_peak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パイルでの R_peak / R_total の平均（30 cm・80 cm）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9600" y="4206240"/>
            <a:ext cx="1097280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67" b="1">
                <a:solidFill>
                  <a:srgbClr val="1F4E79"/>
                </a:solidFill>
                <a:latin typeface="游ゴシック"/>
                <a:ea typeface="游ゴシック"/>
              </a:rPr>
              <a:t>代入結果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6049" y="4498849"/>
            <a:ext cx="9899903" cy="2373879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pic>
        <p:nvPicPr>
          <p:cNvPr id="10" name="Picture 9" descr="eps_d1_d1n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4572001"/>
            <a:ext cx="9753600" cy="22275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77600" y="6364224"/>
            <a:ext cx="670560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333" b="0">
                <a:solidFill>
                  <a:srgbClr val="888888"/>
                </a:solidFill>
                <a:latin typeface="游ゴシック"/>
                <a:ea typeface="游ゴシック"/>
              </a:rPr>
              <a:t>7</a:t>
            </a:r>
          </a:p>
        </p:txBody>
      </p:sp>
      <p:sp>
        <p:nvSpPr>
          <p:cNvPr id="12" name="スライド番号プレースホルダー 11">
            <a:extLst>
              <a:ext uri="{FF2B5EF4-FFF2-40B4-BE49-F238E27FC236}">
                <a16:creationId xmlns:a16="http://schemas.microsoft.com/office/drawing/2014/main" id="{95C9BFBB-64BD-FFDD-9D0A-396D363ED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20885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7680" y="146304"/>
            <a:ext cx="11216640" cy="5436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933" b="1">
                <a:solidFill>
                  <a:srgbClr val="1F4E79"/>
                </a:solidFill>
                <a:latin typeface="游ゴシック"/>
                <a:ea typeface="游ゴシック"/>
              </a:rPr>
              <a:t>【附記】④ εS_peak の転送較正（MeV・PE付き D2 / d2）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680" y="633984"/>
            <a:ext cx="1121664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sp>
        <p:nvSpPr>
          <p:cNvPr id="4" name="TextBox 3"/>
          <p:cNvSpPr txBox="1"/>
          <p:nvPr/>
        </p:nvSpPr>
        <p:spPr>
          <a:xfrm>
            <a:off x="609600" y="792480"/>
            <a:ext cx="1097280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67" b="1">
                <a:solidFill>
                  <a:srgbClr val="1F4E79"/>
                </a:solidFill>
                <a:latin typeface="游ゴシック"/>
                <a:ea typeface="游ゴシック"/>
              </a:rPr>
              <a:t>転送の考え方（同一地点で並べて測る）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11808" y="1085087"/>
            <a:ext cx="9168384" cy="2484008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pic>
        <p:nvPicPr>
          <p:cNvPr id="6" name="Picture 5" descr="eps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60" y="1158240"/>
            <a:ext cx="9022080" cy="233770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633802"/>
              </p:ext>
            </p:extLst>
          </p:nvPr>
        </p:nvGraphicFramePr>
        <p:xfrm>
          <a:off x="609600" y="4484977"/>
          <a:ext cx="10972800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36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対象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転送地点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結果 εS_peak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d2（小径PE）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地上（d2/D1）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27.25 cm²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D2（大径PE）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Linac 同日（D2/D1）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178.5 cm²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277600" y="6364224"/>
            <a:ext cx="670560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333" b="0">
                <a:solidFill>
                  <a:srgbClr val="888888"/>
                </a:solidFill>
                <a:latin typeface="游ゴシック"/>
                <a:ea typeface="游ゴシック"/>
              </a:rPr>
              <a:t>8</a:t>
            </a: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5978913C-9DFD-3658-7D8E-985C9F45A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62998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7680" y="146304"/>
            <a:ext cx="11216640" cy="5436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933" b="1">
                <a:solidFill>
                  <a:srgbClr val="1F4E79"/>
                </a:solidFill>
                <a:latin typeface="游ゴシック"/>
                <a:ea typeface="游ゴシック"/>
              </a:rPr>
              <a:t>【附記】⑤ スペクトル部分補正（peak_partial）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680" y="633984"/>
            <a:ext cx="1121664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sp>
        <p:nvSpPr>
          <p:cNvPr id="4" name="TextBox 3"/>
          <p:cNvSpPr txBox="1"/>
          <p:nvPr/>
        </p:nvSpPr>
        <p:spPr>
          <a:xfrm>
            <a:off x="609600" y="693089"/>
            <a:ext cx="1097280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67" b="1">
                <a:solidFill>
                  <a:srgbClr val="1F4E79"/>
                </a:solidFill>
                <a:latin typeface="游ゴシック"/>
                <a:ea typeface="游ゴシック"/>
              </a:rPr>
              <a:t>欠損割合 f（熱中性子パイルで決定）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6049" y="947044"/>
            <a:ext cx="9899903" cy="1965491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pic>
        <p:nvPicPr>
          <p:cNvPr id="6" name="Picture 5" descr="f_par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020197"/>
            <a:ext cx="9753600" cy="18191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2908852"/>
            <a:ext cx="1097280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67" b="1">
                <a:solidFill>
                  <a:srgbClr val="1F4E79"/>
                </a:solidFill>
                <a:latin typeface="游ゴシック"/>
                <a:ea typeface="游ゴシック"/>
              </a:rPr>
              <a:t>補正後の 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89721" y="3278765"/>
            <a:ext cx="9168384" cy="1878709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pic>
        <p:nvPicPr>
          <p:cNvPr id="9" name="Picture 8" descr="net_cor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873" y="3351917"/>
            <a:ext cx="9022080" cy="1732405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6314"/>
              </p:ext>
            </p:extLst>
          </p:nvPr>
        </p:nvGraphicFramePr>
        <p:xfrm>
          <a:off x="2520122" y="5130137"/>
          <a:ext cx="67056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量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値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f_large（D1/D2）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0.7080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f_small（d1/d2）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0.6680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cut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およそ 200 ch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277600" y="6364224"/>
            <a:ext cx="670560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333" b="0">
                <a:solidFill>
                  <a:srgbClr val="888888"/>
                </a:solidFill>
                <a:latin typeface="游ゴシック"/>
                <a:ea typeface="游ゴシック"/>
              </a:rPr>
              <a:t>9</a:t>
            </a:r>
          </a:p>
        </p:txBody>
      </p:sp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B7047C58-C444-73BA-E251-1B24654B1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7680" y="146304"/>
            <a:ext cx="11216640" cy="5436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933" b="1">
                <a:solidFill>
                  <a:srgbClr val="1F4E79"/>
                </a:solidFill>
                <a:latin typeface="游ゴシック"/>
                <a:ea typeface="游ゴシック"/>
              </a:rPr>
              <a:t>【附記】⑥ 相対フラックスと誤差伝播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680" y="633984"/>
            <a:ext cx="1121664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sp>
        <p:nvSpPr>
          <p:cNvPr id="4" name="TextBox 3"/>
          <p:cNvSpPr txBox="1"/>
          <p:nvPr/>
        </p:nvSpPr>
        <p:spPr>
          <a:xfrm>
            <a:off x="609600" y="792480"/>
            <a:ext cx="10972800" cy="3181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450" b="1">
                <a:solidFill>
                  <a:srgbClr val="1F4E79"/>
                </a:solidFill>
                <a:latin typeface="游ゴシック"/>
                <a:ea typeface="游ゴシック"/>
              </a:rPr>
              <a:t>相対化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9" y="1339087"/>
            <a:ext cx="10143743" cy="1967399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pic>
        <p:nvPicPr>
          <p:cNvPr id="6" name="Picture 5" descr="rel_ph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1" y="1412241"/>
            <a:ext cx="9997439" cy="1821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3428117"/>
            <a:ext cx="1097280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67" b="1">
                <a:solidFill>
                  <a:srgbClr val="1F4E79"/>
                </a:solidFill>
                <a:latin typeface="游ゴシック"/>
                <a:ea typeface="游ゴシック"/>
              </a:rPr>
              <a:t>統計誤差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35006" y="4013378"/>
            <a:ext cx="9899903" cy="2548903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pic>
        <p:nvPicPr>
          <p:cNvPr id="9" name="Picture 8" descr="err_p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157" y="4086530"/>
            <a:ext cx="9753600" cy="24025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77600" y="6364224"/>
            <a:ext cx="670560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333" b="0">
                <a:solidFill>
                  <a:srgbClr val="888888"/>
                </a:solidFill>
                <a:latin typeface="游ゴシック"/>
                <a:ea typeface="游ゴシック"/>
              </a:rPr>
              <a:t>10</a:t>
            </a: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2CAF9E85-B1C8-B61F-CFE8-A61055C9D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7680" y="146304"/>
            <a:ext cx="11216640" cy="5436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933" b="1">
                <a:solidFill>
                  <a:srgbClr val="1F4E79"/>
                </a:solidFill>
                <a:latin typeface="游ゴシック"/>
                <a:ea typeface="游ゴシック"/>
              </a:rPr>
              <a:t>【附記】⑦ 数値例：D1・地上（熱中性子）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680" y="633984"/>
            <a:ext cx="1121664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sp>
        <p:nvSpPr>
          <p:cNvPr id="4" name="TextBox 3"/>
          <p:cNvSpPr txBox="1"/>
          <p:nvPr/>
        </p:nvSpPr>
        <p:spPr>
          <a:xfrm>
            <a:off x="487680" y="670560"/>
            <a:ext cx="11216640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333" b="0">
                <a:solidFill>
                  <a:srgbClr val="555555"/>
                </a:solidFill>
                <a:latin typeface="游ゴシック"/>
                <a:ea typeface="游ゴシック"/>
              </a:rPr>
              <a:t>ファイル: D1_20260819_1530_地上.mca　／　検出器 D1（大径裸管）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4078" y="970059"/>
            <a:ext cx="1097280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67" b="1">
                <a:solidFill>
                  <a:srgbClr val="1F4E79"/>
                </a:solidFill>
                <a:latin typeface="游ゴシック"/>
                <a:ea typeface="游ゴシック"/>
              </a:rPr>
              <a:t>ステップ1 — 正味計数率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89887" y="1328927"/>
            <a:ext cx="9412224" cy="1807631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pic>
        <p:nvPicPr>
          <p:cNvPr id="7" name="Picture 6" descr="ex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402081"/>
            <a:ext cx="9265920" cy="16613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2804160"/>
            <a:ext cx="1097280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67" b="1">
                <a:solidFill>
                  <a:srgbClr val="1F4E79"/>
                </a:solidFill>
                <a:latin typeface="游ゴシック"/>
                <a:ea typeface="游ゴシック"/>
              </a:rPr>
              <a:t>ステップ2 — 絶対フラックス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9" y="3096769"/>
            <a:ext cx="10143743" cy="1850593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pic>
        <p:nvPicPr>
          <p:cNvPr id="10" name="Picture 9" descr="ex_p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1" y="3169921"/>
            <a:ext cx="9997439" cy="170428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632960"/>
            <a:ext cx="1097280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67" b="1">
                <a:solidFill>
                  <a:srgbClr val="1F4E79"/>
                </a:solidFill>
                <a:latin typeface="游ゴシック"/>
                <a:ea typeface="游ゴシック"/>
              </a:rPr>
              <a:t>ステップ3 — 相対（管理棟2階、εS は約分）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55648" y="4925568"/>
            <a:ext cx="8680704" cy="1780437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pic>
        <p:nvPicPr>
          <p:cNvPr id="13" name="Picture 12" descr="ex_r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998719"/>
            <a:ext cx="8534400" cy="163413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77600" y="6364224"/>
            <a:ext cx="670560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333" b="0">
                <a:solidFill>
                  <a:srgbClr val="888888"/>
                </a:solidFill>
                <a:latin typeface="游ゴシック"/>
                <a:ea typeface="游ゴシック"/>
              </a:rPr>
              <a:t>11</a:t>
            </a:r>
          </a:p>
        </p:txBody>
      </p:sp>
      <p:sp>
        <p:nvSpPr>
          <p:cNvPr id="15" name="スライド番号プレースホルダー 14">
            <a:extLst>
              <a:ext uri="{FF2B5EF4-FFF2-40B4-BE49-F238E27FC236}">
                <a16:creationId xmlns:a16="http://schemas.microsoft.com/office/drawing/2014/main" id="{C438B6A7-E1C8-90CA-080E-266AE62C0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7680" y="146304"/>
            <a:ext cx="11216640" cy="5436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933" b="1">
                <a:solidFill>
                  <a:srgbClr val="1F4E79"/>
                </a:solidFill>
                <a:latin typeface="游ゴシック"/>
                <a:ea typeface="游ゴシック"/>
              </a:rPr>
              <a:t>【附記】⑧ 処理フローまとめ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680" y="633984"/>
            <a:ext cx="1121664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sp>
        <p:nvSpPr>
          <p:cNvPr id="4" name="Rounded Rectangle 3"/>
          <p:cNvSpPr/>
          <p:nvPr/>
        </p:nvSpPr>
        <p:spPr>
          <a:xfrm>
            <a:off x="426720" y="975360"/>
            <a:ext cx="2072640" cy="1463040"/>
          </a:xfrm>
          <a:prstGeom prst="roundRect">
            <a:avLst/>
          </a:prstGeom>
          <a:solidFill>
            <a:srgbClr val="EBF5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733" b="1">
                <a:solidFill>
                  <a:srgbClr val="1F4E79"/>
                </a:solidFill>
                <a:latin typeface="游ゴシック"/>
                <a:ea typeface="游ゴシック"/>
              </a:rPr>
              <a:t>① 取得</a:t>
            </a:r>
          </a:p>
          <a:p>
            <a:pPr algn="ctr"/>
            <a:r>
              <a:rPr sz="1467" b="0">
                <a:solidFill>
                  <a:srgbClr val="222222"/>
                </a:solidFill>
                <a:latin typeface="游ゴシック"/>
                <a:ea typeface="游ゴシック"/>
              </a:rPr>
              <a:t>MCA
live time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99359" y="1463040"/>
            <a:ext cx="243840" cy="390144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sp>
        <p:nvSpPr>
          <p:cNvPr id="6" name="Rounded Rectangle 5"/>
          <p:cNvSpPr/>
          <p:nvPr/>
        </p:nvSpPr>
        <p:spPr>
          <a:xfrm>
            <a:off x="2743200" y="975360"/>
            <a:ext cx="2072640" cy="1463040"/>
          </a:xfrm>
          <a:prstGeom prst="roundRect">
            <a:avLst/>
          </a:prstGeom>
          <a:solidFill>
            <a:srgbClr val="FFFBF0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733" b="1">
                <a:solidFill>
                  <a:srgbClr val="1F4E79"/>
                </a:solidFill>
                <a:latin typeface="游ゴシック"/>
                <a:ea typeface="游ゴシック"/>
              </a:rPr>
              <a:t>② 補正</a:t>
            </a:r>
          </a:p>
          <a:p>
            <a:pPr algn="ctr"/>
            <a:r>
              <a:rPr sz="1467" b="0">
                <a:solidFill>
                  <a:srgbClr val="222222"/>
                </a:solidFill>
                <a:latin typeface="游ゴシック"/>
                <a:ea typeface="游ゴシック"/>
              </a:rPr>
              <a:t>必要なら
×(1/f)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15840" y="1463040"/>
            <a:ext cx="243840" cy="390144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sp>
        <p:nvSpPr>
          <p:cNvPr id="8" name="Rounded Rectangle 7"/>
          <p:cNvSpPr/>
          <p:nvPr/>
        </p:nvSpPr>
        <p:spPr>
          <a:xfrm>
            <a:off x="5059679" y="975360"/>
            <a:ext cx="2072640" cy="1463040"/>
          </a:xfrm>
          <a:prstGeom prst="roundRect">
            <a:avLst/>
          </a:prstGeom>
          <a:solidFill>
            <a:srgbClr val="EBF5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733" b="1">
                <a:solidFill>
                  <a:srgbClr val="1F4E79"/>
                </a:solidFill>
                <a:latin typeface="游ゴシック"/>
                <a:ea typeface="游ゴシック"/>
              </a:rPr>
              <a:t>③ NET</a:t>
            </a:r>
          </a:p>
          <a:p>
            <a:pPr algn="ctr"/>
            <a:r>
              <a:rPr sz="1467" b="0">
                <a:solidFill>
                  <a:srgbClr val="222222"/>
                </a:solidFill>
                <a:latin typeface="游ゴシック"/>
                <a:ea typeface="游ゴシック"/>
              </a:rPr>
              <a:t>GROSS−BG
→ R_NET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32320" y="1463040"/>
            <a:ext cx="243840" cy="390144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sp>
        <p:nvSpPr>
          <p:cNvPr id="10" name="Rounded Rectangle 9"/>
          <p:cNvSpPr/>
          <p:nvPr/>
        </p:nvSpPr>
        <p:spPr>
          <a:xfrm>
            <a:off x="7376159" y="975360"/>
            <a:ext cx="2072640" cy="1463040"/>
          </a:xfrm>
          <a:prstGeom prst="roundRect">
            <a:avLst/>
          </a:prstGeom>
          <a:solidFill>
            <a:srgbClr val="FFFBF0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733" b="1">
                <a:solidFill>
                  <a:srgbClr val="1F4E79"/>
                </a:solidFill>
                <a:latin typeface="游ゴシック"/>
                <a:ea typeface="游ゴシック"/>
              </a:rPr>
              <a:t>④ 割る</a:t>
            </a:r>
          </a:p>
          <a:p>
            <a:pPr algn="ctr"/>
            <a:r>
              <a:rPr sz="1467" b="0">
                <a:solidFill>
                  <a:srgbClr val="222222"/>
                </a:solidFill>
                <a:latin typeface="游ゴシック"/>
                <a:ea typeface="游ゴシック"/>
              </a:rPr>
              <a:t>÷ εS_peak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448799" y="1463040"/>
            <a:ext cx="243840" cy="390144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sp>
        <p:nvSpPr>
          <p:cNvPr id="12" name="Rounded Rectangle 11"/>
          <p:cNvSpPr/>
          <p:nvPr/>
        </p:nvSpPr>
        <p:spPr>
          <a:xfrm>
            <a:off x="9692639" y="975360"/>
            <a:ext cx="2072640" cy="1463040"/>
          </a:xfrm>
          <a:prstGeom prst="roundRect">
            <a:avLst/>
          </a:prstGeom>
          <a:solidFill>
            <a:srgbClr val="EBF5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733" b="1">
                <a:solidFill>
                  <a:srgbClr val="1F4E79"/>
                </a:solidFill>
                <a:latin typeface="游ゴシック"/>
                <a:ea typeface="游ゴシック"/>
              </a:rPr>
              <a:t>⑤ 相対</a:t>
            </a:r>
          </a:p>
          <a:p>
            <a:pPr algn="ctr"/>
            <a:r>
              <a:rPr sz="1467" b="0">
                <a:solidFill>
                  <a:srgbClr val="222222"/>
                </a:solidFill>
                <a:latin typeface="游ゴシック"/>
                <a:ea typeface="游ゴシック"/>
              </a:rPr>
              <a:t>φ / φ₀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743200"/>
            <a:ext cx="10972800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67" b="1">
                <a:solidFill>
                  <a:srgbClr val="1F4E79"/>
                </a:solidFill>
                <a:latin typeface="游ゴシック"/>
                <a:ea typeface="游ゴシック"/>
              </a:rPr>
              <a:t>最終的にやっていること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11808" y="3035808"/>
            <a:ext cx="9168384" cy="2007141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pic>
        <p:nvPicPr>
          <p:cNvPr id="15" name="Picture 14" descr="phi_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960" y="3108960"/>
            <a:ext cx="9022080" cy="186083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4078" y="5290489"/>
            <a:ext cx="1097280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游ゴシック"/>
                <a:ea typeface="游ゴシック"/>
              </a:rPr>
              <a:t>・熱: メーカー×パイル窓比　／　MeV: 現場転送　で εS_peak を決める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游ゴシック"/>
                <a:ea typeface="游ゴシック"/>
              </a:rPr>
              <a:t>・深い地点は peak_partial のあと、同じ式を適用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  <a:latin typeface="游ゴシック"/>
                <a:ea typeface="游ゴシック"/>
              </a:rPr>
              <a:t>・数式画像: figures/equations/　（TeX → PNG）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600" y="6364224"/>
            <a:ext cx="670560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333" b="0">
                <a:solidFill>
                  <a:srgbClr val="888888"/>
                </a:solidFill>
                <a:latin typeface="游ゴシック"/>
                <a:ea typeface="游ゴシック"/>
              </a:rPr>
              <a:t>12</a:t>
            </a:r>
          </a:p>
        </p:txBody>
      </p:sp>
      <p:sp>
        <p:nvSpPr>
          <p:cNvPr id="18" name="スライド番号プレースホルダー 17">
            <a:extLst>
              <a:ext uri="{FF2B5EF4-FFF2-40B4-BE49-F238E27FC236}">
                <a16:creationId xmlns:a16="http://schemas.microsoft.com/office/drawing/2014/main" id="{5ABD2F2A-3CAE-99E4-E34D-DD7CFB34C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29</a:t>
            </a:fld>
            <a:endParaRPr kumimoji="1" lang="ja-JP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6720" y="121920"/>
            <a:ext cx="11338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 b="1">
                <a:solidFill>
                  <a:srgbClr val="1F4E79"/>
                </a:solidFill>
                <a:latin typeface="游ゴシック"/>
                <a:ea typeface="游ゴシック"/>
              </a:rPr>
              <a:t>【附記】誤差棒の取り方（概要）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" y="585217"/>
            <a:ext cx="11338560" cy="34137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sp>
        <p:nvSpPr>
          <p:cNvPr id="4" name="TextBox 3"/>
          <p:cNvSpPr txBox="1"/>
          <p:nvPr/>
        </p:nvSpPr>
        <p:spPr>
          <a:xfrm>
            <a:off x="426720" y="609600"/>
            <a:ext cx="11338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 b="0">
                <a:solidFill>
                  <a:srgbClr val="555555"/>
                </a:solidFill>
                <a:latin typeface="游ゴシック"/>
                <a:ea typeface="游ゴシック"/>
              </a:rPr>
              <a:t>図18: 横軸＝等価コンクリート厚の系統誤差、縦軸＝フラックスの統計誤差</a:t>
            </a:r>
          </a:p>
        </p:txBody>
      </p:sp>
      <p:pic>
        <p:nvPicPr>
          <p:cNvPr id="5" name="Picture 4" descr="18_全地点_フラックス_絶対_熱中性子_D1d1_λ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" y="950976"/>
            <a:ext cx="6705600" cy="398226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76160" y="1036320"/>
            <a:ext cx="4328160" cy="3169920"/>
          </a:xfrm>
          <a:prstGeom prst="roundRect">
            <a:avLst/>
          </a:prstGeom>
          <a:solidFill>
            <a:srgbClr val="EBF5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33" b="1" err="1">
                <a:solidFill>
                  <a:srgbClr val="222222"/>
                </a:solidFill>
                <a:latin typeface="游ゴシック"/>
                <a:ea typeface="游ゴシック"/>
              </a:rPr>
              <a:t>誤差棒の意味</a:t>
            </a:r>
            <a:endParaRPr sz="1333" b="1">
              <a:solidFill>
                <a:srgbClr val="222222"/>
              </a:solidFill>
              <a:latin typeface="游ゴシック"/>
              <a:ea typeface="游ゴシック"/>
            </a:endParaRPr>
          </a:p>
          <a:p>
            <a:r>
              <a:rPr sz="1333" b="0" err="1">
                <a:solidFill>
                  <a:srgbClr val="222222"/>
                </a:solidFill>
                <a:latin typeface="游ゴシック"/>
                <a:ea typeface="游ゴシック"/>
              </a:rPr>
              <a:t>縦</a:t>
            </a:r>
            <a:r>
              <a:rPr sz="1333" b="0">
                <a:solidFill>
                  <a:srgbClr val="222222"/>
                </a:solidFill>
                <a:latin typeface="游ゴシック"/>
                <a:ea typeface="游ゴシック"/>
              </a:rPr>
              <a:t>: </a:t>
            </a:r>
            <a:r>
              <a:rPr sz="1333" b="0" err="1">
                <a:solidFill>
                  <a:srgbClr val="222222"/>
                </a:solidFill>
                <a:latin typeface="游ゴシック"/>
                <a:ea typeface="游ゴシック"/>
              </a:rPr>
              <a:t>統計誤差</a:t>
            </a:r>
            <a:r>
              <a:rPr sz="1333" b="0">
                <a:solidFill>
                  <a:srgbClr val="222222"/>
                </a:solidFill>
                <a:latin typeface="游ゴシック"/>
                <a:ea typeface="游ゴシック"/>
              </a:rPr>
              <a:t> </a:t>
            </a:r>
            <a:r>
              <a:rPr sz="1333" b="0" err="1">
                <a:solidFill>
                  <a:srgbClr val="222222"/>
                </a:solidFill>
                <a:latin typeface="游ゴシック"/>
                <a:ea typeface="游ゴシック"/>
              </a:rPr>
              <a:t>δφ</a:t>
            </a:r>
            <a:endParaRPr sz="1333" b="0">
              <a:solidFill>
                <a:srgbClr val="222222"/>
              </a:solidFill>
              <a:latin typeface="游ゴシック"/>
              <a:ea typeface="游ゴシック"/>
            </a:endParaRPr>
          </a:p>
          <a:p>
            <a:r>
              <a:rPr sz="1333" b="0">
                <a:solidFill>
                  <a:srgbClr val="222222"/>
                </a:solidFill>
                <a:latin typeface="游ゴシック"/>
                <a:ea typeface="游ゴシック"/>
              </a:rPr>
              <a:t>　→ </a:t>
            </a:r>
            <a:r>
              <a:rPr sz="1333" b="0" err="1">
                <a:solidFill>
                  <a:srgbClr val="222222"/>
                </a:solidFill>
                <a:latin typeface="游ゴシック"/>
                <a:ea typeface="游ゴシック"/>
              </a:rPr>
              <a:t>カウントのゆらぎ</a:t>
            </a:r>
            <a:endParaRPr sz="1333" b="0">
              <a:solidFill>
                <a:srgbClr val="222222"/>
              </a:solidFill>
              <a:latin typeface="游ゴシック"/>
              <a:ea typeface="游ゴシック"/>
            </a:endParaRPr>
          </a:p>
          <a:p>
            <a:r>
              <a:rPr sz="1333" b="0" err="1">
                <a:solidFill>
                  <a:srgbClr val="222222"/>
                </a:solidFill>
                <a:latin typeface="游ゴシック"/>
                <a:ea typeface="游ゴシック"/>
              </a:rPr>
              <a:t>横</a:t>
            </a:r>
            <a:r>
              <a:rPr sz="1333" b="0">
                <a:solidFill>
                  <a:srgbClr val="222222"/>
                </a:solidFill>
                <a:latin typeface="游ゴシック"/>
                <a:ea typeface="游ゴシック"/>
              </a:rPr>
              <a:t>: </a:t>
            </a:r>
            <a:r>
              <a:rPr sz="1333" b="0" err="1">
                <a:solidFill>
                  <a:srgbClr val="222222"/>
                </a:solidFill>
                <a:latin typeface="游ゴシック"/>
                <a:ea typeface="游ゴシック"/>
              </a:rPr>
              <a:t>系統誤差</a:t>
            </a:r>
            <a:r>
              <a:rPr sz="1333" b="0">
                <a:solidFill>
                  <a:srgbClr val="222222"/>
                </a:solidFill>
                <a:latin typeface="游ゴシック"/>
                <a:ea typeface="游ゴシック"/>
              </a:rPr>
              <a:t> </a:t>
            </a:r>
            <a:r>
              <a:rPr sz="1333" b="0" err="1">
                <a:solidFill>
                  <a:srgbClr val="222222"/>
                </a:solidFill>
                <a:latin typeface="游ゴシック"/>
                <a:ea typeface="游ゴシック"/>
              </a:rPr>
              <a:t>δt_eq</a:t>
            </a:r>
            <a:endParaRPr sz="1333" b="0">
              <a:solidFill>
                <a:srgbClr val="222222"/>
              </a:solidFill>
              <a:latin typeface="游ゴシック"/>
              <a:ea typeface="游ゴシック"/>
            </a:endParaRPr>
          </a:p>
          <a:p>
            <a:r>
              <a:rPr sz="1333" b="0">
                <a:solidFill>
                  <a:srgbClr val="222222"/>
                </a:solidFill>
                <a:latin typeface="游ゴシック"/>
                <a:ea typeface="游ゴシック"/>
              </a:rPr>
              <a:t>　→ </a:t>
            </a:r>
            <a:r>
              <a:rPr sz="1333" b="0" err="1">
                <a:solidFill>
                  <a:srgbClr val="222222"/>
                </a:solidFill>
                <a:latin typeface="游ゴシック"/>
                <a:ea typeface="游ゴシック"/>
              </a:rPr>
              <a:t>厚さ・密度の不確かさ</a:t>
            </a:r>
            <a:endParaRPr sz="1333" b="0">
              <a:solidFill>
                <a:srgbClr val="222222"/>
              </a:solidFill>
              <a:latin typeface="游ゴシック"/>
              <a:ea typeface="游ゴシック"/>
            </a:endParaRPr>
          </a:p>
          <a:p>
            <a:endParaRPr sz="1333" b="0">
              <a:solidFill>
                <a:srgbClr val="222222"/>
              </a:solidFill>
              <a:latin typeface="游ゴシック"/>
              <a:ea typeface="游ゴシック"/>
            </a:endParaRPr>
          </a:p>
          <a:p>
            <a:r>
              <a:rPr sz="1333" b="0" err="1">
                <a:solidFill>
                  <a:srgbClr val="222222"/>
                </a:solidFill>
                <a:latin typeface="游ゴシック"/>
                <a:ea typeface="游ゴシック"/>
              </a:rPr>
              <a:t>両者は独立に評価し</a:t>
            </a:r>
            <a:r>
              <a:rPr sz="1333" b="0">
                <a:solidFill>
                  <a:srgbClr val="222222"/>
                </a:solidFill>
                <a:latin typeface="游ゴシック"/>
                <a:ea typeface="游ゴシック"/>
              </a:rPr>
              <a:t>、</a:t>
            </a:r>
          </a:p>
          <a:p>
            <a:r>
              <a:rPr sz="1333" b="0" err="1">
                <a:solidFill>
                  <a:srgbClr val="222222"/>
                </a:solidFill>
                <a:latin typeface="游ゴシック"/>
                <a:ea typeface="游ゴシック"/>
              </a:rPr>
              <a:t>errorbar</a:t>
            </a:r>
            <a:r>
              <a:rPr sz="1333" b="0">
                <a:solidFill>
                  <a:srgbClr val="222222"/>
                </a:solidFill>
                <a:latin typeface="游ゴシック"/>
                <a:ea typeface="游ゴシック"/>
              </a:rPr>
              <a:t> </a:t>
            </a:r>
            <a:r>
              <a:rPr sz="1333" b="0" err="1">
                <a:solidFill>
                  <a:srgbClr val="222222"/>
                </a:solidFill>
                <a:latin typeface="游ゴシック"/>
                <a:ea typeface="游ゴシック"/>
              </a:rPr>
              <a:t>の</a:t>
            </a:r>
            <a:r>
              <a:rPr sz="1333" b="0">
                <a:solidFill>
                  <a:srgbClr val="222222"/>
                </a:solidFill>
                <a:latin typeface="游ゴシック"/>
                <a:ea typeface="游ゴシック"/>
              </a:rPr>
              <a:t> </a:t>
            </a:r>
            <a:r>
              <a:rPr sz="1333" b="0" err="1">
                <a:solidFill>
                  <a:srgbClr val="222222"/>
                </a:solidFill>
                <a:latin typeface="游ゴシック"/>
                <a:ea typeface="游ゴシック"/>
              </a:rPr>
              <a:t>xerr</a:t>
            </a:r>
            <a:r>
              <a:rPr sz="1333" b="0">
                <a:solidFill>
                  <a:srgbClr val="222222"/>
                </a:solidFill>
                <a:latin typeface="游ゴシック"/>
                <a:ea typeface="游ゴシック"/>
              </a:rPr>
              <a:t> / </a:t>
            </a:r>
            <a:r>
              <a:rPr sz="1333" b="0" err="1">
                <a:solidFill>
                  <a:srgbClr val="222222"/>
                </a:solidFill>
                <a:latin typeface="游ゴシック"/>
                <a:ea typeface="游ゴシック"/>
              </a:rPr>
              <a:t>yerr</a:t>
            </a:r>
            <a:r>
              <a:rPr sz="1333" b="0">
                <a:solidFill>
                  <a:srgbClr val="222222"/>
                </a:solidFill>
                <a:latin typeface="游ゴシック"/>
                <a:ea typeface="游ゴシック"/>
              </a:rPr>
              <a:t> </a:t>
            </a:r>
            <a:r>
              <a:rPr sz="1333" b="0" err="1">
                <a:solidFill>
                  <a:srgbClr val="222222"/>
                </a:solidFill>
                <a:latin typeface="游ゴシック"/>
                <a:ea typeface="游ゴシック"/>
              </a:rPr>
              <a:t>に載せる</a:t>
            </a:r>
            <a:r>
              <a:rPr sz="1333" b="0">
                <a:solidFill>
                  <a:srgbClr val="222222"/>
                </a:solidFill>
                <a:latin typeface="游ゴシック"/>
                <a:ea typeface="游ゴシック"/>
              </a:rPr>
              <a:t>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76160" y="4389120"/>
          <a:ext cx="432816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軸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記号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性格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主な由来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縦軸 φ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δφ = y_err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統計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NET のポアソン誤差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横軸 t_eq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δt_eq = x_err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系統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層厚・密度の不確かさ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277600" y="6364224"/>
            <a:ext cx="670560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333" b="0">
                <a:solidFill>
                  <a:srgbClr val="888888"/>
                </a:solidFill>
                <a:latin typeface="游ゴシック"/>
                <a:ea typeface="游ゴシック"/>
              </a:rPr>
              <a:t>13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BB234CF-2D99-EEAF-FB88-1DCE3D42F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30</a:t>
            </a:fld>
            <a:endParaRPr kumimoji="1" lang="ja-JP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6720" y="121920"/>
            <a:ext cx="11338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 b="1">
                <a:solidFill>
                  <a:srgbClr val="1E844E"/>
                </a:solidFill>
                <a:latin typeface="游ゴシック"/>
                <a:ea typeface="游ゴシック"/>
              </a:rPr>
              <a:t>【附記】縦軸の誤差（統計）δφ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" y="585217"/>
            <a:ext cx="11338560" cy="34137"/>
          </a:xfrm>
          <a:prstGeom prst="rect">
            <a:avLst/>
          </a:prstGeom>
          <a:solidFill>
            <a:srgbClr val="1E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sp>
        <p:nvSpPr>
          <p:cNvPr id="4" name="TextBox 3"/>
          <p:cNvSpPr txBox="1"/>
          <p:nvPr/>
        </p:nvSpPr>
        <p:spPr>
          <a:xfrm>
            <a:off x="426720" y="609600"/>
            <a:ext cx="11338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 b="0">
                <a:solidFill>
                  <a:srgbClr val="555555"/>
                </a:solidFill>
                <a:latin typeface="游ゴシック"/>
                <a:ea typeface="游ゴシック"/>
              </a:rPr>
              <a:t>絶対フラックス φ = R_NET / εS_peak に対する統計伝播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80" y="914400"/>
            <a:ext cx="1097280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67" b="1">
                <a:solidFill>
                  <a:srgbClr val="1E844E"/>
                </a:solidFill>
                <a:latin typeface="游ゴシック"/>
                <a:ea typeface="游ゴシック"/>
              </a:rPr>
              <a:t>① 正味計数率の統計誤差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1" y="1219201"/>
            <a:ext cx="9387839" cy="1797671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pic>
        <p:nvPicPr>
          <p:cNvPr id="7" name="Picture 6" descr="yerr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20" y="1280161"/>
            <a:ext cx="9265920" cy="16757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7680" y="2743200"/>
            <a:ext cx="1097280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67" b="1">
                <a:solidFill>
                  <a:srgbClr val="1E844E"/>
                </a:solidFill>
                <a:latin typeface="游ゴシック"/>
                <a:ea typeface="游ゴシック"/>
              </a:rPr>
              <a:t>② フラックスへ伝播（εS_peak は定数扱い）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67841" y="3048001"/>
            <a:ext cx="8412479" cy="1740935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pic>
        <p:nvPicPr>
          <p:cNvPr id="10" name="Picture 9" descr="yerr_p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108961"/>
            <a:ext cx="8290560" cy="1619015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87680" y="4572000"/>
          <a:ext cx="1121664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記号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意味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GROSS / BG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ROI 総カウント / 側帯から推定した背景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δR_NET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正味計数率の 1σ 統計誤差 [s⁻¹]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δφ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絶対フラックスの 1σ 統計誤差 [n/cm²/s]（= y_err）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277600" y="6364224"/>
            <a:ext cx="670560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333" b="0">
                <a:solidFill>
                  <a:srgbClr val="888888"/>
                </a:solidFill>
                <a:latin typeface="游ゴシック"/>
                <a:ea typeface="游ゴシック"/>
              </a:rPr>
              <a:t>14</a:t>
            </a:r>
          </a:p>
        </p:txBody>
      </p:sp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CB64BEFC-D67B-8B49-CFE3-B1D10FC22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31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10169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6720" y="121920"/>
            <a:ext cx="11338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 b="1">
                <a:solidFill>
                  <a:srgbClr val="1E844E"/>
                </a:solidFill>
                <a:latin typeface="游ゴシック"/>
                <a:ea typeface="游ゴシック"/>
              </a:rPr>
              <a:t>【附記】縦軸の誤差（相対・数値例）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" y="585217"/>
            <a:ext cx="11338560" cy="34137"/>
          </a:xfrm>
          <a:prstGeom prst="rect">
            <a:avLst/>
          </a:prstGeom>
          <a:solidFill>
            <a:srgbClr val="1E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sp>
        <p:nvSpPr>
          <p:cNvPr id="4" name="TextBox 3"/>
          <p:cNvSpPr txBox="1"/>
          <p:nvPr/>
        </p:nvSpPr>
        <p:spPr>
          <a:xfrm>
            <a:off x="487680" y="792480"/>
            <a:ext cx="1097280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67" b="1">
                <a:solidFill>
                  <a:srgbClr val="1E844E"/>
                </a:solidFill>
                <a:latin typeface="游ゴシック"/>
                <a:ea typeface="游ゴシック"/>
              </a:rPr>
              <a:t>相対フラックスの誤差（基準点 x₀ との比）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6320" y="1097279"/>
            <a:ext cx="9875520" cy="1917540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pic>
        <p:nvPicPr>
          <p:cNvPr id="6" name="Picture 5" descr="rel_e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58241"/>
            <a:ext cx="9753600" cy="17956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7680" y="2865120"/>
            <a:ext cx="1097280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67" b="1">
                <a:solidFill>
                  <a:srgbClr val="1E844E"/>
                </a:solidFill>
                <a:latin typeface="游ゴシック"/>
                <a:ea typeface="游ゴシック"/>
              </a:rPr>
              <a:t>数値例（D1・peak764）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87680" y="3230880"/>
          <a:ext cx="670560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地点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φ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δφ (y_err)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相対%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地上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1.69e-03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4.12e-05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2.4%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testhole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6.61e-04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1.32e-05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2.0%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PF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7.83e-04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9.23e-06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1.2%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BT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3.85e-04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1.43e-05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3.7%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Linac3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3.20e-04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7.93e-06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2.5%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PS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1.41e-04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3.07e-06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2.2%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KEKB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1.84e-04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4.80e-06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2.6%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559040" y="3230880"/>
            <a:ext cx="4145280" cy="2865120"/>
          </a:xfrm>
          <a:prstGeom prst="roundRect">
            <a:avLst/>
          </a:prstGeom>
          <a:solidFill>
            <a:srgbClr val="EBF5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33" b="1">
                <a:solidFill>
                  <a:srgbClr val="222222"/>
                </a:solidFill>
                <a:latin typeface="游ゴシック"/>
                <a:ea typeface="游ゴシック"/>
              </a:rPr>
              <a:t>読み方</a:t>
            </a:r>
          </a:p>
          <a:p>
            <a:r>
              <a:rPr sz="1333" b="0">
                <a:solidFill>
                  <a:srgbClr val="222222"/>
                </a:solidFill>
                <a:latin typeface="游ゴシック"/>
                <a:ea typeface="游ゴシック"/>
              </a:rPr>
              <a:t>縦誤差棒はだいたい数 %。</a:t>
            </a:r>
          </a:p>
          <a:p>
            <a:r>
              <a:rPr sz="1333" b="0">
                <a:solidFill>
                  <a:srgbClr val="222222"/>
                </a:solidFill>
                <a:latin typeface="游ゴシック"/>
                <a:ea typeface="游ゴシック"/>
              </a:rPr>
              <a:t>深い地点でも統計は抑えめ</a:t>
            </a:r>
          </a:p>
          <a:p>
            <a:r>
              <a:rPr sz="1333" b="0">
                <a:solidFill>
                  <a:srgbClr val="222222"/>
                </a:solidFill>
                <a:latin typeface="游ゴシック"/>
                <a:ea typeface="游ゴシック"/>
              </a:rPr>
              <a:t>（長時間測定のため）。</a:t>
            </a:r>
          </a:p>
          <a:p>
            <a:endParaRPr sz="1333" b="0">
              <a:solidFill>
                <a:srgbClr val="222222"/>
              </a:solidFill>
              <a:latin typeface="游ゴシック"/>
              <a:ea typeface="游ゴシック"/>
            </a:endParaRPr>
          </a:p>
          <a:p>
            <a:r>
              <a:rPr sz="1333" b="0">
                <a:solidFill>
                  <a:srgbClr val="222222"/>
                </a:solidFill>
                <a:latin typeface="游ゴシック"/>
                <a:ea typeface="游ゴシック"/>
              </a:rPr>
              <a:t>※ εS_peak の系統（メーカー</a:t>
            </a:r>
          </a:p>
          <a:p>
            <a:r>
              <a:rPr sz="1333" b="0">
                <a:solidFill>
                  <a:srgbClr val="222222"/>
                </a:solidFill>
                <a:latin typeface="游ゴシック"/>
                <a:ea typeface="游ゴシック"/>
              </a:rPr>
              <a:t>±5%・転送比）は縦棒には</a:t>
            </a:r>
          </a:p>
          <a:p>
            <a:r>
              <a:rPr sz="1333" b="0">
                <a:solidFill>
                  <a:srgbClr val="222222"/>
                </a:solidFill>
                <a:latin typeface="游ゴシック"/>
                <a:ea typeface="游ゴシック"/>
              </a:rPr>
              <a:t>含めていない（別途議論）。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600" y="6364224"/>
            <a:ext cx="670560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333" b="0">
                <a:solidFill>
                  <a:srgbClr val="888888"/>
                </a:solidFill>
                <a:latin typeface="游ゴシック"/>
                <a:ea typeface="游ゴシック"/>
              </a:rPr>
              <a:t>15</a:t>
            </a:r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EDD44E51-CF9E-BBEA-92C9-CC2304609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32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18676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6720" y="121920"/>
            <a:ext cx="11338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 b="1">
                <a:solidFill>
                  <a:srgbClr val="C0392B"/>
                </a:solidFill>
                <a:latin typeface="游ゴシック"/>
                <a:ea typeface="游ゴシック"/>
              </a:rPr>
              <a:t>【附記】横軸の誤差（系統）δt_eq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" y="585217"/>
            <a:ext cx="11338560" cy="34137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sp>
        <p:nvSpPr>
          <p:cNvPr id="4" name="TextBox 3"/>
          <p:cNvSpPr txBox="1"/>
          <p:nvPr/>
        </p:nvSpPr>
        <p:spPr>
          <a:xfrm>
            <a:off x="426720" y="609600"/>
            <a:ext cx="11338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 b="0">
                <a:solidFill>
                  <a:srgbClr val="555555"/>
                </a:solidFill>
                <a:latin typeface="游ゴシック"/>
                <a:ea typeface="游ゴシック"/>
              </a:rPr>
              <a:t>等価コンクリート厚 t_eq = X/ρ_c の不確かさ（厚さ＋密度）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80" y="877824"/>
            <a:ext cx="1097280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67" b="1">
                <a:solidFill>
                  <a:srgbClr val="C0392B"/>
                </a:solidFill>
                <a:latin typeface="游ゴシック"/>
                <a:ea typeface="游ゴシック"/>
              </a:rPr>
              <a:t>① 等価コンクリート厚の定義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2479" y="1158240"/>
            <a:ext cx="10485120" cy="1906099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pic>
        <p:nvPicPr>
          <p:cNvPr id="7" name="Picture 6" descr="x_t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" y="1219200"/>
            <a:ext cx="10363200" cy="17841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7680" y="2743200"/>
            <a:ext cx="1097280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67" b="1">
                <a:solidFill>
                  <a:srgbClr val="C0392B"/>
                </a:solidFill>
                <a:latin typeface="游ゴシック"/>
                <a:ea typeface="游ゴシック"/>
              </a:rPr>
              <a:t>② 各層の質量厚さの相対不確かさ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58241" y="3048001"/>
            <a:ext cx="9631679" cy="1857580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pic>
        <p:nvPicPr>
          <p:cNvPr id="10" name="Picture 9" descr="xerr_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108961"/>
            <a:ext cx="9509760" cy="17356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7680" y="4632960"/>
            <a:ext cx="1097280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67" b="1">
                <a:solidFill>
                  <a:srgbClr val="C0392B"/>
                </a:solidFill>
                <a:latin typeface="游ゴシック"/>
                <a:ea typeface="游ゴシック"/>
              </a:rPr>
              <a:t>③ 層を合成して t_eq の誤差へ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6320" y="4937761"/>
            <a:ext cx="9875520" cy="1803036"/>
          </a:xfrm>
          <a:prstGeom prst="roundRect">
            <a:avLst/>
          </a:prstGeom>
          <a:solidFill>
            <a:srgbClr val="E8EEF5"/>
          </a:solidFill>
          <a:ln>
            <a:solidFill>
              <a:srgbClr val="C5D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pic>
        <p:nvPicPr>
          <p:cNvPr id="13" name="Picture 12" descr="xerr_te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998719"/>
            <a:ext cx="9753600" cy="16811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77600" y="6364224"/>
            <a:ext cx="670560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333" b="0">
                <a:solidFill>
                  <a:srgbClr val="888888"/>
                </a:solidFill>
                <a:latin typeface="游ゴシック"/>
                <a:ea typeface="游ゴシック"/>
              </a:rPr>
              <a:t>16</a:t>
            </a:r>
          </a:p>
        </p:txBody>
      </p:sp>
      <p:sp>
        <p:nvSpPr>
          <p:cNvPr id="15" name="スライド番号プレースホルダー 14">
            <a:extLst>
              <a:ext uri="{FF2B5EF4-FFF2-40B4-BE49-F238E27FC236}">
                <a16:creationId xmlns:a16="http://schemas.microsoft.com/office/drawing/2014/main" id="{7BB9F607-9780-9F13-A0B5-CA0CE6C19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33</a:t>
            </a:fld>
            <a:endParaRPr kumimoji="1" lang="ja-JP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6720" y="121920"/>
            <a:ext cx="11338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 b="1">
                <a:solidFill>
                  <a:srgbClr val="C0392B"/>
                </a:solidFill>
                <a:latin typeface="游ゴシック"/>
                <a:ea typeface="游ゴシック"/>
              </a:rPr>
              <a:t>【附記】横軸誤差の仮定値と地点別の大きさ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" y="585217"/>
            <a:ext cx="11338560" cy="34137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26720" y="853440"/>
          <a:ext cx="113385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層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厚さの不確かさ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密度の不確かさ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コンクリート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δt_c = max(5 cm, 5%·t)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ρ_c = 2.3 ± 0.1 g/cm³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土（ローム等）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δt_s = 10%·t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相対 15%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鉄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δt_Fe = max(5 cm, 5%·t)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ρ_Fe = 7.2 ± 0.3 g/cm³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26720" y="2682240"/>
            <a:ext cx="1097280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67" b="1">
                <a:solidFill>
                  <a:srgbClr val="C0392B"/>
                </a:solidFill>
                <a:latin typeface="游ゴシック"/>
                <a:ea typeface="游ゴシック"/>
              </a:rPr>
              <a:t>地点別 δt_eq（= 図の x_err）と寄与分解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6720" y="3048000"/>
          <a:ext cx="1133856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地点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t_eq [cm]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δt_eq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厚さ寄与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密度寄与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地上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0.0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0.00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0.00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0.00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testhole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57.0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5.58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5.00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2.48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PF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105.0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6.96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5.25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4.57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Linac3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300.0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19.88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15.00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13.04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BT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189.1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23.95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13.85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19.54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PS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480.0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31.80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24.00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20.87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KEKB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525.4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80.53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44.82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66.91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277600" y="6364224"/>
            <a:ext cx="670560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333" b="0">
                <a:solidFill>
                  <a:srgbClr val="888888"/>
                </a:solidFill>
                <a:latin typeface="游ゴシック"/>
                <a:ea typeface="游ゴシック"/>
              </a:rPr>
              <a:t>17</a:t>
            </a:r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6A72F81B-3C6E-DA3F-E2DD-E35E4817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34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1692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6720" y="121920"/>
            <a:ext cx="11338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 b="1">
                <a:solidFill>
                  <a:srgbClr val="1F4E79"/>
                </a:solidFill>
                <a:latin typeface="游ゴシック"/>
                <a:ea typeface="游ゴシック"/>
              </a:rPr>
              <a:t>【附記】数値例：PF 地点の誤差棒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720" y="585217"/>
            <a:ext cx="11338560" cy="34137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sz="3200"/>
          </a:p>
        </p:txBody>
      </p:sp>
      <p:sp>
        <p:nvSpPr>
          <p:cNvPr id="4" name="TextBox 3"/>
          <p:cNvSpPr txBox="1"/>
          <p:nvPr/>
        </p:nvSpPr>
        <p:spPr>
          <a:xfrm>
            <a:off x="426720" y="609600"/>
            <a:ext cx="11338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200" b="0">
                <a:solidFill>
                  <a:srgbClr val="555555"/>
                </a:solidFill>
                <a:latin typeface="游ゴシック"/>
                <a:ea typeface="游ゴシック"/>
              </a:rPr>
              <a:t>コンクリート 105 cm のみ（土・鉄なし）→ 横軸も縦軸も追える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7680" y="914400"/>
            <a:ext cx="5486400" cy="1280160"/>
          </a:xfrm>
          <a:prstGeom prst="roundRect">
            <a:avLst/>
          </a:prstGeom>
          <a:solidFill>
            <a:srgbClr val="EBF5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33" b="1">
                <a:solidFill>
                  <a:srgbClr val="222222"/>
                </a:solidFill>
                <a:latin typeface="游ゴシック"/>
                <a:ea typeface="游ゴシック"/>
              </a:rPr>
              <a:t>PF の層構造</a:t>
            </a:r>
          </a:p>
          <a:p>
            <a:r>
              <a:rPr sz="1333" b="0">
                <a:solidFill>
                  <a:srgbClr val="222222"/>
                </a:solidFill>
                <a:latin typeface="游ゴシック"/>
                <a:ea typeface="游ゴシック"/>
              </a:rPr>
              <a:t>コンクリート t_c = 105 cm、土・鉄 = 0</a:t>
            </a:r>
          </a:p>
          <a:p>
            <a:r>
              <a:rPr sz="1333" b="0">
                <a:solidFill>
                  <a:srgbClr val="222222"/>
                </a:solidFill>
                <a:latin typeface="游ゴシック"/>
                <a:ea typeface="游ゴシック"/>
              </a:rPr>
              <a:t>t_eq = 105.0 cm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914400"/>
            <a:ext cx="5486400" cy="1280160"/>
          </a:xfrm>
          <a:prstGeom prst="roundRect">
            <a:avLst/>
          </a:prstGeom>
          <a:solidFill>
            <a:srgbClr val="E8F8F5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33" b="1">
                <a:solidFill>
                  <a:srgbClr val="222222"/>
                </a:solidFill>
                <a:latin typeface="游ゴシック"/>
                <a:ea typeface="游ゴシック"/>
              </a:rPr>
              <a:t>縦軸（統計）</a:t>
            </a:r>
          </a:p>
          <a:p>
            <a:r>
              <a:rPr sz="1333" b="0">
                <a:solidFill>
                  <a:srgbClr val="222222"/>
                </a:solidFill>
                <a:latin typeface="游ゴシック"/>
                <a:ea typeface="游ゴシック"/>
              </a:rPr>
              <a:t>φ = 7.829e-04 n/cm²/s</a:t>
            </a:r>
          </a:p>
          <a:p>
            <a:r>
              <a:rPr sz="1333" b="0">
                <a:solidFill>
                  <a:srgbClr val="222222"/>
                </a:solidFill>
                <a:latin typeface="游ゴシック"/>
                <a:ea typeface="游ゴシック"/>
              </a:rPr>
              <a:t>δφ = 9.23e-06  （相対 1.2%）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2438400"/>
            <a:ext cx="1097280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67" b="1">
                <a:solidFill>
                  <a:srgbClr val="C0392B"/>
                </a:solidFill>
                <a:latin typeface="游ゴシック"/>
                <a:ea typeface="游ゴシック"/>
              </a:rPr>
              <a:t>横軸の計算（抜粋）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80" y="2804160"/>
            <a:ext cx="11216640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267"/>
              </a:spcAft>
            </a:pPr>
            <a:r>
              <a:rPr sz="1600" b="0">
                <a:solidFill>
                  <a:srgbClr val="222222"/>
                </a:solidFill>
                <a:latin typeface="游ゴシック"/>
                <a:ea typeface="游ゴシック"/>
              </a:rPr>
              <a:t>・δt_c = max(5, 0.05×105) = max(5, 5.25) = 5.25 cm</a:t>
            </a:r>
          </a:p>
          <a:p>
            <a:pPr>
              <a:spcAft>
                <a:spcPts val="267"/>
              </a:spcAft>
            </a:pPr>
            <a:r>
              <a:rPr sz="1600" b="0">
                <a:solidFill>
                  <a:srgbClr val="222222"/>
                </a:solidFill>
                <a:latin typeface="游ゴシック"/>
                <a:ea typeface="游ゴシック"/>
              </a:rPr>
              <a:t>・δρ_c/ρ_c = 0.1/2.3 ≈ 4.3%</a:t>
            </a:r>
          </a:p>
          <a:p>
            <a:pPr>
              <a:spcAft>
                <a:spcPts val="267"/>
              </a:spcAft>
            </a:pPr>
            <a:r>
              <a:rPr sz="1600" b="0">
                <a:solidFill>
                  <a:srgbClr val="222222"/>
                </a:solidFill>
                <a:latin typeface="游ゴシック"/>
                <a:ea typeface="游ゴシック"/>
              </a:rPr>
              <a:t>・厚さ寄与 ≈ 5.25 cm、密度寄与 ≈ 4.57 cm</a:t>
            </a:r>
          </a:p>
          <a:p>
            <a:pPr>
              <a:spcAft>
                <a:spcPts val="267"/>
              </a:spcAft>
            </a:pPr>
            <a:r>
              <a:rPr sz="1600" b="0">
                <a:solidFill>
                  <a:srgbClr val="222222"/>
                </a:solidFill>
                <a:latin typeface="游ゴシック"/>
                <a:ea typeface="游ゴシック"/>
              </a:rPr>
              <a:t>・δt_eq = √(厚さ²+密度²) ≈ 6.96 cm  → これが x_err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87680" y="4754880"/>
          <a:ext cx="1121664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54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量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値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</a:rPr>
                        <a:t>図での見え方</a:t>
                      </a:r>
                    </a:p>
                  </a:txBody>
                  <a:tcPr marL="121920" marR="121920" marT="60960" marB="60960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x = t_eq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105.0 cm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点の横位置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x_err = δt_eq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6.96 cm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横の誤差棒（±）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y = φ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7.829e-04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点の縦位置（片対数）</a:t>
                      </a:r>
                    </a:p>
                  </a:txBody>
                  <a:tcPr marL="121920" marR="121920" marT="60960" marB="60960" anchor="ctr">
                    <a:solidFill>
                      <a:srgbClr val="D6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y_err = δφ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9.23e-06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</a:rPr>
                        <a:t>縦の誤差棒（±）</a:t>
                      </a:r>
                    </a:p>
                  </a:txBody>
                  <a:tcPr marL="121920" marR="121920" marT="60960" marB="609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1277600" y="6364224"/>
            <a:ext cx="670560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1333" b="0">
                <a:solidFill>
                  <a:srgbClr val="888888"/>
                </a:solidFill>
                <a:latin typeface="游ゴシック"/>
                <a:ea typeface="游ゴシック"/>
              </a:rPr>
              <a:t>18</a:t>
            </a:r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01971A14-234A-6034-A12A-0125FF5C3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35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65972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BAB88-5C9C-4D0D-D4D0-D6F894F01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FE318A-AC62-A773-627E-D043F8E2D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游ゴシック"/>
                <a:ea typeface="游ゴシック"/>
              </a:rPr>
              <a:t>実験結果と予測の比較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B586BB0D-57C0-8614-FCDB-D6568AA53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36" y="1831368"/>
            <a:ext cx="5922147" cy="3521551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A73118E3-0098-8FF6-DF06-A507D360E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283" y="1831368"/>
            <a:ext cx="5916376" cy="3510005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E5C17A5-DC4C-4B1E-11A8-9FD850C14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36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F85200B-7047-BCE4-B410-D9D038CCD1A9}"/>
              </a:ext>
            </a:extLst>
          </p:cNvPr>
          <p:cNvSpPr txBox="1"/>
          <p:nvPr/>
        </p:nvSpPr>
        <p:spPr>
          <a:xfrm>
            <a:off x="2025416" y="5186893"/>
            <a:ext cx="2759089" cy="369332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ja-JP" err="1">
                <a:ea typeface="游ゴシック"/>
              </a:rPr>
              <a:t>等価コンクリート厚</a:t>
            </a:r>
            <a:r>
              <a:rPr kumimoji="1" lang="en-US" altLang="ja-JP">
                <a:ea typeface="游ゴシック"/>
              </a:rPr>
              <a:t>(</a:t>
            </a:r>
            <a:r>
              <a:rPr lang="en-US" altLang="ja-JP">
                <a:ea typeface="游ゴシック"/>
              </a:rPr>
              <a:t>cm</a:t>
            </a:r>
            <a:r>
              <a:rPr kumimoji="1" lang="en-US" altLang="ja-JP">
                <a:ea typeface="游ゴシック"/>
              </a:rPr>
              <a:t>)</a:t>
            </a:r>
            <a:endParaRPr lang="en-US" altLang="ja-JP">
              <a:ea typeface="游ゴシック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B3D1D6D-75C8-987C-71EC-ABCB50A2F394}"/>
              </a:ext>
            </a:extLst>
          </p:cNvPr>
          <p:cNvSpPr txBox="1"/>
          <p:nvPr/>
        </p:nvSpPr>
        <p:spPr>
          <a:xfrm>
            <a:off x="2631552" y="1648211"/>
            <a:ext cx="1107996" cy="369332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ja-JP" altLang="en-US">
                <a:ea typeface="游ゴシック"/>
              </a:rPr>
              <a:t>熱中性子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9F33921-6A85-0FE1-634F-E10BA209D05A}"/>
              </a:ext>
            </a:extLst>
          </p:cNvPr>
          <p:cNvSpPr txBox="1"/>
          <p:nvPr/>
        </p:nvSpPr>
        <p:spPr>
          <a:xfrm rot="-5400000">
            <a:off x="-1640266" y="3408892"/>
            <a:ext cx="3650358" cy="369332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ja-JP">
                <a:ea typeface="游ゴシック"/>
              </a:rPr>
              <a:t>中性子フラックス(n cm^-2 s^-1)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2903CFC-9756-074E-F35C-558BF60477C5}"/>
              </a:ext>
            </a:extLst>
          </p:cNvPr>
          <p:cNvSpPr txBox="1"/>
          <p:nvPr/>
        </p:nvSpPr>
        <p:spPr>
          <a:xfrm>
            <a:off x="4302493" y="6333423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引用元</a:t>
            </a:r>
            <a:endParaRPr kumimoji="1" lang="en-US" altLang="ja-JP"/>
          </a:p>
          <a:p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0B0BB32-7936-0874-1F38-98C0098A4DF3}"/>
              </a:ext>
            </a:extLst>
          </p:cNvPr>
          <p:cNvSpPr txBox="1"/>
          <p:nvPr/>
        </p:nvSpPr>
        <p:spPr>
          <a:xfrm rot="-5400000">
            <a:off x="4444189" y="3478165"/>
            <a:ext cx="3650358" cy="369332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ja-JP">
                <a:ea typeface="游ゴシック"/>
              </a:rPr>
              <a:t>中性子フラックス(n cm^-2 s^-1)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FA61FAF-0AE1-D7D5-F79C-E3227414F934}"/>
              </a:ext>
            </a:extLst>
          </p:cNvPr>
          <p:cNvSpPr txBox="1"/>
          <p:nvPr/>
        </p:nvSpPr>
        <p:spPr>
          <a:xfrm>
            <a:off x="8773734" y="1648211"/>
            <a:ext cx="1366080" cy="369332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ja-JP" altLang="en-US">
                <a:ea typeface="游ゴシック"/>
              </a:rPr>
              <a:t>MeV中性子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E242D1A-863F-DD3E-A240-3FB7963B4D45}"/>
              </a:ext>
            </a:extLst>
          </p:cNvPr>
          <p:cNvSpPr txBox="1"/>
          <p:nvPr/>
        </p:nvSpPr>
        <p:spPr>
          <a:xfrm>
            <a:off x="8213779" y="5186893"/>
            <a:ext cx="2759089" cy="369332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ja-JP" err="1">
                <a:ea typeface="游ゴシック"/>
              </a:rPr>
              <a:t>等価コンクリート厚</a:t>
            </a:r>
            <a:r>
              <a:rPr kumimoji="1" lang="en-US" altLang="ja-JP">
                <a:ea typeface="游ゴシック"/>
              </a:rPr>
              <a:t>(</a:t>
            </a:r>
            <a:r>
              <a:rPr lang="en-US" altLang="ja-JP">
                <a:ea typeface="游ゴシック"/>
              </a:rPr>
              <a:t>cm</a:t>
            </a:r>
            <a:r>
              <a:rPr kumimoji="1" lang="en-US" altLang="ja-JP">
                <a:ea typeface="游ゴシック"/>
              </a:rPr>
              <a:t>)</a:t>
            </a:r>
            <a:endParaRPr lang="en-US" altLang="ja-JP">
              <a:ea typeface="游ゴシック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BF87136-2AAC-3E0F-9178-7FE7EF1FF29E}"/>
              </a:ext>
            </a:extLst>
          </p:cNvPr>
          <p:cNvSpPr txBox="1"/>
          <p:nvPr/>
        </p:nvSpPr>
        <p:spPr>
          <a:xfrm>
            <a:off x="3185734" y="2254347"/>
            <a:ext cx="2723823" cy="369332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ja-JP" err="1">
                <a:ea typeface="游ゴシック"/>
              </a:rPr>
              <a:t>文献値をもとにした予想</a:t>
            </a: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FDFE196C-7E76-CCC8-32EE-520628BADDF7}"/>
              </a:ext>
            </a:extLst>
          </p:cNvPr>
          <p:cNvCxnSpPr/>
          <p:nvPr/>
        </p:nvCxnSpPr>
        <p:spPr>
          <a:xfrm>
            <a:off x="2745409" y="2453983"/>
            <a:ext cx="391972" cy="845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フローチャート: 結合子 17">
            <a:extLst>
              <a:ext uri="{FF2B5EF4-FFF2-40B4-BE49-F238E27FC236}">
                <a16:creationId xmlns:a16="http://schemas.microsoft.com/office/drawing/2014/main" id="{E2C756CF-95BF-424E-2F08-12783F4AEADF}"/>
              </a:ext>
            </a:extLst>
          </p:cNvPr>
          <p:cNvSpPr/>
          <p:nvPr/>
        </p:nvSpPr>
        <p:spPr>
          <a:xfrm>
            <a:off x="2770067" y="2615160"/>
            <a:ext cx="333059" cy="333059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15EE30F-46A0-6469-2125-0DB219786B68}"/>
              </a:ext>
            </a:extLst>
          </p:cNvPr>
          <p:cNvSpPr txBox="1"/>
          <p:nvPr/>
        </p:nvSpPr>
        <p:spPr>
          <a:xfrm>
            <a:off x="3185734" y="2618029"/>
            <a:ext cx="2492990" cy="369332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ja-JP" err="1">
                <a:ea typeface="游ゴシック"/>
              </a:rPr>
              <a:t>大検出器のフラックス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7F3A2D0-6C67-4DD4-3FD9-EB4505CD6CF2}"/>
              </a:ext>
            </a:extLst>
          </p:cNvPr>
          <p:cNvSpPr txBox="1"/>
          <p:nvPr/>
        </p:nvSpPr>
        <p:spPr>
          <a:xfrm>
            <a:off x="3185734" y="2981711"/>
            <a:ext cx="2492990" cy="369332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ja-JP" err="1">
                <a:ea typeface="游ゴシック"/>
              </a:rPr>
              <a:t>小検出器のフラックス</a:t>
            </a:r>
          </a:p>
        </p:txBody>
      </p:sp>
      <p:sp>
        <p:nvSpPr>
          <p:cNvPr id="22" name="二等辺三角形 21">
            <a:extLst>
              <a:ext uri="{FF2B5EF4-FFF2-40B4-BE49-F238E27FC236}">
                <a16:creationId xmlns:a16="http://schemas.microsoft.com/office/drawing/2014/main" id="{5B982DBF-7307-7382-37C2-E4C87D4A6F92}"/>
              </a:ext>
            </a:extLst>
          </p:cNvPr>
          <p:cNvSpPr/>
          <p:nvPr/>
        </p:nvSpPr>
        <p:spPr>
          <a:xfrm>
            <a:off x="2765404" y="3011872"/>
            <a:ext cx="343152" cy="302781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D2B22A3-2A36-9F6F-F896-7139E3966066}"/>
              </a:ext>
            </a:extLst>
          </p:cNvPr>
          <p:cNvSpPr txBox="1"/>
          <p:nvPr/>
        </p:nvSpPr>
        <p:spPr>
          <a:xfrm>
            <a:off x="9322143" y="2283210"/>
            <a:ext cx="2723823" cy="369332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ja-JP" err="1">
                <a:ea typeface="游ゴシック"/>
              </a:rPr>
              <a:t>文献値をもとにした予想</a:t>
            </a: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96CD24C1-9E74-B478-BC6D-1BAB436AD4BF}"/>
              </a:ext>
            </a:extLst>
          </p:cNvPr>
          <p:cNvCxnSpPr>
            <a:cxnSpLocks/>
          </p:cNvCxnSpPr>
          <p:nvPr/>
        </p:nvCxnSpPr>
        <p:spPr>
          <a:xfrm>
            <a:off x="8881818" y="2482846"/>
            <a:ext cx="391972" cy="845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フローチャート: 結合子 24">
            <a:extLst>
              <a:ext uri="{FF2B5EF4-FFF2-40B4-BE49-F238E27FC236}">
                <a16:creationId xmlns:a16="http://schemas.microsoft.com/office/drawing/2014/main" id="{F5748E1F-9CED-B2D6-BD4C-23E05552C199}"/>
              </a:ext>
            </a:extLst>
          </p:cNvPr>
          <p:cNvSpPr/>
          <p:nvPr/>
        </p:nvSpPr>
        <p:spPr>
          <a:xfrm>
            <a:off x="8906476" y="2644023"/>
            <a:ext cx="333059" cy="333059"/>
          </a:xfrm>
          <a:prstGeom prst="flowChartConnector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6CF6286-7C62-7BA7-0B34-D7E9BD010D36}"/>
              </a:ext>
            </a:extLst>
          </p:cNvPr>
          <p:cNvSpPr txBox="1"/>
          <p:nvPr/>
        </p:nvSpPr>
        <p:spPr>
          <a:xfrm>
            <a:off x="9322143" y="2646892"/>
            <a:ext cx="2492990" cy="369332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ja-JP" err="1">
                <a:ea typeface="游ゴシック"/>
              </a:rPr>
              <a:t>大検出器のフラックス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3D6BF78-F952-240B-C784-08FF09A71AFD}"/>
              </a:ext>
            </a:extLst>
          </p:cNvPr>
          <p:cNvSpPr txBox="1"/>
          <p:nvPr/>
        </p:nvSpPr>
        <p:spPr>
          <a:xfrm>
            <a:off x="9322143" y="3010574"/>
            <a:ext cx="2492990" cy="369332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ja-JP" err="1">
                <a:ea typeface="游ゴシック"/>
              </a:rPr>
              <a:t>小検出器のフラックス</a:t>
            </a:r>
          </a:p>
        </p:txBody>
      </p:sp>
      <p:sp>
        <p:nvSpPr>
          <p:cNvPr id="28" name="二等辺三角形 27">
            <a:extLst>
              <a:ext uri="{FF2B5EF4-FFF2-40B4-BE49-F238E27FC236}">
                <a16:creationId xmlns:a16="http://schemas.microsoft.com/office/drawing/2014/main" id="{247DB85D-A992-8ABE-CBCD-8192E43BB0CC}"/>
              </a:ext>
            </a:extLst>
          </p:cNvPr>
          <p:cNvSpPr/>
          <p:nvPr/>
        </p:nvSpPr>
        <p:spPr>
          <a:xfrm>
            <a:off x="8901813" y="3040735"/>
            <a:ext cx="343152" cy="302781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274320" y="5989320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00020"/>
                </a:solidFill>
                <a:latin typeface="游ゴシック"/>
                <a:ea typeface="游ゴシック"/>
              </a:rPr>
              <a:t>単純な指数減衰（文献値ベースの予想）から、フラックスが2〜3桁大きくずれる</a:t>
            </a:r>
          </a:p>
          <a:p>
            <a:pPr algn="l"/>
            <a:r>
              <a:rPr sz="1500" b="1">
                <a:solidFill>
                  <a:srgbClr val="B00020"/>
                </a:solidFill>
                <a:latin typeface="游ゴシック"/>
                <a:ea typeface="游ゴシック"/>
              </a:rPr>
              <a:t>→ 地下では「宇宙線中性子の単純減衰」だけでは足りない</a:t>
            </a:r>
          </a:p>
        </p:txBody>
      </p:sp>
    </p:spTree>
    <p:extLst>
      <p:ext uri="{BB962C8B-B14F-4D97-AF65-F5344CB8AC3E}">
        <p14:creationId xmlns:p14="http://schemas.microsoft.com/office/powerpoint/2010/main" val="24136655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8FFB9-55DB-4A9A-D94E-CCDE29E99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C80243-B9F0-AC9A-76DF-27F7FF168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游ゴシック"/>
                <a:ea typeface="游ゴシック"/>
              </a:rPr>
              <a:t>実験結果（まとめプロット）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0A273E5-80AD-BF18-0DC1-9F17C708A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080" y="677837"/>
            <a:ext cx="7269480" cy="5924625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8F29E19-EFA3-56F7-EA6B-43DC8788B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37</a:t>
            </a:fld>
            <a:endParaRPr kumimoji="1" lang="ja-JP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74320" y="6126480"/>
            <a:ext cx="1170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游ゴシック"/>
                <a:ea typeface="游ゴシック"/>
              </a:rPr>
              <a:t>残差・イベントセレクションの詳細は附記。本編ではオーダーの不一致に注目する</a:t>
            </a:r>
          </a:p>
        </p:txBody>
      </p:sp>
    </p:spTree>
    <p:extLst>
      <p:ext uri="{BB962C8B-B14F-4D97-AF65-F5344CB8AC3E}">
        <p14:creationId xmlns:p14="http://schemas.microsoft.com/office/powerpoint/2010/main" val="28857253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6B2656-F70D-2C96-079E-E9D3A9662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游ゴシック"/>
                <a:ea typeface="游ゴシック"/>
              </a:rPr>
              <a:t>不一致の原因をどう考えるか</a:t>
            </a:r>
            <a:endParaRPr kumimoji="1" lang="ja-JP" altLang="en-US" u="sng">
              <a:ea typeface="游ゴシック Light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A5E313-AED1-71FA-09E6-CA1FF4850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wrap="square">
            <a:normAutofit/>
          </a:bodyPr>
          <a:lstStyle/>
          <a:p>
            <a:pPr marL="0" indent="0" fontAlgn="base">
              <a:buNone/>
            </a:pPr>
            <a:r>
              <a:rPr sz="1800" i="0">
                <a:latin typeface="游ゴシック"/>
                <a:ea typeface="游ゴシック"/>
              </a:rPr>
              <a:t>観測：深度が増えてもフラックスが予想ほど落ちない（＝「床」がある）</a:t>
            </a:r>
          </a:p>
          <a:p>
            <a:pPr/>
            <a:r>
              <a:rPr sz="1800" i="0">
                <a:latin typeface="游ゴシック"/>
                <a:ea typeface="游ゴシック"/>
              </a:rPr>
              <a:t/>
            </a:r>
          </a:p>
          <a:p>
            <a:pPr/>
            <a:r>
              <a:rPr sz="1800" i="0">
                <a:latin typeface="游ゴシック"/>
                <a:ea typeface="游ゴシック"/>
              </a:rPr>
              <a:t>まず疑うべきは、(A) 深度依存で減る成分 と (B) ほぼ一定の成分 の重ね合わせ</a:t>
            </a:r>
          </a:p>
          <a:p>
            <a:pPr/>
            <a:r>
              <a:rPr sz="1800" i="0">
                <a:latin typeface="游ゴシック"/>
                <a:ea typeface="游ゴシック"/>
              </a:rPr>
              <a:t>　(A) 宇宙線起源の中性子（深さで減衰）</a:t>
            </a:r>
          </a:p>
          <a:p>
            <a:pPr/>
            <a:r>
              <a:rPr sz="1800" i="0">
                <a:latin typeface="游ゴシック"/>
                <a:ea typeface="游ゴシック"/>
              </a:rPr>
              <a:t>　(B) 深さにほぼ依らない寄与（例：ミューオンが地下で起こす中性子生成）</a:t>
            </a:r>
          </a:p>
          <a:p>
            <a:pPr/>
            <a:r>
              <a:rPr sz="1800" i="0">
                <a:latin typeface="游ゴシック"/>
                <a:ea typeface="游ゴシック"/>
              </a:rPr>
              <a:t/>
            </a:r>
          </a:p>
          <a:p>
            <a:pPr/>
            <a:r>
              <a:rPr sz="1800" i="0">
                <a:latin typeface="游ゴシック"/>
                <a:ea typeface="游ゴシック"/>
              </a:rPr>
              <a:t>岩石中のU等による自発核分裂なども候補だが、</a:t>
            </a:r>
          </a:p>
          <a:p>
            <a:pPr/>
            <a:r>
              <a:rPr sz="1800" i="0">
                <a:latin typeface="游ゴシック"/>
                <a:ea typeface="游ゴシック"/>
              </a:rPr>
              <a:t>「深さで変わる／変わらない」に分けて考えると整理しやすい</a:t>
            </a:r>
          </a:p>
          <a:p>
            <a:pPr/>
            <a:r>
              <a:rPr sz="1800" i="0">
                <a:latin typeface="游ゴシック"/>
                <a:ea typeface="游ゴシック"/>
              </a:rPr>
              <a:t>検出器由来（α汚染など）は、MCAで特徴ピークが支配的でないことから主因としにくい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D833074-3395-EF6B-68D9-EE3CAD876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38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99834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FC9EEA-1989-4C67-289F-8BA809C83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ja-JP" b="1" u="sng">
                <a:solidFill>
                  <a:srgbClr val="000000"/>
                </a:solidFill>
                <a:ea typeface="游ゴシック Light"/>
              </a:rPr>
              <a:t>予測と結果の</a:t>
            </a:r>
            <a:r>
              <a:rPr lang="ja-JP" b="1" u="sng">
                <a:solidFill>
                  <a:srgbClr val="000000"/>
                </a:solidFill>
                <a:ea typeface="+mj-lt"/>
                <a:cs typeface="+mj-lt"/>
              </a:rPr>
              <a:t>不一致</a:t>
            </a:r>
            <a:r>
              <a:rPr lang="ja-JP" altLang="ja-JP" b="1" u="sng">
                <a:solidFill>
                  <a:srgbClr val="000000"/>
                </a:solidFill>
                <a:ea typeface="游ゴシック Light"/>
              </a:rPr>
              <a:t>の原因の考察</a:t>
            </a:r>
            <a:endParaRPr kumimoji="1" lang="ja-JP" altLang="en-US">
              <a:ea typeface="游ゴシック Light"/>
            </a:endParaRPr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1255F1E7-A086-6E37-4C50-0FC544704C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2892438"/>
              </p:ext>
            </p:extLst>
          </p:nvPr>
        </p:nvGraphicFramePr>
        <p:xfrm>
          <a:off x="651164" y="1690688"/>
          <a:ext cx="11076709" cy="41078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87358">
                  <a:extLst>
                    <a:ext uri="{9D8B030D-6E8A-4147-A177-3AD203B41FA5}">
                      <a16:colId xmlns:a16="http://schemas.microsoft.com/office/drawing/2014/main" val="3967505842"/>
                    </a:ext>
                  </a:extLst>
                </a:gridCol>
                <a:gridCol w="7101173">
                  <a:extLst>
                    <a:ext uri="{9D8B030D-6E8A-4147-A177-3AD203B41FA5}">
                      <a16:colId xmlns:a16="http://schemas.microsoft.com/office/drawing/2014/main" val="1320975914"/>
                    </a:ext>
                  </a:extLst>
                </a:gridCol>
                <a:gridCol w="1388178">
                  <a:extLst>
                    <a:ext uri="{9D8B030D-6E8A-4147-A177-3AD203B41FA5}">
                      <a16:colId xmlns:a16="http://schemas.microsoft.com/office/drawing/2014/main" val="154550250"/>
                    </a:ext>
                  </a:extLst>
                </a:gridCol>
              </a:tblGrid>
              <a:tr h="52030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800" u="none" strike="noStrike">
                          <a:effectLst/>
                        </a:rPr>
                        <a:t>宇宙線成分</a:t>
                      </a:r>
                      <a:endParaRPr lang="ja-JP" sz="18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6350" marR="6350" marT="635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800" u="none" strike="noStrike">
                          <a:effectLst/>
                        </a:rPr>
                        <a:t>地下での</a:t>
                      </a:r>
                      <a:r>
                        <a:rPr lang="ja-JP" altLang="en-US" sz="1800" u="none" strike="noStrike">
                          <a:effectLst/>
                        </a:rPr>
                        <a:t>反応</a:t>
                      </a:r>
                      <a:endParaRPr lang="ja-JP" sz="18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6350" marR="6350" marT="635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/>
                          <a:ea typeface="游ゴシック"/>
                        </a:rPr>
                        <a:t>地下に到達</a:t>
                      </a:r>
                    </a:p>
                  </a:txBody>
                  <a:tcPr marL="6350" marR="6350" marT="635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686786"/>
                  </a:ext>
                </a:extLst>
              </a:tr>
              <a:tr h="5125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u="none" strike="noStrike">
                          <a:effectLst/>
                          <a:highlight>
                            <a:srgbClr val="FFFF00"/>
                          </a:highlight>
                        </a:rPr>
                        <a:t>ミューオン (μ)</a:t>
                      </a:r>
                      <a:endParaRPr lang="ja-JP" sz="16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600" u="none" strike="noStrike">
                          <a:effectLst/>
                          <a:highlight>
                            <a:srgbClr val="FFFF00"/>
                          </a:highlight>
                        </a:rPr>
                        <a:t>透過力が高く、地下まで到達して中性子を生成する</a:t>
                      </a:r>
                      <a:r>
                        <a:rPr lang="ja-JP" altLang="en-US" sz="1600" u="none" strike="noStrike">
                          <a:effectLst/>
                          <a:highlight>
                            <a:srgbClr val="FFFF00"/>
                          </a:highlight>
                        </a:rPr>
                        <a:t>反応を起こす</a:t>
                      </a:r>
                      <a:endParaRPr lang="ja-JP" sz="16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○</a:t>
                      </a:r>
                      <a:endParaRPr lang="ja-JP" sz="16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89362160"/>
                  </a:ext>
                </a:extLst>
              </a:tr>
              <a:tr h="5125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u="none" strike="noStrike">
                          <a:effectLst/>
                          <a:highlight>
                            <a:srgbClr val="00FFFF"/>
                          </a:highlight>
                        </a:rPr>
                        <a:t>γ線</a:t>
                      </a:r>
                      <a:endParaRPr lang="ja-JP" sz="16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600" u="none" strike="noStrike">
                          <a:effectLst/>
                          <a:highlight>
                            <a:srgbClr val="00FFFF"/>
                          </a:highlight>
                        </a:rPr>
                        <a:t>光核反応で中性子生成可能だが、反応断面積が小さく、反応が起こり</a:t>
                      </a:r>
                      <a:r>
                        <a:rPr lang="ja-JP" altLang="en-US" sz="1600" u="none" strike="noStrike">
                          <a:effectLst/>
                          <a:highlight>
                            <a:srgbClr val="00FFFF"/>
                          </a:highlight>
                        </a:rPr>
                        <a:t>にくい</a:t>
                      </a:r>
                      <a:endParaRPr lang="ja-JP" sz="16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〇</a:t>
                      </a:r>
                      <a:endParaRPr lang="ja-JP" sz="16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00FFFF"/>
                        </a:highlight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30790105"/>
                  </a:ext>
                </a:extLst>
              </a:tr>
              <a:tr h="5125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u="none" strike="noStrike">
                          <a:effectLst/>
                        </a:rPr>
                        <a:t>陽子 (p)</a:t>
                      </a:r>
                      <a:endParaRPr lang="ja-JP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600" b="0" i="0" u="none" strike="noStrike" noProof="0">
                          <a:solidFill>
                            <a:srgbClr val="000000"/>
                          </a:solidFill>
                          <a:effectLst/>
                          <a:latin typeface="游ゴシック"/>
                          <a:ea typeface="游ゴシック"/>
                        </a:rPr>
                        <a:t>地下で急速にエネルギーが減衰するので残りにくい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×</a:t>
                      </a:r>
                      <a:endParaRPr lang="ja-JP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17498052"/>
                  </a:ext>
                </a:extLst>
              </a:tr>
              <a:tr h="5125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u="none" strike="noStrike">
                          <a:effectLst/>
                        </a:rPr>
                        <a:t>π中間子</a:t>
                      </a:r>
                      <a:endParaRPr lang="ja-JP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600" u="none" strike="noStrike">
                          <a:effectLst/>
                        </a:rPr>
                        <a:t>強い相互作用＋短寿命のため地下まで残りにくい</a:t>
                      </a:r>
                      <a:endParaRPr lang="ja-JP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×</a:t>
                      </a:r>
                      <a:endParaRPr lang="ja-JP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79906654"/>
                  </a:ext>
                </a:extLst>
              </a:tr>
              <a:tr h="5125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u="none" strike="noStrike">
                          <a:effectLst/>
                        </a:rPr>
                        <a:t>K中間子</a:t>
                      </a:r>
                      <a:endParaRPr lang="ja-JP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600" u="none" strike="noStrike">
                          <a:effectLst/>
                        </a:rPr>
                        <a:t>強い相互作用・崩壊により地下まで残りにくい</a:t>
                      </a:r>
                      <a:endParaRPr lang="ja-JP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×</a:t>
                      </a:r>
                      <a:endParaRPr lang="ja-JP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10219862"/>
                  </a:ext>
                </a:extLst>
              </a:tr>
              <a:tr h="5125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u="none" strike="noStrike">
                          <a:effectLst/>
                        </a:rPr>
                        <a:t>電子・陽電子 (e⁻・e⁺)</a:t>
                      </a:r>
                      <a:endParaRPr lang="ja-JP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600" u="none" strike="noStrike">
                          <a:effectLst/>
                        </a:rPr>
                        <a:t>地下で</a:t>
                      </a:r>
                      <a:r>
                        <a:rPr lang="ja-JP" sz="1600" u="none" strike="noStrike">
                          <a:effectLst/>
                        </a:rPr>
                        <a:t>急速に</a:t>
                      </a:r>
                      <a:r>
                        <a:rPr lang="ja-JP" altLang="en-US" sz="1600" u="none" strike="noStrike">
                          <a:effectLst/>
                        </a:rPr>
                        <a:t>エネルギーが</a:t>
                      </a:r>
                      <a:r>
                        <a:rPr lang="ja-JP" sz="1600" u="none" strike="noStrike">
                          <a:effectLst/>
                        </a:rPr>
                        <a:t>減衰</a:t>
                      </a:r>
                      <a:r>
                        <a:rPr lang="ja-JP" altLang="en-US" sz="1600" u="none" strike="noStrike">
                          <a:effectLst/>
                        </a:rPr>
                        <a:t>するので残りにくい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×</a:t>
                      </a:r>
                      <a:endParaRPr lang="ja-JP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63309609"/>
                  </a:ext>
                </a:extLst>
              </a:tr>
              <a:tr h="51251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600" u="none" strike="noStrike">
                          <a:effectLst/>
                        </a:rPr>
                        <a:t>ニュートリノ (ν)</a:t>
                      </a:r>
                      <a:endParaRPr lang="ja-JP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600" u="none" strike="noStrike">
                          <a:effectLst/>
                        </a:rPr>
                        <a:t>透過力は高いが、相互作用確率が</a:t>
                      </a:r>
                      <a:r>
                        <a:rPr lang="ja-JP" altLang="en-US" sz="1600" u="none" strike="noStrike">
                          <a:effectLst/>
                        </a:rPr>
                        <a:t>極端に</a:t>
                      </a:r>
                      <a:r>
                        <a:rPr lang="ja-JP" sz="1600" u="none" strike="noStrike">
                          <a:effectLst/>
                        </a:rPr>
                        <a:t>小さく反応を起こさない</a:t>
                      </a:r>
                      <a:endParaRPr lang="ja-JP" sz="16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600" b="0" i="0" u="none" strike="noStrike">
                          <a:solidFill>
                            <a:srgbClr val="000000"/>
                          </a:solidFill>
                          <a:effectLst/>
                          <a:latin typeface="游ゴシック"/>
                          <a:ea typeface="游ゴシック"/>
                        </a:rPr>
                        <a:t>〇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58288831"/>
                  </a:ext>
                </a:extLst>
              </a:tr>
            </a:tbl>
          </a:graphicData>
        </a:graphic>
      </p:graphicFrame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2246951-B142-7498-ECF7-9F1126C55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39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28030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E7283F-747B-C705-A37B-3939FCD82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游ゴシック"/>
                <a:ea typeface="游ゴシック"/>
              </a:rPr>
              <a:t>文献：地下中性子フラックス（換算の注意）</a:t>
            </a:r>
            <a:endParaRPr kumimoji="1" lang="ja-JP" altLang="en-US" u="sng">
              <a:ea typeface="游ゴシック Ligh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A92C66C7-CC8D-98DC-4637-A5538E026D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42670" y="1825625"/>
                <a:ext cx="5111129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 fontAlgn="base">
                  <a:buNone/>
                </a:pPr>
                <a:r>
                  <a:rPr lang="ja-JP" altLang="ja-JP" sz="2100"/>
                  <a:t>論文から画像の引用をすると、​</a:t>
                </a:r>
              </a:p>
              <a:p>
                <a:pPr marL="0" indent="0" fontAlgn="base">
                  <a:buNone/>
                </a:pPr>
                <a:r>
                  <a:rPr lang="ja-JP" altLang="ja-JP" sz="2100"/>
                  <a:t>負ミューオン(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sz="21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10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ja-JP" sz="21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ja-JP" altLang="ja-JP" sz="2100"/>
                  <a:t>)捕獲が多く起こっていると分かった​</a:t>
                </a:r>
              </a:p>
              <a:p>
                <a:pPr marL="0" indent="0" fontAlgn="base">
                  <a:buNone/>
                </a:pPr>
                <a:r>
                  <a:rPr lang="ja-JP" altLang="ja-JP" sz="2100"/>
                  <a:t>​</a:t>
                </a:r>
              </a:p>
              <a:p>
                <a:pPr marL="0" indent="0" fontAlgn="base">
                  <a:buNone/>
                </a:pPr>
                <a:r>
                  <a:rPr lang="ja-JP" altLang="ja-JP" sz="2100"/>
                  <a:t>負ミューオン捕獲</a:t>
                </a:r>
                <a:r>
                  <a:rPr lang="en-US" altLang="ja-JP" sz="2100"/>
                  <a:t>​</a:t>
                </a:r>
              </a:p>
              <a:p>
                <a:pPr marL="0" lvl="0" indent="0" fontAlgn="base">
                  <a:buNone/>
                </a:pPr>
                <a:r>
                  <a:rPr lang="ja-JP" altLang="en-US" sz="2100"/>
                  <a:t>・</a:t>
                </a:r>
                <a:r>
                  <a:rPr lang="ja-JP" altLang="ja-JP" sz="2100"/>
                  <a:t>低エネルギーまで減速・停止した負ミューオン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sz="21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10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p>
                        <m:r>
                          <a:rPr lang="en-US" altLang="ja-JP" sz="21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ja-JP" altLang="ja-JP" sz="2100"/>
                  <a:t> は、原子核に捕獲される</a:t>
                </a:r>
              </a:p>
              <a:p>
                <a:pPr marL="0" lvl="0" indent="0" fontAlgn="base">
                  <a:buNone/>
                </a:pPr>
                <a:r>
                  <a:rPr lang="ja-JP" altLang="en-US" sz="2100"/>
                  <a:t>・</a:t>
                </a:r>
                <a:r>
                  <a:rPr lang="ja-JP" altLang="ja-JP" sz="2100"/>
                  <a:t>捕獲後、原子核は励起状態となり、1個だけでなく2個以上の中性子を放出する場合もある</a:t>
                </a:r>
              </a:p>
              <a:p>
                <a:pPr marL="0" indent="0">
                  <a:buNone/>
                </a:pPr>
                <a:endParaRPr lang="en-US" altLang="ja-JP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ja-JP" alt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sz="1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Pre>
                        <m:sPrePr>
                          <m:ctrlP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  <m:sup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  <m:e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sPre>
                      <m:r>
                        <a:rPr lang="en-US" altLang="ja-JP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ja-JP" alt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ja-JP" alt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Pre>
                        <m:sPrePr>
                          <m:ctrlPr>
                            <a:rPr lang="en-US" altLang="ja-JP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1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ja-JP" sz="18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sPre>
                      <m:r>
                        <a:rPr lang="en-US" altLang="ja-JP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ja-JP" alt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ja-JP" alt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Pre>
                        <m:sPrePr>
                          <m:ctrlP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sPre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𝑘𝑛</m:t>
                      </m:r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ja-JP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≥1)</m:t>
                      </m:r>
                    </m:oMath>
                  </m:oMathPara>
                </a14:m>
                <a:endParaRPr lang="en-US" altLang="ja-JP" sz="1800"/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A92C66C7-CC8D-98DC-4637-A5538E026D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42670" y="1825625"/>
                <a:ext cx="5111129" cy="4351338"/>
              </a:xfrm>
              <a:blipFill>
                <a:blip r:embed="rId2"/>
                <a:stretch>
                  <a:fillRect l="-1432" t="-210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85E6D05-4549-1A7F-0EC0-1FE3E11BDBD1}"/>
              </a:ext>
            </a:extLst>
          </p:cNvPr>
          <p:cNvSpPr txBox="1"/>
          <p:nvPr/>
        </p:nvSpPr>
        <p:spPr>
          <a:xfrm>
            <a:off x="1762720" y="5908102"/>
            <a:ext cx="4186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b="1"/>
              <a:t>J</a:t>
            </a:r>
            <a:r>
              <a:rPr lang="en-US" altLang="ja-JP" b="1"/>
              <a:t>.</a:t>
            </a:r>
            <a:r>
              <a:rPr lang="ja-JP" altLang="ja-JP" b="1"/>
              <a:t> T</a:t>
            </a:r>
            <a:r>
              <a:rPr lang="en-US" altLang="ja-JP" b="1"/>
              <a:t>.</a:t>
            </a:r>
            <a:r>
              <a:rPr lang="ja-JP" altLang="ja-JP" b="1"/>
              <a:t> Fabryka-Martin</a:t>
            </a:r>
            <a:r>
              <a:rPr lang="en-US" altLang="ja-JP" b="1"/>
              <a:t>(1988)</a:t>
            </a:r>
            <a:r>
              <a:rPr lang="ja-JP" altLang="ja-JP"/>
              <a:t>​</a:t>
            </a:r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3F3E4D1A-6C83-FDA8-9EFB-36C20F265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818" y="1841212"/>
            <a:ext cx="4007958" cy="3916365"/>
          </a:xfrm>
          <a:prstGeom prst="rect">
            <a:avLst/>
          </a:prstGeom>
        </p:spPr>
      </p:pic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A85F6E3-0605-7F6D-8DBE-F5D9EED5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40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8D9A269-CEDA-7BE0-A742-A613F34A9DEC}"/>
              </a:ext>
            </a:extLst>
          </p:cNvPr>
          <p:cNvSpPr txBox="1"/>
          <p:nvPr/>
        </p:nvSpPr>
        <p:spPr>
          <a:xfrm>
            <a:off x="7107731" y="6352134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B8F2FA8-651C-974C-83A4-F1DCEF4A0CC4}"/>
              </a:ext>
            </a:extLst>
          </p:cNvPr>
          <p:cNvSpPr txBox="1"/>
          <p:nvPr/>
        </p:nvSpPr>
        <p:spPr>
          <a:xfrm>
            <a:off x="2552001" y="5533820"/>
            <a:ext cx="1486304" cy="369332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ja-JP" err="1">
                <a:ea typeface="游ゴシック"/>
              </a:rPr>
              <a:t>等価水厚</a:t>
            </a:r>
            <a:r>
              <a:rPr kumimoji="1" lang="en-US" altLang="ja-JP">
                <a:ea typeface="游ゴシック"/>
              </a:rPr>
              <a:t>(</a:t>
            </a:r>
            <a:r>
              <a:rPr lang="en-US" altLang="ja-JP">
                <a:ea typeface="游ゴシック"/>
              </a:rPr>
              <a:t>m</a:t>
            </a:r>
            <a:r>
              <a:rPr kumimoji="1" lang="en-US" altLang="ja-JP">
                <a:ea typeface="游ゴシック"/>
              </a:rPr>
              <a:t>)</a:t>
            </a:r>
            <a:endParaRPr lang="en-US" altLang="ja-JP">
              <a:ea typeface="游ゴシック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98B2274-F745-CDB0-1F44-0E030CFEEFC3}"/>
              </a:ext>
            </a:extLst>
          </p:cNvPr>
          <p:cNvSpPr/>
          <p:nvPr/>
        </p:nvSpPr>
        <p:spPr>
          <a:xfrm>
            <a:off x="1908097" y="1703658"/>
            <a:ext cx="1945268" cy="38223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669280" y="18288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游ゴシック"/>
                <a:ea typeface="游ゴシック"/>
              </a:rPr>
              <a:t>文献の横軸はしばしば m.w.e.（メートル水当量）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游ゴシック"/>
                <a:ea typeface="游ゴシック"/>
              </a:rPr>
              <a:t>1 m.w.e. ≒ 水 1 m 分の質量厚さ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游ゴシック"/>
                <a:ea typeface="游ゴシック"/>
              </a:rPr>
              <a:t>　≈ 100 g/cm²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游ゴシック"/>
                <a:ea typeface="游ゴシック"/>
              </a:rPr>
              <a:t/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游ゴシック"/>
                <a:ea typeface="游ゴシック"/>
              </a:rPr>
              <a:t>コンクリート換算の目安：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游ゴシック"/>
                <a:ea typeface="游ゴシック"/>
              </a:rPr>
              <a:t>ρ_c ≈ 2.3 g/cm³ より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游ゴシック"/>
                <a:ea typeface="游ゴシック"/>
              </a:rPr>
              <a:t>1 m.w.e. ≈ 100 / 2.3 ≈ 43 cm コンクリート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游ゴシック"/>
                <a:ea typeface="游ゴシック"/>
              </a:rPr>
              <a:t/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游ゴシック"/>
                <a:ea typeface="游ゴシック"/>
              </a:rPr>
              <a:t>本実験の横軸（等価コンクリート厚）と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游ゴシック"/>
                <a:ea typeface="游ゴシック"/>
              </a:rPr>
              <a:t>見比べるときは、この換算でそろえる</a:t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游ゴシック"/>
                <a:ea typeface="游ゴシック"/>
              </a:rPr>
              <a:t/>
            </a:r>
          </a:p>
          <a:p>
            <a:pPr algn="l"/>
            <a:r>
              <a:rPr sz="1600" b="0">
                <a:solidFill>
                  <a:srgbClr val="222222"/>
                </a:solidFill>
                <a:latin typeface="游ゴシック"/>
                <a:ea typeface="游ゴシック"/>
              </a:rPr>
              <a:t>出典：J. T. Fabryka-Martin (1988)</a:t>
            </a:r>
          </a:p>
        </p:txBody>
      </p:sp>
    </p:spTree>
    <p:extLst>
      <p:ext uri="{BB962C8B-B14F-4D97-AF65-F5344CB8AC3E}">
        <p14:creationId xmlns:p14="http://schemas.microsoft.com/office/powerpoint/2010/main" val="5153175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F6A9ED-40B4-C60C-84C5-B2B8CF3FF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1" y="352202"/>
            <a:ext cx="12175298" cy="1356877"/>
          </a:xfrm>
        </p:spPr>
        <p:txBody>
          <a:bodyPr>
            <a:normAutofit fontScale="90000"/>
          </a:bodyPr>
          <a:lstStyle/>
          <a:p>
            <a:r>
              <a:rPr sz="3200" b="1">
                <a:latin typeface="游ゴシック"/>
                <a:ea typeface="游ゴシック"/>
              </a:rPr>
              <a:t>ミューオン起源中性子の定式化</a:t>
            </a:r>
            <a:endParaRPr lang="ja-JP" altLang="en-US" b="1" u="sng">
              <a:ea typeface="游ゴシック Ligh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A29149D1-9309-40DF-DFCE-8F53FE5C3F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95390" y="2644761"/>
                <a:ext cx="4419794" cy="394170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ja-JP" altLang="ja-JP" sz="1800" b="1"/>
                  <a:t> パラメータ設定値（コンクリート例）</a:t>
                </a:r>
                <a:endParaRPr lang="ja-JP" altLang="ja-JP" sz="1800"/>
              </a:p>
              <a:p>
                <a:pPr lvl="0"/>
                <a:r>
                  <a:rPr lang="ja-JP" altLang="ja-JP" sz="1800"/>
                  <a:t>地表フラックス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ja-JP" altLang="en-US" sz="18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ja-JP" altLang="en-US" sz="180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 altLang="ja-JP" sz="1800"/>
                  <a:t>[/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ja-JP" altLang="en-US" sz="1800" i="0"/>
                          <m:t>cm</m:t>
                        </m:r>
                      </m:e>
                      <m:sup>
                        <m:r>
                          <a:rPr lang="ja-JP" altLang="en-US" sz="1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1800"/>
                  <a:t>*s]</a:t>
                </a:r>
              </a:p>
              <a:p>
                <a:pPr lvl="0"/>
                <a:r>
                  <a:rPr lang="ja-JP" altLang="ja-JP" sz="1800"/>
                  <a:t>スケール深度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ja-JP" altLang="en-US" sz="18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ja-JP" altLang="en-US" sz="1800">
                        <a:latin typeface="Cambria Math" panose="02040503050406030204" pitchFamily="18" charset="0"/>
                      </a:rPr>
                      <m:t>=11.5</m:t>
                    </m:r>
                  </m:oMath>
                </a14:m>
                <a:r>
                  <a:rPr lang="en-US" altLang="ja-JP" sz="1800"/>
                  <a:t>[</a:t>
                </a:r>
                <a:r>
                  <a:rPr lang="en-US" altLang="ja-JP" sz="1800" err="1"/>
                  <a:t>m.w.e</a:t>
                </a:r>
                <a:r>
                  <a:rPr lang="en-US" altLang="ja-JP" sz="1800"/>
                  <a:t>]</a:t>
                </a:r>
              </a:p>
              <a:p>
                <a:pPr lvl="0"/>
                <a:r>
                  <a:rPr lang="ja-JP" altLang="ja-JP" sz="1800"/>
                  <a:t>べき指数 </a:t>
                </a:r>
                <a14:m>
                  <m:oMath xmlns:m="http://schemas.openxmlformats.org/officeDocument/2006/math"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ja-JP" altLang="en-US" sz="1800">
                        <a:latin typeface="Cambria Math" panose="02040503050406030204" pitchFamily="18" charset="0"/>
                      </a:rPr>
                      <m:t>=2.2</m:t>
                    </m:r>
                  </m:oMath>
                </a14:m>
                <a:endParaRPr lang="ja-JP" altLang="ja-JP" sz="1800"/>
              </a:p>
              <a:p>
                <a:pPr lvl="0"/>
                <a:r>
                  <a:rPr lang="ja-JP" altLang="ja-JP" sz="1800"/>
                  <a:t>地表平均エネルギー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ja-JP" altLang="en-US" sz="18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ja-JP" altLang="en-US" sz="1800">
                        <a:latin typeface="Cambria Math" panose="02040503050406030204" pitchFamily="18" charset="0"/>
                      </a:rPr>
                      <m:t>=4.0</m:t>
                    </m:r>
                    <m:r>
                      <m:rPr>
                        <m:nor/>
                      </m:rPr>
                      <a:rPr lang="ja-JP" altLang="en-US" sz="1800" i="0"/>
                      <m:t> </m:t>
                    </m:r>
                    <m:r>
                      <m:rPr>
                        <m:nor/>
                      </m:rPr>
                      <a:rPr lang="en-US" altLang="ja-JP" sz="1800" b="0" i="0" smtClean="0"/>
                      <m:t>[</m:t>
                    </m:r>
                    <m:r>
                      <m:rPr>
                        <m:nor/>
                      </m:rPr>
                      <a:rPr lang="ja-JP" altLang="en-US" sz="1800" i="0"/>
                      <m:t>GeV</m:t>
                    </m:r>
                  </m:oMath>
                </a14:m>
                <a:r>
                  <a:rPr lang="en-US" altLang="ja-JP" sz="1800"/>
                  <a:t>]</a:t>
                </a:r>
              </a:p>
              <a:p>
                <a:pPr lvl="0"/>
                <a:r>
                  <a:rPr lang="ja-JP" altLang="ja-JP" sz="1800"/>
                  <a:t>エネルギー上昇指数 </a:t>
                </a:r>
                <a14:m>
                  <m:oMath xmlns:m="http://schemas.openxmlformats.org/officeDocument/2006/math"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ja-JP" altLang="en-US" sz="1800">
                        <a:latin typeface="Cambria Math" panose="02040503050406030204" pitchFamily="18" charset="0"/>
                      </a:rPr>
                      <m:t>=0.73</m:t>
                    </m:r>
                  </m:oMath>
                </a14:m>
                <a:endParaRPr lang="ja-JP" altLang="ja-JP" sz="1800"/>
              </a:p>
              <a:p>
                <a:pPr lvl="0"/>
                <a:r>
                  <a:rPr lang="ja-JP" altLang="ja-JP" sz="1800"/>
                  <a:t>平均質量数 </a:t>
                </a:r>
                <a14:m>
                  <m:oMath xmlns:m="http://schemas.openxmlformats.org/officeDocument/2006/math"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altLang="ja-JP" sz="1800"/>
              </a:p>
              <a:p>
                <a:pPr lvl="0"/>
                <a:r>
                  <a:rPr lang="ja-JP" altLang="ja-JP" sz="1800"/>
                  <a:t>衝突割合指数 </a:t>
                </a:r>
                <a14:m>
                  <m:oMath xmlns:m="http://schemas.openxmlformats.org/officeDocument/2006/math"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ja-JP" altLang="en-US" sz="1800">
                        <a:latin typeface="Cambria Math" panose="02040503050406030204" pitchFamily="18" charset="0"/>
                      </a:rPr>
                      <m:t>=0.84</m:t>
                    </m:r>
                  </m:oMath>
                </a14:m>
                <a:endParaRPr lang="en-US" altLang="ja-JP" sz="1800"/>
              </a:p>
              <a:p>
                <a:pPr lvl="0"/>
                <a:r>
                  <a:rPr lang="ja-JP" altLang="ja-JP" sz="1800"/>
                  <a:t>係数 </a:t>
                </a:r>
                <a14:m>
                  <m:oMath xmlns:m="http://schemas.openxmlformats.org/officeDocument/2006/math">
                    <m:r>
                      <a:rPr lang="ja-JP" altLang="en-US" sz="1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ja-JP" altLang="en-US" sz="1800">
                        <a:latin typeface="Cambria Math" panose="02040503050406030204" pitchFamily="18" charset="0"/>
                      </a:rPr>
                      <m:t>=4.0×</m:t>
                    </m:r>
                    <m:sSup>
                      <m:sSup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18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ja-JP" altLang="en-US" sz="1800"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endParaRPr lang="ja-JP" altLang="ja-JP" sz="1800"/>
              </a:p>
              <a:p>
                <a:pPr lvl="0"/>
                <a:r>
                  <a:rPr lang="ja-JP" altLang="ja-JP" sz="1800"/>
                  <a:t>物質面密度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ja-JP" altLang="en-US" sz="1800">
                        <a:latin typeface="Cambria Math" panose="02040503050406030204" pitchFamily="18" charset="0"/>
                      </a:rPr>
                      <m:t>Δ</m:t>
                    </m:r>
                    <m:acc>
                      <m:accPr>
                        <m:chr m:val="̅"/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ja-JP" altLang="en-US" sz="1800">
                        <a:latin typeface="Cambria Math" panose="02040503050406030204" pitchFamily="18" charset="0"/>
                      </a:rPr>
                      <m:t>=230</m:t>
                    </m:r>
                    <m:sSup>
                      <m:sSupPr>
                        <m:ctrlPr>
                          <a:rPr lang="ja-JP" alt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ja-JP" altLang="en-US" sz="1800" i="0"/>
                          <m:t> </m:t>
                        </m:r>
                        <m:r>
                          <m:rPr>
                            <m:nor/>
                          </m:rPr>
                          <a:rPr lang="en-US" altLang="ja-JP" sz="1800" b="0" i="0" smtClean="0"/>
                          <m:t>[</m:t>
                        </m:r>
                        <m:r>
                          <m:rPr>
                            <m:nor/>
                          </m:rPr>
                          <a:rPr lang="ja-JP" altLang="en-US" sz="1800" i="0"/>
                          <m:t>g</m:t>
                        </m:r>
                        <m:r>
                          <m:rPr>
                            <m:nor/>
                          </m:rPr>
                          <a:rPr lang="ja-JP" altLang="en-US" sz="1800" i="0"/>
                          <m:t>/</m:t>
                        </m:r>
                        <m:r>
                          <m:rPr>
                            <m:nor/>
                          </m:rPr>
                          <a:rPr lang="ja-JP" altLang="en-US" sz="1800" i="0"/>
                          <m:t>cm</m:t>
                        </m:r>
                      </m:e>
                      <m:sup>
                        <m:r>
                          <a:rPr lang="ja-JP" altLang="en-US" sz="1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1800"/>
                  <a:t>]</a:t>
                </a:r>
                <a:endParaRPr lang="ja-JP" altLang="ja-JP" sz="1800"/>
              </a:p>
              <a:p>
                <a:endParaRPr kumimoji="1" lang="ja-JP" altLang="en-US"/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A29149D1-9309-40DF-DFCE-8F53FE5C3F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95390" y="2644761"/>
                <a:ext cx="4419794" cy="3941707"/>
              </a:xfrm>
              <a:blipFill>
                <a:blip r:embed="rId2"/>
                <a:stretch>
                  <a:fillRect l="-828" t="-170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955D350E-B1CB-EB88-1944-06E3E0CFD515}"/>
                  </a:ext>
                </a:extLst>
              </p:cNvPr>
              <p:cNvSpPr txBox="1"/>
              <p:nvPr/>
            </p:nvSpPr>
            <p:spPr>
              <a:xfrm>
                <a:off x="1827968" y="1277055"/>
                <a:ext cx="6234651" cy="965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ja-JP" b="1"/>
                  <a:t>基本算式</a:t>
                </a:r>
                <a:r>
                  <a:rPr lang="en-US" altLang="ja-JP" b="1"/>
                  <a:t> </a:t>
                </a:r>
                <a:r>
                  <a:rPr lang="ja-JP" altLang="ja-JP"/>
                  <a:t>: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b="1" i="1" smtClean="0"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ja-JP" alt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  <m:r>
                      <a:rPr lang="ja-JP" altLang="en-US" b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ja-JP" alt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ja-JP" altLang="en-US" b="1" i="1">
                            <a:latin typeface="Cambria Math" panose="02040503050406030204" pitchFamily="18" charset="0"/>
                          </a:rPr>
                          <m:t>𝝁</m:t>
                        </m:r>
                      </m:sub>
                    </m:sSub>
                    <m:d>
                      <m:dPr>
                        <m:ctrlPr>
                          <a:rPr lang="ja-JP" alt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</m:d>
                    <m:r>
                      <a:rPr lang="ja-JP" altLang="en-US" b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ja-JP" alt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ja-JP" altLang="en-US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d>
                      <m:dPr>
                        <m:ctrlPr>
                          <a:rPr lang="ja-JP" alt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ja-JP" alt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ja-JP" alt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ja-JP" altLang="en-US" b="1" i="1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e>
                            </m:acc>
                          </m:e>
                          <m:sub>
                            <m:r>
                              <a:rPr lang="ja-JP" altLang="en-US" b="1" i="1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</m:e>
                    </m:d>
                    <m:r>
                      <a:rPr lang="ja-JP" altLang="en-US" b="1">
                        <a:latin typeface="Cambria Math" panose="02040503050406030204" pitchFamily="18" charset="0"/>
                      </a:rPr>
                      <m:t>×</m:t>
                    </m:r>
                    <m:r>
                      <a:rPr lang="ja-JP" altLang="en-US" b="1" i="1">
                        <a:latin typeface="Cambria Math" panose="02040503050406030204" pitchFamily="18" charset="0"/>
                      </a:rPr>
                      <m:t>𝚫</m:t>
                    </m:r>
                    <m:acc>
                      <m:accPr>
                        <m:chr m:val="̅"/>
                        <m:ctrlPr>
                          <a:rPr lang="ja-JP" alt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ja-JP" alt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endParaRPr lang="ja-JP" altLang="ja-JP" b="1"/>
              </a:p>
              <a:p>
                <a:pPr lvl="0"/>
                <a:endParaRPr lang="ja-JP" altLang="ja-JP"/>
              </a:p>
              <a:p>
                <a:pPr lvl="0"/>
                <a:r>
                  <a:rPr lang="ja-JP" altLang="ja-JP" i="1"/>
                  <a:t>(ミューオン束 × 1本あたりのイールド × 物質の面密度)</a:t>
                </a:r>
                <a:endParaRPr lang="ja-JP" altLang="ja-JP"/>
              </a:p>
            </p:txBody>
          </p:sp>
        </mc:Choice>
        <mc:Fallback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955D350E-B1CB-EB88-1944-06E3E0CFD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968" y="1277055"/>
                <a:ext cx="6234651" cy="965392"/>
              </a:xfrm>
              <a:prstGeom prst="rect">
                <a:avLst/>
              </a:prstGeom>
              <a:blipFill>
                <a:blip r:embed="rId3"/>
                <a:stretch>
                  <a:fillRect l="-880" t="-629" b="-880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910C4B78-03CD-1765-27A6-4A78AD31D935}"/>
                  </a:ext>
                </a:extLst>
              </p:cNvPr>
              <p:cNvSpPr txBox="1"/>
              <p:nvPr/>
            </p:nvSpPr>
            <p:spPr>
              <a:xfrm>
                <a:off x="1110139" y="2647680"/>
                <a:ext cx="5236325" cy="1023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ja-JP" altLang="en-US" b="1"/>
                  <a:t>・</a:t>
                </a:r>
                <a:r>
                  <a:rPr lang="ja-JP" altLang="ja-JP" b="1"/>
                  <a:t>ミューオン束</a:t>
                </a:r>
                <a:r>
                  <a:rPr lang="ja-JP" altLang="ja-JP"/>
                  <a:t>（深さ </a:t>
                </a:r>
                <a14:m>
                  <m:oMath xmlns:m="http://schemas.openxmlformats.org/officeDocument/2006/math">
                    <m:r>
                      <a:rPr lang="ja-JP" altLang="en-US" b="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ja-JP" altLang="ja-JP"/>
                  <a:t>依存）: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ja-JP" alt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ja-JP" altLang="en-US" b="1" i="1">
                              <a:latin typeface="Cambria Math" panose="02040503050406030204" pitchFamily="18" charset="0"/>
                            </a:rPr>
                            <m:t>𝝁</m:t>
                          </m:r>
                        </m:sub>
                      </m:sSub>
                      <m:d>
                        <m:dPr>
                          <m:ctrlPr>
                            <a:rPr lang="ja-JP" alt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d>
                      <m:r>
                        <a:rPr lang="ja-JP" alt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ja-JP" altLang="en-US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en-US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ja-JP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ja-JP" alt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ja-JP" altLang="en-US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910C4B78-03CD-1765-27A6-4A78AD31D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139" y="2647680"/>
                <a:ext cx="5236325" cy="1023806"/>
              </a:xfrm>
              <a:prstGeom prst="rect">
                <a:avLst/>
              </a:prstGeom>
              <a:blipFill>
                <a:blip r:embed="rId4"/>
                <a:stretch>
                  <a:fillRect l="-931" t="-297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1320AAFE-4E85-37D2-8E09-0CEF43665F62}"/>
                  </a:ext>
                </a:extLst>
              </p:cNvPr>
              <p:cNvSpPr txBox="1"/>
              <p:nvPr/>
            </p:nvSpPr>
            <p:spPr>
              <a:xfrm>
                <a:off x="1110139" y="3828472"/>
                <a:ext cx="5476974" cy="1023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ja-JP" altLang="en-US" b="1"/>
                  <a:t>・</a:t>
                </a:r>
                <a:r>
                  <a:rPr lang="ja-JP" altLang="ja-JP" b="1"/>
                  <a:t>平均ミューオンエネルギー</a:t>
                </a:r>
                <a:r>
                  <a:rPr lang="ja-JP" altLang="ja-JP"/>
                  <a:t>（深さ </a:t>
                </a:r>
                <a14:m>
                  <m:oMath xmlns:m="http://schemas.openxmlformats.org/officeDocument/2006/math">
                    <m:r>
                      <a:rPr lang="ja-JP" altLang="en-US" b="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ja-JP" altLang="ja-JP"/>
                  <a:t>依存）: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ja-JP" alt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ja-JP" altLang="en-US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ja-JP" altLang="en-US" b="1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</m:acc>
                        </m:e>
                        <m:sub>
                          <m:r>
                            <a:rPr lang="ja-JP" altLang="en-US" b="1" i="1">
                              <a:latin typeface="Cambria Math" panose="02040503050406030204" pitchFamily="18" charset="0"/>
                            </a:rPr>
                            <m:t>𝝁</m:t>
                          </m:r>
                        </m:sub>
                      </m:sSub>
                      <m:d>
                        <m:dPr>
                          <m:ctrlPr>
                            <a:rPr lang="ja-JP" alt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ja-JP" altLang="en-US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d>
                      <m:r>
                        <a:rPr lang="ja-JP" altLang="en-US" b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ja-JP" altLang="en-US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ja-JP" altLang="en-US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ja-JP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ja-JP" alt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ja-JP" altLang="en-US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</m:oMath>
                  </m:oMathPara>
                </a14:m>
                <a:endParaRPr kumimoji="1" lang="ja-JP" altLang="en-US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1320AAFE-4E85-37D2-8E09-0CEF43665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139" y="3828472"/>
                <a:ext cx="5476974" cy="1023806"/>
              </a:xfrm>
              <a:prstGeom prst="rect">
                <a:avLst/>
              </a:prstGeom>
              <a:blipFill>
                <a:blip r:embed="rId5"/>
                <a:stretch>
                  <a:fillRect l="-890" t="-297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6664D403-E429-1D03-C3EF-01778D886D54}"/>
                  </a:ext>
                </a:extLst>
              </p:cNvPr>
              <p:cNvSpPr txBox="1"/>
              <p:nvPr/>
            </p:nvSpPr>
            <p:spPr>
              <a:xfrm>
                <a:off x="1110139" y="5043339"/>
                <a:ext cx="4732256" cy="1721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ja-JP" altLang="en-US" b="1"/>
                  <a:t>・</a:t>
                </a:r>
                <a:r>
                  <a:rPr lang="ja-JP" altLang="ja-JP" b="1"/>
                  <a:t>中性子生成イールド</a:t>
                </a:r>
                <a:r>
                  <a:rPr lang="ja-JP" altLang="ja-JP"/>
                  <a:t>（エネルギー・質量数依存）: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ja-JP" alt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en-US" b="1" i="1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ja-JP" altLang="en-US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d>
                        <m:dPr>
                          <m:ctrlPr>
                            <a:rPr lang="ja-JP" alt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ja-JP" alt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ja-JP" alt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ja-JP" altLang="en-US" b="1" i="1">
                                      <a:latin typeface="Cambria Math" panose="02040503050406030204" pitchFamily="18" charset="0"/>
                                    </a:rPr>
                                    <m:t>𝑬</m:t>
                                  </m:r>
                                </m:e>
                              </m:acc>
                            </m:e>
                            <m:sub>
                              <m:r>
                                <a:rPr lang="ja-JP" altLang="en-US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sub>
                          </m:sSub>
                        </m:e>
                      </m:d>
                      <m:r>
                        <a:rPr lang="ja-JP" alt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ja-JP" altLang="en-US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sup>
                      </m:sSup>
                      <m:r>
                        <a:rPr lang="ja-JP" altLang="en-US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̅"/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  <m: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  <m:r>
                        <a:rPr lang="ja-JP" altLang="en-US">
                          <a:latin typeface="Cambria Math" panose="02040503050406030204" pitchFamily="18" charset="0"/>
                        </a:rPr>
                        <m:t> </m:t>
                      </m:r>
                    </m:oMath>
                  </m:oMathPara>
                </a14:m>
                <a:endParaRPr kumimoji="1" lang="en-US" altLang="ja-JP"/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ja-JP" altLang="en-US" i="0"/>
                            <m:t>多元素: </m:t>
                          </m:r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ja-JP" altLang="en-US"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̅"/>
                                  <m:ctrlP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</m:e>
                            <m:sub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  <m:sup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bSup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ja-JP" alt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ja-JP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ja-JP" altLang="en-US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p>
                              </m:sSubSup>
                            </m:e>
                          </m:nary>
                        </m:e>
                      </m:d>
                    </m:oMath>
                  </m:oMathPara>
                </a14:m>
                <a:endParaRPr kumimoji="1" lang="ja-JP" altLang="en-US"/>
              </a:p>
            </p:txBody>
          </p:sp>
        </mc:Choice>
        <mc:Fallback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6664D403-E429-1D03-C3EF-01778D886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139" y="5043339"/>
                <a:ext cx="4732256" cy="1721305"/>
              </a:xfrm>
              <a:prstGeom prst="rect">
                <a:avLst/>
              </a:prstGeom>
              <a:blipFill>
                <a:blip r:embed="rId6"/>
                <a:stretch>
                  <a:fillRect l="-1031" t="-212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139C7A1-664F-FFEF-B6D5-D86BF59F4A3E}"/>
              </a:ext>
            </a:extLst>
          </p:cNvPr>
          <p:cNvSpPr/>
          <p:nvPr/>
        </p:nvSpPr>
        <p:spPr>
          <a:xfrm>
            <a:off x="1676354" y="1168237"/>
            <a:ext cx="6386265" cy="1231196"/>
          </a:xfrm>
          <a:prstGeom prst="rect">
            <a:avLst/>
          </a:prstGeom>
          <a:solidFill>
            <a:schemeClr val="accent1">
              <a:alpha val="14000"/>
            </a:schemeClr>
          </a:solidFill>
          <a:ln w="349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30DDE09B-B094-1410-872C-55A2F8FE6839}"/>
                  </a:ext>
                </a:extLst>
              </p:cNvPr>
              <p:cNvSpPr txBox="1"/>
              <p:nvPr/>
            </p:nvSpPr>
            <p:spPr>
              <a:xfrm>
                <a:off x="8403736" y="1173062"/>
                <a:ext cx="3364295" cy="924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/>
                  <a:t>※</a:t>
                </a:r>
                <a:r>
                  <a:rPr lang="ja-JP" altLang="en-US"/>
                  <a:t>イールド：</a:t>
                </a:r>
                <a:r>
                  <a:rPr lang="ja-JP" altLang="ja-JP"/>
                  <a:t>ミューオン1本あたりの中性子生成数</a:t>
                </a:r>
                <a:r>
                  <a:rPr lang="en-US" altLang="ja-JP"/>
                  <a:t>[/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ja-JP" altLang="en-US" i="0"/>
                          <m:t>g</m:t>
                        </m:r>
                        <m:r>
                          <m:rPr>
                            <m:nor/>
                          </m:rPr>
                          <a:rPr lang="ja-JP" altLang="en-US" i="0"/>
                          <m:t>/</m:t>
                        </m:r>
                        <m:r>
                          <m:rPr>
                            <m:nor/>
                          </m:rPr>
                          <a:rPr lang="ja-JP" altLang="en-US" i="0"/>
                          <m:t>cm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/>
                  <a:t>]</a:t>
                </a:r>
                <a:endParaRPr lang="ja-JP" altLang="ja-JP"/>
              </a:p>
              <a:p>
                <a:endParaRPr kumimoji="1" lang="ja-JP" altLang="en-US"/>
              </a:p>
            </p:txBody>
          </p:sp>
        </mc:Choice>
        <mc:Fallback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30DDE09B-B094-1410-872C-55A2F8FE6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3736" y="1173062"/>
                <a:ext cx="3364295" cy="924164"/>
              </a:xfrm>
              <a:prstGeom prst="rect">
                <a:avLst/>
              </a:prstGeom>
              <a:blipFill>
                <a:blip r:embed="rId7"/>
                <a:stretch>
                  <a:fillRect l="-1633" t="-32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FE01E93-A565-5D99-4AF0-A90801328DE5}"/>
              </a:ext>
            </a:extLst>
          </p:cNvPr>
          <p:cNvSpPr txBox="1"/>
          <p:nvPr/>
        </p:nvSpPr>
        <p:spPr>
          <a:xfrm>
            <a:off x="8416947" y="2036298"/>
            <a:ext cx="33468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ea typeface="游ゴシック"/>
              </a:rPr>
              <a:t>※[m.w.e]：メートル水当量</a:t>
            </a:r>
            <a:endParaRPr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72DAB80-D152-447D-5895-7DA0F37D9F99}"/>
              </a:ext>
            </a:extLst>
          </p:cNvPr>
          <p:cNvSpPr txBox="1"/>
          <p:nvPr/>
        </p:nvSpPr>
        <p:spPr>
          <a:xfrm>
            <a:off x="6591093" y="6400964"/>
            <a:ext cx="143579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ea typeface="游ゴシック"/>
              </a:rPr>
              <a:t>(文献より)</a:t>
            </a:r>
            <a:endParaRPr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0108E7B-EC73-64DE-8EA6-E647C804EB96}"/>
              </a:ext>
            </a:extLst>
          </p:cNvPr>
          <p:cNvSpPr txBox="1"/>
          <p:nvPr/>
        </p:nvSpPr>
        <p:spPr>
          <a:xfrm>
            <a:off x="8057021" y="6354533"/>
            <a:ext cx="430719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ea typeface="+mn-lt"/>
                <a:cs typeface="+mn-lt"/>
              </a:rPr>
              <a:t>[1]A. Mei and A. Hime, </a:t>
            </a:r>
            <a:r>
              <a:rPr lang="en-US" sz="1200" i="1">
                <a:ea typeface="+mn-lt"/>
                <a:cs typeface="+mn-lt"/>
              </a:rPr>
              <a:t>Phys. Rev. D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b="1">
                <a:ea typeface="+mn-lt"/>
                <a:cs typeface="+mn-lt"/>
              </a:rPr>
              <a:t>73</a:t>
            </a:r>
            <a:r>
              <a:rPr lang="en-US" sz="1200">
                <a:ea typeface="+mn-lt"/>
                <a:cs typeface="+mn-lt"/>
              </a:rPr>
              <a:t>, 053004 (2006).</a:t>
            </a:r>
            <a:endParaRPr lang="ja-JP" altLang="en-US" sz="1200">
              <a:ea typeface="游ゴシック"/>
            </a:endParaRPr>
          </a:p>
          <a:p>
            <a:r>
              <a:rPr lang="en-US" sz="1200">
                <a:ea typeface="+mn-lt"/>
                <a:cs typeface="+mn-lt"/>
              </a:rPr>
              <a:t>[2]X. C. Wang et al., </a:t>
            </a:r>
            <a:r>
              <a:rPr lang="en-US" sz="1200" i="1">
                <a:ea typeface="+mn-lt"/>
                <a:cs typeface="+mn-lt"/>
              </a:rPr>
              <a:t>Phys. Rev. D</a:t>
            </a:r>
            <a:r>
              <a:rPr lang="en-US" sz="1200">
                <a:ea typeface="+mn-lt"/>
                <a:cs typeface="+mn-lt"/>
              </a:rPr>
              <a:t> </a:t>
            </a:r>
            <a:r>
              <a:rPr lang="en-US" sz="1200" b="1">
                <a:ea typeface="+mn-lt"/>
                <a:cs typeface="+mn-lt"/>
              </a:rPr>
              <a:t>64</a:t>
            </a:r>
            <a:r>
              <a:rPr lang="en-US" sz="1200">
                <a:ea typeface="+mn-lt"/>
                <a:cs typeface="+mn-lt"/>
              </a:rPr>
              <a:t>, 013012 (2001).</a:t>
            </a:r>
            <a:endParaRPr lang="en-US" sz="1200">
              <a:ea typeface="游ゴシック" panose="02110004020202020204"/>
            </a:endParaRPr>
          </a:p>
          <a:p>
            <a:endParaRPr lang="en-US" altLang="ja-JP">
              <a:ea typeface="游ゴシック"/>
            </a:endParaRPr>
          </a:p>
          <a:p>
            <a:pPr algn="l"/>
            <a:endParaRPr lang="ja-JP" altLang="en-US">
              <a:ea typeface="游ゴシック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2E46C50-2620-D02A-A484-AD72C19736FE}"/>
              </a:ext>
            </a:extLst>
          </p:cNvPr>
          <p:cNvSpPr txBox="1"/>
          <p:nvPr/>
        </p:nvSpPr>
        <p:spPr>
          <a:xfrm>
            <a:off x="4856975" y="3370146"/>
            <a:ext cx="56995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ea typeface="游ゴシック"/>
              </a:rPr>
              <a:t>[1]</a:t>
            </a:r>
            <a:endParaRPr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FE84FD1-D3AA-06E1-3405-8A24BFCDFE29}"/>
              </a:ext>
            </a:extLst>
          </p:cNvPr>
          <p:cNvSpPr txBox="1"/>
          <p:nvPr/>
        </p:nvSpPr>
        <p:spPr>
          <a:xfrm>
            <a:off x="4948414" y="4487745"/>
            <a:ext cx="56995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ea typeface="游ゴシック"/>
              </a:rPr>
              <a:t>[2]</a:t>
            </a:r>
            <a:endParaRPr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6A84E36-0B5F-5583-3B03-923D66067A54}"/>
              </a:ext>
            </a:extLst>
          </p:cNvPr>
          <p:cNvSpPr txBox="1"/>
          <p:nvPr/>
        </p:nvSpPr>
        <p:spPr>
          <a:xfrm>
            <a:off x="10027663" y="5801445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D66E882-9D94-3821-A0E8-31280062CBD7}"/>
              </a:ext>
            </a:extLst>
          </p:cNvPr>
          <p:cNvSpPr txBox="1"/>
          <p:nvPr/>
        </p:nvSpPr>
        <p:spPr>
          <a:xfrm>
            <a:off x="4994621" y="2420470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ADE5747-5A64-D21B-8DD4-5A454F0DA6A2}"/>
              </a:ext>
            </a:extLst>
          </p:cNvPr>
          <p:cNvSpPr txBox="1"/>
          <p:nvPr/>
        </p:nvSpPr>
        <p:spPr>
          <a:xfrm>
            <a:off x="307361" y="3291327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ja-JP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365760" y="5303520"/>
            <a:ext cx="11430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游ゴシック"/>
                <a:ea typeface="游ゴシック"/>
              </a:rPr>
              <a:t>I_μ(d)：深さ d でのミューオン強度。衝突による損失も電離損失による停止も含めた「生き残る強度」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游ゴシック"/>
                <a:ea typeface="游ゴシック"/>
              </a:rPr>
              <a:t>Y_n：1ミューオンあたりの中性子生成収量（平均エネルギーに依存）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游ゴシック"/>
                <a:ea typeface="游ゴシック"/>
              </a:rPr>
              <a:t>N(d) = I_μ(d) × Y_n(Ē_μ) × Δx　で、地下での中性子生成を表す（文献[1][2]）</a:t>
            </a:r>
          </a:p>
        </p:txBody>
      </p:sp>
    </p:spTree>
    <p:extLst>
      <p:ext uri="{BB962C8B-B14F-4D97-AF65-F5344CB8AC3E}">
        <p14:creationId xmlns:p14="http://schemas.microsoft.com/office/powerpoint/2010/main" val="12540688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681E25D1-372B-F1E5-6D4F-E6F6F0404D6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234183" y="345920"/>
                <a:ext cx="9723634" cy="1325563"/>
              </a:xfrm>
            </p:spPr>
            <p:txBody>
              <a:bodyPr/>
              <a:lstStyle/>
              <a:p>
                <a:r>
                  <a:rPr lang="ja-JP" altLang="ja-JP"/>
                  <a:t>元素組成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ja-JP"/>
                  <a:t>と衝突指数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ja-JP" altLang="ja-JP"/>
                  <a:t>の物理的意味</a:t>
                </a:r>
                <a:endParaRPr kumimoji="1" lang="ja-JP" altLang="en-US"/>
              </a:p>
            </p:txBody>
          </p:sp>
        </mc:Choice>
        <mc:Fallback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681E25D1-372B-F1E5-6D4F-E6F6F0404D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234183" y="345920"/>
                <a:ext cx="9723634" cy="1325563"/>
              </a:xfrm>
              <a:blipFill>
                <a:blip r:embed="rId2"/>
                <a:stretch>
                  <a:fillRect l="-250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FD2EA76-80F4-B639-1F58-780BE9FE441D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 flipV="1">
            <a:off x="1" y="6729572"/>
            <a:ext cx="82192" cy="45719"/>
          </a:xfrm>
        </p:spPr>
        <p:txBody>
          <a:bodyPr>
            <a:normAutofit fontScale="25000" lnSpcReduction="20000"/>
          </a:bodyPr>
          <a:lstStyle/>
          <a:p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3B646A30-E480-748E-620C-FF921E37E3C6}"/>
                  </a:ext>
                </a:extLst>
              </p:cNvPr>
              <p:cNvSpPr txBox="1"/>
              <p:nvPr/>
            </p:nvSpPr>
            <p:spPr>
              <a:xfrm>
                <a:off x="1382730" y="1844995"/>
                <a:ext cx="9144856" cy="1445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en-US" sz="2000" b="1"/>
                  <a:t>〇</a:t>
                </a:r>
                <a:r>
                  <a:rPr lang="ja-JP" altLang="ja-JP" sz="2000" b="1"/>
                  <a:t>合成物質における原子質量 </a:t>
                </a:r>
                <a14:m>
                  <m:oMath xmlns:m="http://schemas.openxmlformats.org/officeDocument/2006/math">
                    <m:r>
                      <a:rPr lang="ja-JP" alt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ja-JP" sz="2000" b="1"/>
                  <a:t>（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ja-JP" alt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ja-JP" alt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ja-JP" altLang="en-US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ja-JP" alt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ja-JP" altLang="en-US" sz="20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ja-JP" altLang="ja-JP" sz="2000" b="1"/>
                  <a:t>）の算術手順</a:t>
                </a:r>
                <a:endParaRPr lang="ja-JP" altLang="ja-JP" sz="2000"/>
              </a:p>
              <a:p>
                <a:pPr lvl="0"/>
                <a:r>
                  <a:rPr lang="ja-JP" altLang="ja-JP" b="1"/>
                  <a:t>Step 1</a:t>
                </a:r>
                <a:r>
                  <a:rPr lang="ja-JP" altLang="ja-JP"/>
                  <a:t>: 対象物質（コンクリート）の主要構成元素（O, Si, Ca, Fe, H, Al等）を特定</a:t>
                </a:r>
              </a:p>
              <a:p>
                <a:pPr lvl="0"/>
                <a:r>
                  <a:rPr lang="ja-JP" altLang="ja-JP" b="1"/>
                  <a:t>Step 2</a:t>
                </a:r>
                <a:r>
                  <a:rPr lang="ja-JP" altLang="ja-JP"/>
                  <a:t>: 組成割合（原子比）に基づき、元素ごとの質量数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ja-JP"/>
                  <a:t>および寄与分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𝛽</m:t>
                        </m:r>
                      </m:sup>
                    </m:sSubSup>
                  </m:oMath>
                </a14:m>
                <a:r>
                  <a:rPr lang="ja-JP" altLang="ja-JP"/>
                  <a:t>を算出</a:t>
                </a:r>
              </a:p>
              <a:p>
                <a:pPr lvl="0"/>
                <a:r>
                  <a:rPr lang="ja-JP" altLang="ja-JP" b="1"/>
                  <a:t>Step 3</a:t>
                </a:r>
                <a:r>
                  <a:rPr lang="ja-JP" altLang="ja-JP"/>
                  <a:t>: 全構成元素の和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ja-JP" altLang="ja-JP"/>
                  <a:t>を求め、イールド計算式に適用</a:t>
                </a:r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3B646A30-E480-748E-620C-FF921E37E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2730" y="1844995"/>
                <a:ext cx="9144856" cy="1445139"/>
              </a:xfrm>
              <a:prstGeom prst="rect">
                <a:avLst/>
              </a:prstGeom>
              <a:blipFill>
                <a:blip r:embed="rId3"/>
                <a:stretch>
                  <a:fillRect l="-733" t="-29536" b="-4683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C2FE6B3C-5F89-7A26-0046-BB9B517AA204}"/>
                  </a:ext>
                </a:extLst>
              </p:cNvPr>
              <p:cNvSpPr txBox="1"/>
              <p:nvPr/>
            </p:nvSpPr>
            <p:spPr>
              <a:xfrm>
                <a:off x="1382730" y="3689677"/>
                <a:ext cx="8274977" cy="2657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en-US" sz="2000" b="1"/>
                  <a:t>〇</a:t>
                </a:r>
                <a:r>
                  <a:rPr lang="ja-JP" altLang="ja-JP" sz="2000" b="1"/>
                  <a:t>指数 </a:t>
                </a:r>
                <a14:m>
                  <m:oMath xmlns:m="http://schemas.openxmlformats.org/officeDocument/2006/math">
                    <m:r>
                      <a:rPr lang="ja-JP" altLang="en-US" sz="20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ja-JP" altLang="ja-JP" sz="2000" b="1"/>
                  <a:t>（</a:t>
                </a:r>
                <a14:m>
                  <m:oMath xmlns:m="http://schemas.openxmlformats.org/officeDocument/2006/math">
                    <m:r>
                      <a:rPr lang="ja-JP" altLang="en-US" sz="2000">
                        <a:latin typeface="Cambria Math" panose="02040503050406030204" pitchFamily="18" charset="0"/>
                      </a:rPr>
                      <m:t>0.75∼0.90</m:t>
                    </m:r>
                  </m:oMath>
                </a14:m>
                <a:r>
                  <a:rPr lang="ja-JP" altLang="ja-JP" sz="2000" b="1"/>
                  <a:t>）の物理的導出背景</a:t>
                </a:r>
                <a:endParaRPr lang="ja-JP" altLang="ja-JP" sz="2000"/>
              </a:p>
              <a:p>
                <a:pPr lvl="0"/>
                <a:r>
                  <a:rPr lang="ja-JP" altLang="en-US" b="1"/>
                  <a:t>・</a:t>
                </a:r>
                <a:r>
                  <a:rPr lang="ja-JP" altLang="ja-JP" b="1"/>
                  <a:t>幾何学的依存性の混在</a:t>
                </a:r>
                <a:r>
                  <a:rPr lang="ja-JP" altLang="ja-JP"/>
                  <a:t>:</a:t>
                </a:r>
              </a:p>
              <a:p>
                <a:pPr lvl="1"/>
                <a:r>
                  <a:rPr lang="ja-JP" altLang="ja-JP"/>
                  <a:t>原子核全体との衝突（体積効果） 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1.0</m:t>
                        </m:r>
                      </m:sup>
                    </m:sSup>
                  </m:oMath>
                </a14:m>
                <a:r>
                  <a:rPr lang="ja-JP" altLang="ja-JP"/>
                  <a:t>に比例</a:t>
                </a:r>
              </a:p>
              <a:p>
                <a:pPr lvl="1"/>
                <a:r>
                  <a:rPr lang="ja-JP" altLang="ja-JP"/>
                  <a:t>低エネルギーでの原子核表面衝突（断面積） </a:t>
                </a:r>
                <a14:m>
                  <m:oMath xmlns:m="http://schemas.openxmlformats.org/officeDocument/2006/math"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2/3</m:t>
                        </m:r>
                      </m:sup>
                    </m:sSup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>
                            <a:latin typeface="Cambria Math" panose="02040503050406030204" pitchFamily="18" charset="0"/>
                          </a:rPr>
                          <m:t>≈</m:t>
                        </m:r>
                        <m:sSup>
                          <m:sSup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ja-JP" altLang="en-US">
                                <a:latin typeface="Cambria Math" panose="02040503050406030204" pitchFamily="18" charset="0"/>
                              </a:rPr>
                              <m:t>0.67</m:t>
                            </m:r>
                          </m:sup>
                        </m:sSup>
                      </m:e>
                    </m:d>
                  </m:oMath>
                </a14:m>
                <a:r>
                  <a:rPr lang="ja-JP" altLang="ja-JP"/>
                  <a:t>に比例</a:t>
                </a:r>
              </a:p>
              <a:p>
                <a:pPr lvl="0"/>
                <a:r>
                  <a:rPr lang="ja-JP" altLang="en-US" b="1"/>
                  <a:t>・</a:t>
                </a:r>
                <a:r>
                  <a:rPr lang="ja-JP" altLang="ja-JP" b="1"/>
                  <a:t>生成中性子のエネルギーと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ja-JP" altLang="ja-JP" b="1"/>
                  <a:t>の関係</a:t>
                </a:r>
                <a:r>
                  <a:rPr lang="ja-JP" altLang="ja-JP"/>
                  <a:t>:</a:t>
                </a:r>
              </a:p>
              <a:p>
                <a:pPr lvl="1"/>
                <a:r>
                  <a:rPr lang="ja-JP" altLang="ja-JP" b="1"/>
                  <a:t>熱中性子（低エネルギー）</a:t>
                </a:r>
                <a:r>
                  <a:rPr lang="ja-JP" altLang="ja-JP"/>
                  <a:t>: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≈0.75</m:t>
                    </m:r>
                  </m:oMath>
                </a14:m>
                <a:r>
                  <a:rPr lang="ja-JP" altLang="ja-JP"/>
                  <a:t>（表面反応の影響大）</a:t>
                </a:r>
              </a:p>
              <a:p>
                <a:pPr lvl="1"/>
                <a:r>
                  <a:rPr lang="ja-JP" altLang="ja-JP" b="1"/>
                  <a:t>MeV級中性子（高エネルギー）</a:t>
                </a:r>
                <a:r>
                  <a:rPr lang="ja-JP" altLang="ja-JP"/>
                  <a:t>: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≈0.90</m:t>
                    </m:r>
                  </m:oMath>
                </a14:m>
                <a:r>
                  <a:rPr lang="ja-JP" altLang="ja-JP"/>
                  <a:t>（深部・体積反応の影響大）</a:t>
                </a:r>
              </a:p>
              <a:p>
                <a:pPr lvl="1"/>
                <a:r>
                  <a:rPr lang="ja-JP" altLang="en-US" b="1"/>
                  <a:t>　→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ja-JP" altLang="ja-JP"/>
                  <a:t>の値が大きいほど、発生する中性子のエネルギー</a:t>
                </a:r>
                <a:r>
                  <a:rPr lang="ja-JP" altLang="en-US"/>
                  <a:t>が高く</a:t>
                </a:r>
                <a:r>
                  <a:rPr lang="ja-JP" altLang="ja-JP"/>
                  <a:t>なる</a:t>
                </a:r>
              </a:p>
              <a:p>
                <a:endParaRPr kumimoji="1" lang="ja-JP" altLang="en-US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C2FE6B3C-5F89-7A26-0046-BB9B517AA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2730" y="3689677"/>
                <a:ext cx="8274977" cy="2657972"/>
              </a:xfrm>
              <a:prstGeom prst="rect">
                <a:avLst/>
              </a:prstGeom>
              <a:blipFill>
                <a:blip r:embed="rId4"/>
                <a:stretch>
                  <a:fillRect l="-811" t="-9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6FDADB1-2158-8788-DB88-15DB8211E45A}"/>
              </a:ext>
            </a:extLst>
          </p:cNvPr>
          <p:cNvSpPr txBox="1"/>
          <p:nvPr/>
        </p:nvSpPr>
        <p:spPr>
          <a:xfrm>
            <a:off x="7031877" y="6308645"/>
            <a:ext cx="44656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400">
                <a:ea typeface="+mn-lt"/>
                <a:cs typeface="+mn-lt"/>
              </a:rPr>
              <a:t>[3]</a:t>
            </a:r>
            <a:r>
              <a:rPr lang="ja-JP" sz="1400">
                <a:ea typeface="+mn-lt"/>
                <a:cs typeface="+mn-lt"/>
              </a:rPr>
              <a:t>X. C. Wang et al., </a:t>
            </a:r>
            <a:r>
              <a:rPr lang="ja-JP" sz="1400" i="1">
                <a:ea typeface="+mn-lt"/>
                <a:cs typeface="+mn-lt"/>
              </a:rPr>
              <a:t>Phys. Rev. D</a:t>
            </a:r>
            <a:r>
              <a:rPr lang="ja-JP" sz="1400">
                <a:ea typeface="+mn-lt"/>
                <a:cs typeface="+mn-lt"/>
              </a:rPr>
              <a:t> </a:t>
            </a:r>
            <a:r>
              <a:rPr lang="ja-JP" sz="1400" b="1">
                <a:ea typeface="+mn-lt"/>
                <a:cs typeface="+mn-lt"/>
              </a:rPr>
              <a:t>64</a:t>
            </a:r>
            <a:r>
              <a:rPr lang="ja-JP" sz="1400">
                <a:ea typeface="+mn-lt"/>
                <a:cs typeface="+mn-lt"/>
              </a:rPr>
              <a:t>, 013012 (2001). </a:t>
            </a:r>
            <a:endParaRPr lang="ja-JP" sz="1400"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42335725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D7CAF1-B316-5200-5D32-A5E76136B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85169" y="365125"/>
            <a:ext cx="139873" cy="146029"/>
          </a:xfrm>
        </p:spPr>
        <p:txBody>
          <a:bodyPr>
            <a:normAutofit fontScale="90000"/>
          </a:bodyPr>
          <a:lstStyle/>
          <a:p>
            <a:r>
              <a:rPr lang="ja-JP" altLang="en-US">
                <a:ea typeface="游ゴシック Light"/>
              </a:rPr>
              <a:t>　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3648453-AD1F-CF02-81B3-E113B5EDC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43</a:t>
            </a:fld>
            <a:endParaRPr kumimoji="1" lang="ja-JP" altLang="en-US"/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DDDDE399-ECD7-A7E8-804A-D58ABB1219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22450" y="146798"/>
            <a:ext cx="11719461" cy="6569340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58901CA-8AEA-FCB9-BD4A-863276C25ECF}"/>
              </a:ext>
            </a:extLst>
          </p:cNvPr>
          <p:cNvSpPr txBox="1"/>
          <p:nvPr/>
        </p:nvSpPr>
        <p:spPr>
          <a:xfrm>
            <a:off x="1791632" y="-589372"/>
            <a:ext cx="33519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b="1">
                <a:latin typeface="Cambria Math"/>
              </a:rPr>
              <a:t>N(d)=I_μ (d)×Y_n (E ̅_μ )×Δx ̅</a:t>
            </a:r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5451112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BDDEE33-51B7-9AEC-8C04-03E9BC0F6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lang="ja-JP" altLang="en-US" smtClean="0"/>
              <a:pPr/>
              <a:t>44</a:t>
            </a:fld>
            <a:r>
              <a:rPr lang="en-US" altLang="ja-JP"/>
              <a:t>/99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C2030D4-4296-9C40-3C35-57EBDA7AC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6" y="135699"/>
            <a:ext cx="118914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1548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B122BA-7CA1-8500-7930-7F97DE521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游ゴシック Light"/>
              </a:rPr>
              <a:t>PHITSを用いたシミュレーション</a:t>
            </a:r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A709365-C11B-B82A-5351-D357C9B3D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995" y="2598853"/>
            <a:ext cx="5665386" cy="4078643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EBAF112-EB49-AD37-50B6-5890F6B090D9}"/>
              </a:ext>
            </a:extLst>
          </p:cNvPr>
          <p:cNvSpPr txBox="1"/>
          <p:nvPr/>
        </p:nvSpPr>
        <p:spPr>
          <a:xfrm>
            <a:off x="922791" y="1404744"/>
            <a:ext cx="1042300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ea typeface="游ゴシック"/>
              </a:rPr>
              <a:t>ミューオンと中性子をコンクリートに入射し、トンネル内の検出器で中性子のフラックスを見る</a:t>
            </a:r>
          </a:p>
          <a:p>
            <a:r>
              <a:rPr lang="ja-JP">
                <a:ea typeface="+mn-lt"/>
                <a:cs typeface="+mn-lt"/>
              </a:rPr>
              <a:t>検出器を</a:t>
            </a:r>
            <a:r>
              <a:rPr lang="ja-JP">
                <a:solidFill>
                  <a:srgbClr val="FF0000"/>
                </a:solidFill>
                <a:ea typeface="+mn-lt"/>
                <a:cs typeface="+mn-lt"/>
              </a:rPr>
              <a:t>壁に寄せて</a:t>
            </a:r>
            <a:r>
              <a:rPr lang="ja-JP">
                <a:ea typeface="+mn-lt"/>
                <a:cs typeface="+mn-lt"/>
              </a:rPr>
              <a:t>置いた場合と、</a:t>
            </a:r>
            <a:r>
              <a:rPr lang="ja-JP">
                <a:solidFill>
                  <a:srgbClr val="FF0000"/>
                </a:solidFill>
                <a:ea typeface="+mn-lt"/>
                <a:cs typeface="+mn-lt"/>
              </a:rPr>
              <a:t>通路の中心</a:t>
            </a:r>
            <a:r>
              <a:rPr lang="ja-JP">
                <a:ea typeface="+mn-lt"/>
                <a:cs typeface="+mn-lt"/>
              </a:rPr>
              <a:t>に置いた場合の比較をすることで</a:t>
            </a:r>
            <a:r>
              <a:rPr lang="ja-JP">
                <a:solidFill>
                  <a:srgbClr val="FF0000"/>
                </a:solidFill>
                <a:ea typeface="+mn-lt"/>
                <a:cs typeface="+mn-lt"/>
              </a:rPr>
              <a:t>測定の系統誤差</a:t>
            </a:r>
            <a:r>
              <a:rPr lang="ja-JP">
                <a:ea typeface="+mn-lt"/>
                <a:cs typeface="+mn-lt"/>
              </a:rPr>
              <a:t>をシミュレーションにより求めた</a:t>
            </a:r>
          </a:p>
          <a:p>
            <a:endParaRPr lang="ja-JP" altLang="en-US">
              <a:ea typeface="游ゴシック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3B69C99-75C6-060A-DEA4-A1D3E9D49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45</a:t>
            </a:fld>
            <a:endParaRPr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015514B-C274-B7EB-D24D-04602A248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567" y="2603500"/>
            <a:ext cx="6095640" cy="4087091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DF2B702-300D-CC14-F0F2-BA4A120F6DFE}"/>
              </a:ext>
            </a:extLst>
          </p:cNvPr>
          <p:cNvSpPr/>
          <p:nvPr/>
        </p:nvSpPr>
        <p:spPr>
          <a:xfrm>
            <a:off x="2793230" y="3614881"/>
            <a:ext cx="1209194" cy="120880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DC92E99-CAAE-B906-DD69-590FE4D25C9C}"/>
              </a:ext>
            </a:extLst>
          </p:cNvPr>
          <p:cNvSpPr/>
          <p:nvPr/>
        </p:nvSpPr>
        <p:spPr>
          <a:xfrm>
            <a:off x="3266593" y="4596244"/>
            <a:ext cx="262468" cy="2332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1C14781-F4EF-ADC4-9291-9EDDAB452D8D}"/>
              </a:ext>
            </a:extLst>
          </p:cNvPr>
          <p:cNvSpPr/>
          <p:nvPr/>
        </p:nvSpPr>
        <p:spPr>
          <a:xfrm>
            <a:off x="3768819" y="4590471"/>
            <a:ext cx="233605" cy="2332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2BB3C79-AA4B-61C8-E2EF-8BD01B39CF16}"/>
              </a:ext>
            </a:extLst>
          </p:cNvPr>
          <p:cNvSpPr txBox="1"/>
          <p:nvPr/>
        </p:nvSpPr>
        <p:spPr>
          <a:xfrm>
            <a:off x="2044390" y="5352585"/>
            <a:ext cx="2688682" cy="400110"/>
          </a:xfrm>
          <a:prstGeom prst="rect">
            <a:avLst/>
          </a:prstGeom>
          <a:solidFill>
            <a:srgbClr val="FFFFFF">
              <a:alpha val="76000"/>
            </a:srgb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000" b="1">
                <a:ea typeface="游ゴシック"/>
              </a:rPr>
              <a:t>コンクリート</a:t>
            </a:r>
            <a:endParaRPr lang="ja-JP" b="1">
              <a:ea typeface="游ゴシック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68A597E-50DC-2026-E42A-0F37050A8C5E}"/>
              </a:ext>
            </a:extLst>
          </p:cNvPr>
          <p:cNvSpPr txBox="1"/>
          <p:nvPr/>
        </p:nvSpPr>
        <p:spPr>
          <a:xfrm>
            <a:off x="2806390" y="3817039"/>
            <a:ext cx="1164683" cy="380877"/>
          </a:xfrm>
          <a:prstGeom prst="rect">
            <a:avLst/>
          </a:prstGeom>
          <a:solidFill>
            <a:srgbClr val="FFFFFF">
              <a:alpha val="74000"/>
            </a:srgb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b="1">
                <a:ea typeface="游ゴシック"/>
              </a:rPr>
              <a:t>トンネル</a:t>
            </a: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14CD9965-5FB1-8005-6C26-3C072345CD0C}"/>
              </a:ext>
            </a:extLst>
          </p:cNvPr>
          <p:cNvCxnSpPr/>
          <p:nvPr/>
        </p:nvCxnSpPr>
        <p:spPr>
          <a:xfrm flipH="1">
            <a:off x="3372648" y="4066982"/>
            <a:ext cx="1061837" cy="60514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B39C8AA3-C232-E027-1963-160B90A9A2FF}"/>
              </a:ext>
            </a:extLst>
          </p:cNvPr>
          <p:cNvCxnSpPr>
            <a:cxnSpLocks/>
          </p:cNvCxnSpPr>
          <p:nvPr/>
        </p:nvCxnSpPr>
        <p:spPr>
          <a:xfrm flipH="1">
            <a:off x="3915285" y="4061209"/>
            <a:ext cx="565382" cy="55318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0B3CA85-3DED-ACEB-94AD-986A8078EA99}"/>
              </a:ext>
            </a:extLst>
          </p:cNvPr>
          <p:cNvSpPr txBox="1"/>
          <p:nvPr/>
        </p:nvSpPr>
        <p:spPr>
          <a:xfrm>
            <a:off x="3868572" y="3661175"/>
            <a:ext cx="1164683" cy="380877"/>
          </a:xfrm>
          <a:prstGeom prst="rect">
            <a:avLst/>
          </a:prstGeom>
          <a:solidFill>
            <a:srgbClr val="FFFFFF">
              <a:alpha val="75000"/>
            </a:srgb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b="1">
                <a:ea typeface="游ゴシック"/>
              </a:rPr>
              <a:t>検出器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721D34B-9AF4-C84A-4251-25DF1435B62F}"/>
              </a:ext>
            </a:extLst>
          </p:cNvPr>
          <p:cNvSpPr txBox="1"/>
          <p:nvPr/>
        </p:nvSpPr>
        <p:spPr>
          <a:xfrm rot="-5400000">
            <a:off x="-63447" y="4407574"/>
            <a:ext cx="1143262" cy="369332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ja-JP" err="1">
                <a:ea typeface="游ゴシック"/>
              </a:rPr>
              <a:t>深さ</a:t>
            </a:r>
            <a:r>
              <a:rPr lang="en-US" altLang="ja-JP">
                <a:ea typeface="游ゴシック"/>
              </a:rPr>
              <a:t>(cm)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D74C7BB-D0D4-50F7-4AA0-8F754109A8A8}"/>
              </a:ext>
            </a:extLst>
          </p:cNvPr>
          <p:cNvSpPr txBox="1"/>
          <p:nvPr/>
        </p:nvSpPr>
        <p:spPr>
          <a:xfrm>
            <a:off x="7757734" y="6266393"/>
            <a:ext cx="2007281" cy="369332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ja-JP" err="1">
                <a:ea typeface="游ゴシック"/>
              </a:rPr>
              <a:t>エネルギ</a:t>
            </a:r>
            <a:r>
              <a:rPr lang="en-US" altLang="ja-JP">
                <a:ea typeface="游ゴシック"/>
              </a:rPr>
              <a:t>ー(MeV)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6140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D9EC1-08BC-FD0C-3395-3FB3DFD9E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8B19F9-082C-93A5-ABF3-4CDEBA290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>
                <a:ea typeface="+mj-lt"/>
                <a:cs typeface="+mj-lt"/>
              </a:rPr>
              <a:t>PHITSを用いた</a:t>
            </a:r>
            <a:r>
              <a:rPr lang="ja-JP" altLang="en-US">
                <a:ea typeface="游ゴシック Light"/>
              </a:rPr>
              <a:t>シミュレーション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DE99256-43DA-07A3-D3BB-DECEC4B4D049}"/>
              </a:ext>
            </a:extLst>
          </p:cNvPr>
          <p:cNvSpPr txBox="1"/>
          <p:nvPr/>
        </p:nvSpPr>
        <p:spPr>
          <a:xfrm>
            <a:off x="1003609" y="1712084"/>
            <a:ext cx="10643465" cy="51398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800">
                <a:latin typeface="Meiryo"/>
                <a:ea typeface="Meiryo"/>
              </a:rPr>
              <a:t>天井厚が2mの時、検出器を</a:t>
            </a:r>
            <a:r>
              <a:rPr lang="ja-JP" altLang="en-US" sz="2800">
                <a:solidFill>
                  <a:srgbClr val="FF0000"/>
                </a:solidFill>
                <a:latin typeface="Meiryo"/>
                <a:ea typeface="Meiryo"/>
              </a:rPr>
              <a:t>壁に寄せた場合</a:t>
            </a:r>
            <a:r>
              <a:rPr lang="ja-JP" altLang="en-US" sz="2800">
                <a:latin typeface="Meiryo"/>
                <a:ea typeface="Meiryo"/>
              </a:rPr>
              <a:t>と、</a:t>
            </a:r>
            <a:r>
              <a:rPr lang="ja-JP" altLang="en-US" sz="2800">
                <a:solidFill>
                  <a:srgbClr val="FF0000"/>
                </a:solidFill>
                <a:latin typeface="Meiryo"/>
                <a:ea typeface="Meiryo"/>
              </a:rPr>
              <a:t>離した場合</a:t>
            </a:r>
            <a:r>
              <a:rPr lang="ja-JP" altLang="en-US" sz="2800">
                <a:latin typeface="Meiryo"/>
                <a:ea typeface="Meiryo"/>
              </a:rPr>
              <a:t>の比較</a:t>
            </a:r>
            <a:r>
              <a:rPr lang="ja-JP" altLang="en-US" sz="2800">
                <a:solidFill>
                  <a:srgbClr val="000000"/>
                </a:solidFill>
                <a:latin typeface="Meiryo"/>
                <a:ea typeface="Meiryo"/>
              </a:rPr>
              <a:t>により</a:t>
            </a:r>
            <a:r>
              <a:rPr lang="ja-JP" altLang="en-US" sz="2800" b="1">
                <a:solidFill>
                  <a:srgbClr val="FF0000"/>
                </a:solidFill>
                <a:latin typeface="Meiryo"/>
                <a:ea typeface="Meiryo"/>
              </a:rPr>
              <a:t>測定の系統誤差</a:t>
            </a:r>
            <a:r>
              <a:rPr lang="ja-JP" altLang="en-US" sz="2800">
                <a:latin typeface="Meiryo"/>
                <a:ea typeface="Meiryo"/>
              </a:rPr>
              <a:t>をシミュレーション(PHITS)で求めた</a:t>
            </a:r>
          </a:p>
          <a:p>
            <a:endParaRPr lang="ja-JP" altLang="en-US">
              <a:latin typeface="Meiryo"/>
              <a:ea typeface="Meiryo"/>
            </a:endParaRPr>
          </a:p>
          <a:p>
            <a:r>
              <a:rPr lang="ja-JP" altLang="en-US" err="1">
                <a:solidFill>
                  <a:srgbClr val="000000"/>
                </a:solidFill>
                <a:latin typeface="Meiryo"/>
                <a:ea typeface="Meiryo"/>
                <a:cs typeface="Courier New"/>
              </a:rPr>
              <a:t>壁寄りの測定器の中性子フラックス</a:t>
            </a:r>
            <a:endParaRPr lang="ja-JP" altLang="en-US">
              <a:solidFill>
                <a:srgbClr val="000000"/>
              </a:solidFill>
              <a:latin typeface="Meiryo"/>
              <a:ea typeface="Meiryo"/>
              <a:cs typeface="Courier New"/>
            </a:endParaRPr>
          </a:p>
          <a:p>
            <a:r>
              <a:rPr lang="ja-JP"/>
              <a:t>平均フラックス           : 4.7</a:t>
            </a:r>
            <a:r>
              <a:rPr lang="en-US"/>
              <a:t>44</a:t>
            </a:r>
            <a:r>
              <a:rPr lang="ja-JP"/>
              <a:t>8</a:t>
            </a:r>
            <a:r>
              <a:rPr lang="en-US"/>
              <a:t>95</a:t>
            </a:r>
            <a:r>
              <a:rPr lang="ja-JP"/>
              <a:t>e-04 </a:t>
            </a:r>
            <a:r>
              <a:rPr lang="en-US"/>
              <a:t>(s^-1 cm^-2)</a:t>
            </a:r>
            <a:endParaRPr lang="ja-JP"/>
          </a:p>
          <a:p>
            <a:r>
              <a:rPr lang="ja-JP"/>
              <a:t>平均の絶対誤差(±σ)  : </a:t>
            </a:r>
            <a:r>
              <a:rPr lang="en-US"/>
              <a:t>6.</a:t>
            </a:r>
            <a:r>
              <a:rPr lang="ja-JP"/>
              <a:t>89</a:t>
            </a:r>
            <a:r>
              <a:rPr lang="en-US"/>
              <a:t>7</a:t>
            </a:r>
            <a:r>
              <a:rPr lang="ja-JP"/>
              <a:t>32</a:t>
            </a:r>
            <a:r>
              <a:rPr lang="en-US"/>
              <a:t>2</a:t>
            </a:r>
            <a:r>
              <a:rPr lang="ja-JP"/>
              <a:t>e-06 </a:t>
            </a:r>
            <a:r>
              <a:rPr lang="en-US"/>
              <a:t>(s^-1 cm^-2)</a:t>
            </a:r>
            <a:endParaRPr lang="ja-JP"/>
          </a:p>
          <a:p>
            <a:endParaRPr lang="ja-JP" altLang="en-US">
              <a:latin typeface="Meiryo"/>
              <a:ea typeface="Meiryo"/>
            </a:endParaRPr>
          </a:p>
          <a:p>
            <a:r>
              <a:rPr lang="ja-JP" altLang="en-US" err="1">
                <a:latin typeface="Meiryo"/>
                <a:ea typeface="Meiryo"/>
                <a:cs typeface="+mn-lt"/>
              </a:rPr>
              <a:t>中心の測定器の中性子フラックス</a:t>
            </a:r>
            <a:endParaRPr lang="en-US" err="1">
              <a:latin typeface="Meiryo"/>
              <a:ea typeface="Meiryo"/>
              <a:cs typeface="+mn-lt"/>
            </a:endParaRPr>
          </a:p>
          <a:p>
            <a:r>
              <a:rPr lang="en-US" err="1"/>
              <a:t>平均フラックス</a:t>
            </a:r>
            <a:r>
              <a:rPr lang="en-US"/>
              <a:t>           : 4.970060e-04 (s^-1 cm^-2)</a:t>
            </a:r>
          </a:p>
          <a:p>
            <a:r>
              <a:rPr lang="ja-JP" altLang="en-US" err="1">
                <a:solidFill>
                  <a:srgbClr val="1F1F1F"/>
                </a:solidFill>
                <a:latin typeface="Meiryo"/>
                <a:ea typeface="Meiryo"/>
                <a:cs typeface="Courier New"/>
              </a:rPr>
              <a:t>平均の絶対誤差</a:t>
            </a:r>
            <a:r>
              <a:rPr lang="en-US">
                <a:solidFill>
                  <a:srgbClr val="1F1F1F"/>
                </a:solidFill>
                <a:latin typeface="Meiryo"/>
                <a:ea typeface="Meiryo"/>
                <a:cs typeface="Courier New"/>
              </a:rPr>
              <a:t>(±σ)  : 6.920238e-06 </a:t>
            </a:r>
            <a:r>
              <a:rPr lang="en-US">
                <a:solidFill>
                  <a:srgbClr val="1F1F1F"/>
                </a:solidFill>
                <a:latin typeface="Meiryo"/>
                <a:ea typeface="Meiryo"/>
                <a:cs typeface="+mn-lt"/>
              </a:rPr>
              <a:t>(s^-1 cm^-2)</a:t>
            </a:r>
          </a:p>
          <a:p>
            <a:endParaRPr lang="en-US">
              <a:solidFill>
                <a:srgbClr val="1F1F1F"/>
              </a:solidFill>
              <a:latin typeface="Meiryo"/>
              <a:ea typeface="Meiryo"/>
              <a:cs typeface="Courier New"/>
            </a:endParaRPr>
          </a:p>
          <a:p>
            <a:r>
              <a:rPr lang="ja-JP"/>
              <a:t>差：2.25165</a:t>
            </a:r>
            <a:r>
              <a:rPr lang="en-US"/>
              <a:t>e</a:t>
            </a:r>
            <a:r>
              <a:rPr lang="ja-JP"/>
              <a:t>-5 </a:t>
            </a:r>
            <a:r>
              <a:rPr lang="en-US"/>
              <a:t>(s^-1 cm^-2)</a:t>
            </a:r>
            <a:endParaRPr lang="ja-JP"/>
          </a:p>
          <a:p>
            <a:r>
              <a:rPr lang="en-US" err="1"/>
              <a:t>差の</a:t>
            </a:r>
            <a:r>
              <a:rPr lang="ja-JP">
                <a:ea typeface="游ゴシック"/>
              </a:rPr>
              <a:t>絶対誤差</a:t>
            </a:r>
            <a:r>
              <a:rPr lang="en-US"/>
              <a:t>(±σ)  : 9.7705e-6 (s^-1 cm^-2)</a:t>
            </a:r>
            <a:endParaRPr lang="en-US">
              <a:ea typeface="游ゴシック"/>
            </a:endParaRPr>
          </a:p>
          <a:p>
            <a:endParaRPr lang="en-US" altLang="ja-JP">
              <a:solidFill>
                <a:srgbClr val="000000"/>
              </a:solidFill>
              <a:latin typeface="Meiryo"/>
              <a:ea typeface="Meiryo"/>
              <a:cs typeface="Courier New"/>
            </a:endParaRPr>
          </a:p>
          <a:p>
            <a:r>
              <a:rPr lang="en-US" sz="2800"/>
              <a:t>→</a:t>
            </a:r>
            <a:r>
              <a:rPr lang="ja-JP" sz="2800">
                <a:ea typeface="游ゴシック"/>
              </a:rPr>
              <a:t>検出器の位置に</a:t>
            </a:r>
            <a:r>
              <a:rPr lang="ja-JP" altLang="en-US" sz="2800">
                <a:solidFill>
                  <a:srgbClr val="000000"/>
                </a:solidFill>
                <a:ea typeface="游ゴシック"/>
              </a:rPr>
              <a:t>よる</a:t>
            </a:r>
            <a:r>
              <a:rPr lang="ja-JP" sz="2800" b="1">
                <a:solidFill>
                  <a:srgbClr val="FF0000"/>
                </a:solidFill>
                <a:ea typeface="游ゴシック"/>
              </a:rPr>
              <a:t>フラックスの系統誤差は2.3</a:t>
            </a:r>
            <a:r>
              <a:rPr lang="en-US" sz="2800" b="1">
                <a:solidFill>
                  <a:srgbClr val="FF0000"/>
                </a:solidFill>
              </a:rPr>
              <a:t>e-5</a:t>
            </a:r>
            <a:r>
              <a:rPr lang="ja-JP" sz="2800">
                <a:ea typeface="游ゴシック"/>
              </a:rPr>
              <a:t>と算出</a:t>
            </a:r>
          </a:p>
          <a:p>
            <a:r>
              <a:rPr lang="ja-JP" sz="2800">
                <a:ea typeface="游ゴシック"/>
              </a:rPr>
              <a:t>→この値は</a:t>
            </a:r>
            <a:r>
              <a:rPr lang="ja-JP" sz="2800" b="1">
                <a:solidFill>
                  <a:srgbClr val="FF0000"/>
                </a:solidFill>
                <a:ea typeface="游ゴシック"/>
              </a:rPr>
              <a:t>今回導いた理論式と実験値の一致を支持</a:t>
            </a:r>
            <a:endParaRPr lang="ja-JP" altLang="en-US" sz="2800" b="1">
              <a:solidFill>
                <a:srgbClr val="FF0000"/>
              </a:solidFill>
              <a:ea typeface="游ゴシック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8DC59FF-94D9-01CE-B944-D6B3DCD32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46</a:t>
            </a:fld>
            <a:endParaRPr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0C85A8AB-C31B-19B7-6725-906422454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2098" y="2638552"/>
            <a:ext cx="3309731" cy="127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3019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342C07-F04C-CCF0-7FFB-37DA22579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游ゴシック Light"/>
              </a:rPr>
              <a:t>まとめと今後の展望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D24D3AD-D6B4-806C-8880-F3D7C1165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sz="2000">
                <a:latin typeface="游ゴシック"/>
                <a:ea typeface="游ゴシック"/>
              </a:rPr>
              <a:t>³He検出器で地下の熱・MeV中性子フラックスを測定した</a:t>
            </a:r>
          </a:p>
          <a:p>
            <a:r>
              <a:rPr sz="2000">
                <a:latin typeface="游ゴシック"/>
                <a:ea typeface="游ゴシック"/>
              </a:rPr>
              <a:t>昨年ベースの単純な指数減衰予測では、実測を説明できなかった（2〜3桁のずれ）</a:t>
            </a:r>
          </a:p>
          <a:p>
            <a:r>
              <a:rPr sz="2000">
                <a:latin typeface="游ゴシック"/>
                <a:ea typeface="游ゴシック"/>
              </a:rPr>
              <a:t>宇宙線ミューオンが地下で生成する中性子を取り入れると、結果を説明できる</a:t>
            </a:r>
          </a:p>
          <a:p>
            <a:r>
              <a:rPr sz="2000">
                <a:latin typeface="游ゴシック"/>
                <a:ea typeface="游ゴシック"/>
              </a:rPr>
              <a:t>今後：より深い地点や、壁の影響が小さい広い地下での測定で詳細を詰める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80F2B59-5642-94A8-3DD4-20128633E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47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179952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21EF0B-82CB-5734-AD77-EEFAF19F4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游ゴシック"/>
                <a:ea typeface="游ゴシック"/>
              </a:rPr>
              <a:t/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6F7881-29DC-0D04-E6B1-9793F7E3D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 wrap="square">
            <a:normAutofit/>
          </a:bodyPr>
          <a:lstStyle/>
          <a:p>
            <a:pPr/>
            <a:r>
              <a:rPr sz="4000" i="0">
                <a:latin typeface="游ゴシック"/>
                <a:ea typeface="游ゴシック"/>
              </a:rPr>
              <a:t>ご清聴ありがとうございました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075E24-BDDA-F09A-EE62-504C0F703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lang="ja-JP" altLang="en-US" smtClean="0"/>
              <a:pPr/>
              <a:t>48</a:t>
            </a:fld>
            <a:r>
              <a:rPr lang="en-US" altLang="ja-JP"/>
              <a:t>/99</a:t>
            </a:r>
          </a:p>
        </p:txBody>
      </p:sp>
    </p:spTree>
    <p:extLst>
      <p:ext uri="{BB962C8B-B14F-4D97-AF65-F5344CB8AC3E}">
        <p14:creationId xmlns:p14="http://schemas.microsoft.com/office/powerpoint/2010/main" val="4480770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776D29F-0A2C-4F75-8582-7C7DFCBD1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95DB4D6-57B8-6B74-8560-07F55E7D9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4819"/>
            <a:ext cx="4375151" cy="28583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 sz="7200">
                <a:solidFill>
                  <a:schemeClr val="bg1"/>
                </a:solidFill>
              </a:rPr>
              <a:t>参考文献</a:t>
            </a:r>
            <a:endParaRPr kumimoji="1" lang="en-US" altLang="ja-JP" sz="7200">
              <a:solidFill>
                <a:schemeClr val="bg1"/>
              </a:solidFill>
            </a:endParaRPr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50C5492F-C077-83D2-DECB-31FF4F74C6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" b="20987"/>
          <a:stretch>
            <a:fillRect/>
          </a:stretch>
        </p:blipFill>
        <p:spPr>
          <a:xfrm>
            <a:off x="5682343" y="1"/>
            <a:ext cx="6509657" cy="6857999"/>
          </a:xfrm>
          <a:custGeom>
            <a:avLst/>
            <a:gdLst/>
            <a:ahLst/>
            <a:cxnLst/>
            <a:rect l="l" t="t" r="r" b="b"/>
            <a:pathLst>
              <a:path w="6509657" h="6857999">
                <a:moveTo>
                  <a:pt x="752157" y="6118149"/>
                </a:moveTo>
                <a:cubicBezTo>
                  <a:pt x="745608" y="6124102"/>
                  <a:pt x="737987" y="6129341"/>
                  <a:pt x="730938" y="6133722"/>
                </a:cubicBezTo>
                <a:cubicBezTo>
                  <a:pt x="723794" y="6138152"/>
                  <a:pt x="718448" y="6143474"/>
                  <a:pt x="714778" y="6149379"/>
                </a:cubicBezTo>
                <a:lnTo>
                  <a:pt x="709303" y="6166562"/>
                </a:lnTo>
                <a:lnTo>
                  <a:pt x="714778" y="6149380"/>
                </a:lnTo>
                <a:cubicBezTo>
                  <a:pt x="718448" y="6143474"/>
                  <a:pt x="723794" y="6138152"/>
                  <a:pt x="730938" y="6133723"/>
                </a:cubicBezTo>
                <a:cubicBezTo>
                  <a:pt x="737987" y="6129341"/>
                  <a:pt x="745608" y="6124102"/>
                  <a:pt x="752157" y="6118149"/>
                </a:cubicBezTo>
                <a:close/>
                <a:moveTo>
                  <a:pt x="844000" y="4941372"/>
                </a:moveTo>
                <a:lnTo>
                  <a:pt x="840670" y="4950868"/>
                </a:lnTo>
                <a:lnTo>
                  <a:pt x="830985" y="4991382"/>
                </a:lnTo>
                <a:lnTo>
                  <a:pt x="840670" y="4950869"/>
                </a:lnTo>
                <a:close/>
                <a:moveTo>
                  <a:pt x="840061" y="4749807"/>
                </a:moveTo>
                <a:cubicBezTo>
                  <a:pt x="852197" y="4762827"/>
                  <a:pt x="853054" y="4781365"/>
                  <a:pt x="854768" y="4799797"/>
                </a:cubicBezTo>
                <a:cubicBezTo>
                  <a:pt x="853054" y="4781365"/>
                  <a:pt x="852197" y="4762826"/>
                  <a:pt x="840061" y="4749807"/>
                </a:cubicBezTo>
                <a:close/>
                <a:moveTo>
                  <a:pt x="822263" y="4543185"/>
                </a:moveTo>
                <a:lnTo>
                  <a:pt x="816857" y="4557091"/>
                </a:lnTo>
                <a:cubicBezTo>
                  <a:pt x="805236" y="4573618"/>
                  <a:pt x="796449" y="4588275"/>
                  <a:pt x="790493" y="4602021"/>
                </a:cubicBezTo>
                <a:cubicBezTo>
                  <a:pt x="796449" y="4588275"/>
                  <a:pt x="805236" y="4573618"/>
                  <a:pt x="816857" y="4557092"/>
                </a:cubicBezTo>
                <a:cubicBezTo>
                  <a:pt x="819238" y="4553662"/>
                  <a:pt x="821286" y="4548281"/>
                  <a:pt x="822263" y="4543185"/>
                </a:cubicBezTo>
                <a:close/>
                <a:moveTo>
                  <a:pt x="356045" y="2819253"/>
                </a:moveTo>
                <a:lnTo>
                  <a:pt x="344401" y="2827483"/>
                </a:lnTo>
                <a:lnTo>
                  <a:pt x="344399" y="2827486"/>
                </a:lnTo>
                <a:lnTo>
                  <a:pt x="325550" y="2842392"/>
                </a:lnTo>
                <a:lnTo>
                  <a:pt x="315896" y="2861156"/>
                </a:lnTo>
                <a:lnTo>
                  <a:pt x="344399" y="2827486"/>
                </a:lnTo>
                <a:lnTo>
                  <a:pt x="344401" y="2827484"/>
                </a:lnTo>
                <a:close/>
                <a:moveTo>
                  <a:pt x="425699" y="1974015"/>
                </a:moveTo>
                <a:cubicBezTo>
                  <a:pt x="427224" y="1991685"/>
                  <a:pt x="433462" y="2008497"/>
                  <a:pt x="449941" y="2023547"/>
                </a:cubicBezTo>
                <a:cubicBezTo>
                  <a:pt x="441702" y="2016020"/>
                  <a:pt x="436022" y="2008056"/>
                  <a:pt x="432213" y="1999763"/>
                </a:cubicBezTo>
                <a:close/>
                <a:moveTo>
                  <a:pt x="442893" y="1768838"/>
                </a:moveTo>
                <a:cubicBezTo>
                  <a:pt x="451656" y="1779981"/>
                  <a:pt x="453942" y="1790986"/>
                  <a:pt x="452275" y="1801558"/>
                </a:cubicBezTo>
                <a:lnTo>
                  <a:pt x="451495" y="1785412"/>
                </a:lnTo>
                <a:cubicBezTo>
                  <a:pt x="450037" y="1779948"/>
                  <a:pt x="447274" y="1774411"/>
                  <a:pt x="442893" y="1768838"/>
                </a:cubicBezTo>
                <a:close/>
                <a:moveTo>
                  <a:pt x="333304" y="520953"/>
                </a:moveTo>
                <a:cubicBezTo>
                  <a:pt x="333743" y="528850"/>
                  <a:pt x="335480" y="536547"/>
                  <a:pt x="337867" y="544146"/>
                </a:cubicBezTo>
                <a:lnTo>
                  <a:pt x="340032" y="549926"/>
                </a:lnTo>
                <a:lnTo>
                  <a:pt x="340448" y="551717"/>
                </a:lnTo>
                <a:lnTo>
                  <a:pt x="346286" y="566616"/>
                </a:lnTo>
                <a:lnTo>
                  <a:pt x="346338" y="566754"/>
                </a:lnTo>
                <a:lnTo>
                  <a:pt x="352655" y="583595"/>
                </a:lnTo>
                <a:lnTo>
                  <a:pt x="359452" y="612658"/>
                </a:lnTo>
                <a:cubicBezTo>
                  <a:pt x="358987" y="604728"/>
                  <a:pt x="357230" y="597005"/>
                  <a:pt x="354829" y="589388"/>
                </a:cubicBezTo>
                <a:lnTo>
                  <a:pt x="352655" y="583595"/>
                </a:lnTo>
                <a:lnTo>
                  <a:pt x="352236" y="581804"/>
                </a:lnTo>
                <a:lnTo>
                  <a:pt x="346286" y="566616"/>
                </a:lnTo>
                <a:lnTo>
                  <a:pt x="340032" y="549926"/>
                </a:lnTo>
                <a:close/>
                <a:moveTo>
                  <a:pt x="384407" y="268794"/>
                </a:moveTo>
                <a:lnTo>
                  <a:pt x="387838" y="328017"/>
                </a:lnTo>
                <a:cubicBezTo>
                  <a:pt x="389527" y="318646"/>
                  <a:pt x="389932" y="309031"/>
                  <a:pt x="389283" y="299164"/>
                </a:cubicBezTo>
                <a:cubicBezTo>
                  <a:pt x="388635" y="289296"/>
                  <a:pt x="386932" y="279176"/>
                  <a:pt x="384407" y="268794"/>
                </a:cubicBezTo>
                <a:close/>
                <a:moveTo>
                  <a:pt x="66991" y="0"/>
                </a:moveTo>
                <a:lnTo>
                  <a:pt x="6509657" y="0"/>
                </a:lnTo>
                <a:lnTo>
                  <a:pt x="6509657" y="6857999"/>
                </a:lnTo>
                <a:lnTo>
                  <a:pt x="149318" y="6857999"/>
                </a:lnTo>
                <a:lnTo>
                  <a:pt x="149318" y="6857457"/>
                </a:lnTo>
                <a:lnTo>
                  <a:pt x="22079" y="6857457"/>
                </a:lnTo>
                <a:lnTo>
                  <a:pt x="26850" y="6796804"/>
                </a:lnTo>
                <a:cubicBezTo>
                  <a:pt x="32161" y="6777207"/>
                  <a:pt x="39591" y="6758011"/>
                  <a:pt x="44354" y="6738388"/>
                </a:cubicBezTo>
                <a:cubicBezTo>
                  <a:pt x="48736" y="6720103"/>
                  <a:pt x="58832" y="6702955"/>
                  <a:pt x="67214" y="6685617"/>
                </a:cubicBezTo>
                <a:cubicBezTo>
                  <a:pt x="83217" y="6652472"/>
                  <a:pt x="73120" y="6617036"/>
                  <a:pt x="77310" y="6583128"/>
                </a:cubicBezTo>
                <a:cubicBezTo>
                  <a:pt x="78645" y="6572269"/>
                  <a:pt x="80168" y="6561411"/>
                  <a:pt x="82837" y="6550742"/>
                </a:cubicBezTo>
                <a:cubicBezTo>
                  <a:pt x="89885" y="6521593"/>
                  <a:pt x="95981" y="6491874"/>
                  <a:pt x="105697" y="6463490"/>
                </a:cubicBezTo>
                <a:cubicBezTo>
                  <a:pt x="116556" y="6431292"/>
                  <a:pt x="131034" y="6400429"/>
                  <a:pt x="146086" y="6363664"/>
                </a:cubicBezTo>
                <a:cubicBezTo>
                  <a:pt x="142275" y="6350899"/>
                  <a:pt x="131986" y="6331277"/>
                  <a:pt x="131034" y="6311084"/>
                </a:cubicBezTo>
                <a:cubicBezTo>
                  <a:pt x="127795" y="6246121"/>
                  <a:pt x="145513" y="6185351"/>
                  <a:pt x="173518" y="6127247"/>
                </a:cubicBezTo>
                <a:cubicBezTo>
                  <a:pt x="181899" y="6109530"/>
                  <a:pt x="187424" y="6090477"/>
                  <a:pt x="195616" y="6072569"/>
                </a:cubicBezTo>
                <a:cubicBezTo>
                  <a:pt x="198472" y="6066284"/>
                  <a:pt x="204569" y="6058092"/>
                  <a:pt x="210285" y="6056948"/>
                </a:cubicBezTo>
                <a:cubicBezTo>
                  <a:pt x="243432" y="6050282"/>
                  <a:pt x="242863" y="6025515"/>
                  <a:pt x="244766" y="5999796"/>
                </a:cubicBezTo>
                <a:cubicBezTo>
                  <a:pt x="247051" y="5969124"/>
                  <a:pt x="252386" y="5938836"/>
                  <a:pt x="256958" y="5908355"/>
                </a:cubicBezTo>
                <a:cubicBezTo>
                  <a:pt x="257530" y="5904353"/>
                  <a:pt x="261531" y="5900735"/>
                  <a:pt x="264200" y="5897114"/>
                </a:cubicBezTo>
                <a:cubicBezTo>
                  <a:pt x="268199" y="5891590"/>
                  <a:pt x="274295" y="5886447"/>
                  <a:pt x="275818" y="5880348"/>
                </a:cubicBezTo>
                <a:cubicBezTo>
                  <a:pt x="283249" y="5849107"/>
                  <a:pt x="289535" y="5817674"/>
                  <a:pt x="296393" y="5786239"/>
                </a:cubicBezTo>
                <a:cubicBezTo>
                  <a:pt x="297918" y="5779191"/>
                  <a:pt x="299823" y="5771953"/>
                  <a:pt x="302870" y="5765474"/>
                </a:cubicBezTo>
                <a:cubicBezTo>
                  <a:pt x="305728" y="5759378"/>
                  <a:pt x="310683" y="5754234"/>
                  <a:pt x="313730" y="5748136"/>
                </a:cubicBezTo>
                <a:cubicBezTo>
                  <a:pt x="321920" y="5731564"/>
                  <a:pt x="329541" y="5714607"/>
                  <a:pt x="338685" y="5695178"/>
                </a:cubicBezTo>
                <a:cubicBezTo>
                  <a:pt x="321541" y="5684320"/>
                  <a:pt x="331257" y="5669647"/>
                  <a:pt x="339447" y="5651360"/>
                </a:cubicBezTo>
                <a:cubicBezTo>
                  <a:pt x="347830" y="5632691"/>
                  <a:pt x="350497" y="5611164"/>
                  <a:pt x="353545" y="5590590"/>
                </a:cubicBezTo>
                <a:cubicBezTo>
                  <a:pt x="359070" y="5552869"/>
                  <a:pt x="362499" y="5514957"/>
                  <a:pt x="367451" y="5477239"/>
                </a:cubicBezTo>
                <a:cubicBezTo>
                  <a:pt x="368595" y="5469236"/>
                  <a:pt x="370690" y="5460092"/>
                  <a:pt x="375454" y="5453995"/>
                </a:cubicBezTo>
                <a:cubicBezTo>
                  <a:pt x="407459" y="5412276"/>
                  <a:pt x="416411" y="5361598"/>
                  <a:pt x="413366" y="5313403"/>
                </a:cubicBezTo>
                <a:cubicBezTo>
                  <a:pt x="411078" y="5275491"/>
                  <a:pt x="409363" y="5238343"/>
                  <a:pt x="412601" y="5200813"/>
                </a:cubicBezTo>
                <a:cubicBezTo>
                  <a:pt x="412793" y="5197955"/>
                  <a:pt x="412411" y="5194145"/>
                  <a:pt x="410887" y="5192051"/>
                </a:cubicBezTo>
                <a:cubicBezTo>
                  <a:pt x="400791" y="5179097"/>
                  <a:pt x="400029" y="5165570"/>
                  <a:pt x="398315" y="5148995"/>
                </a:cubicBezTo>
                <a:cubicBezTo>
                  <a:pt x="395837" y="5125562"/>
                  <a:pt x="397553" y="5104036"/>
                  <a:pt x="401743" y="5082317"/>
                </a:cubicBezTo>
                <a:cubicBezTo>
                  <a:pt x="404791" y="5066505"/>
                  <a:pt x="411078" y="5050504"/>
                  <a:pt x="419080" y="5036405"/>
                </a:cubicBezTo>
                <a:cubicBezTo>
                  <a:pt x="430320" y="5016785"/>
                  <a:pt x="434701" y="4997922"/>
                  <a:pt x="419841" y="4979253"/>
                </a:cubicBezTo>
                <a:cubicBezTo>
                  <a:pt x="404029" y="4959061"/>
                  <a:pt x="409553" y="4936201"/>
                  <a:pt x="408983" y="4913909"/>
                </a:cubicBezTo>
                <a:cubicBezTo>
                  <a:pt x="408791" y="4904195"/>
                  <a:pt x="409175" y="4893907"/>
                  <a:pt x="406697" y="4884572"/>
                </a:cubicBezTo>
                <a:cubicBezTo>
                  <a:pt x="399647" y="4857522"/>
                  <a:pt x="388978" y="4831420"/>
                  <a:pt x="384216" y="4803988"/>
                </a:cubicBezTo>
                <a:cubicBezTo>
                  <a:pt x="381551" y="4788747"/>
                  <a:pt x="386312" y="4771793"/>
                  <a:pt x="389741" y="4755980"/>
                </a:cubicBezTo>
                <a:cubicBezTo>
                  <a:pt x="393362" y="4739978"/>
                  <a:pt x="398885" y="4724167"/>
                  <a:pt x="404601" y="4708734"/>
                </a:cubicBezTo>
                <a:cubicBezTo>
                  <a:pt x="408411" y="4698258"/>
                  <a:pt x="412031" y="4686828"/>
                  <a:pt x="418889" y="4678445"/>
                </a:cubicBezTo>
                <a:cubicBezTo>
                  <a:pt x="434510" y="4659393"/>
                  <a:pt x="437178" y="4639772"/>
                  <a:pt x="428986" y="4617291"/>
                </a:cubicBezTo>
                <a:cubicBezTo>
                  <a:pt x="427651" y="4613864"/>
                  <a:pt x="427651" y="4609863"/>
                  <a:pt x="427462" y="4606053"/>
                </a:cubicBezTo>
                <a:cubicBezTo>
                  <a:pt x="423462" y="4545086"/>
                  <a:pt x="420984" y="4484127"/>
                  <a:pt x="414888" y="4423545"/>
                </a:cubicBezTo>
                <a:cubicBezTo>
                  <a:pt x="412411" y="4398972"/>
                  <a:pt x="401553" y="4375349"/>
                  <a:pt x="394695" y="4351154"/>
                </a:cubicBezTo>
                <a:cubicBezTo>
                  <a:pt x="393362" y="4346201"/>
                  <a:pt x="391265" y="4340674"/>
                  <a:pt x="392218" y="4335722"/>
                </a:cubicBezTo>
                <a:cubicBezTo>
                  <a:pt x="401743" y="4281810"/>
                  <a:pt x="387838" y="4231324"/>
                  <a:pt x="369547" y="4181603"/>
                </a:cubicBezTo>
                <a:cubicBezTo>
                  <a:pt x="367643" y="4176461"/>
                  <a:pt x="368214" y="4170174"/>
                  <a:pt x="368595" y="4164458"/>
                </a:cubicBezTo>
                <a:cubicBezTo>
                  <a:pt x="369928" y="4148453"/>
                  <a:pt x="376597" y="4131119"/>
                  <a:pt x="372597" y="4116641"/>
                </a:cubicBezTo>
                <a:cubicBezTo>
                  <a:pt x="361546" y="4078159"/>
                  <a:pt x="348211" y="4040058"/>
                  <a:pt x="331447" y="4003861"/>
                </a:cubicBezTo>
                <a:cubicBezTo>
                  <a:pt x="314494" y="3967091"/>
                  <a:pt x="300203" y="3932993"/>
                  <a:pt x="317349" y="3890891"/>
                </a:cubicBezTo>
                <a:cubicBezTo>
                  <a:pt x="324589" y="3872985"/>
                  <a:pt x="319445" y="3849362"/>
                  <a:pt x="317541" y="3828785"/>
                </a:cubicBezTo>
                <a:cubicBezTo>
                  <a:pt x="316016" y="3813737"/>
                  <a:pt x="307443" y="3799258"/>
                  <a:pt x="307443" y="3784397"/>
                </a:cubicBezTo>
                <a:cubicBezTo>
                  <a:pt x="307443" y="3744770"/>
                  <a:pt x="297345" y="3709529"/>
                  <a:pt x="276771" y="3675238"/>
                </a:cubicBezTo>
                <a:cubicBezTo>
                  <a:pt x="268770" y="3661899"/>
                  <a:pt x="274106" y="3641134"/>
                  <a:pt x="272009" y="3623799"/>
                </a:cubicBezTo>
                <a:cubicBezTo>
                  <a:pt x="269533" y="3605509"/>
                  <a:pt x="267247" y="3586653"/>
                  <a:pt x="261720" y="3569124"/>
                </a:cubicBezTo>
                <a:cubicBezTo>
                  <a:pt x="247243" y="3523785"/>
                  <a:pt x="230859" y="3479015"/>
                  <a:pt x="215618" y="3433866"/>
                </a:cubicBezTo>
                <a:cubicBezTo>
                  <a:pt x="203045" y="3396719"/>
                  <a:pt x="212951" y="3360139"/>
                  <a:pt x="218286" y="3323372"/>
                </a:cubicBezTo>
                <a:cubicBezTo>
                  <a:pt x="221715" y="3300319"/>
                  <a:pt x="229907" y="3278795"/>
                  <a:pt x="217715" y="3252885"/>
                </a:cubicBezTo>
                <a:cubicBezTo>
                  <a:pt x="206093" y="3228119"/>
                  <a:pt x="208761" y="3196686"/>
                  <a:pt x="202475" y="3168870"/>
                </a:cubicBezTo>
                <a:cubicBezTo>
                  <a:pt x="197141" y="3145436"/>
                  <a:pt x="188566" y="3122770"/>
                  <a:pt x="180184" y="3100099"/>
                </a:cubicBezTo>
                <a:cubicBezTo>
                  <a:pt x="168753" y="3069235"/>
                  <a:pt x="156753" y="3038756"/>
                  <a:pt x="162468" y="3005035"/>
                </a:cubicBezTo>
                <a:cubicBezTo>
                  <a:pt x="168945" y="2966742"/>
                  <a:pt x="144560" y="2940455"/>
                  <a:pt x="128366" y="2910353"/>
                </a:cubicBezTo>
                <a:cubicBezTo>
                  <a:pt x="117318" y="2889587"/>
                  <a:pt x="109126" y="2866918"/>
                  <a:pt x="102268" y="2844248"/>
                </a:cubicBezTo>
                <a:cubicBezTo>
                  <a:pt x="93313" y="2813958"/>
                  <a:pt x="87978" y="2782716"/>
                  <a:pt x="79216" y="2752235"/>
                </a:cubicBezTo>
                <a:cubicBezTo>
                  <a:pt x="66072" y="2706131"/>
                  <a:pt x="55785" y="2659455"/>
                  <a:pt x="63024" y="2611450"/>
                </a:cubicBezTo>
                <a:cubicBezTo>
                  <a:pt x="66262" y="2589352"/>
                  <a:pt x="66072" y="2568774"/>
                  <a:pt x="61307" y="2546678"/>
                </a:cubicBezTo>
                <a:cubicBezTo>
                  <a:pt x="53497" y="2510483"/>
                  <a:pt x="52545" y="2473333"/>
                  <a:pt x="23399" y="2444184"/>
                </a:cubicBezTo>
                <a:cubicBezTo>
                  <a:pt x="13111" y="2433897"/>
                  <a:pt x="10446" y="2415420"/>
                  <a:pt x="5110" y="2400369"/>
                </a:cubicBezTo>
                <a:cubicBezTo>
                  <a:pt x="-1178" y="2383032"/>
                  <a:pt x="2062" y="2370270"/>
                  <a:pt x="20351" y="2360933"/>
                </a:cubicBezTo>
                <a:cubicBezTo>
                  <a:pt x="28541" y="2356744"/>
                  <a:pt x="36543" y="2344741"/>
                  <a:pt x="37877" y="2335405"/>
                </a:cubicBezTo>
                <a:cubicBezTo>
                  <a:pt x="41877" y="2307402"/>
                  <a:pt x="35971" y="2281683"/>
                  <a:pt x="23017" y="2254633"/>
                </a:cubicBezTo>
                <a:cubicBezTo>
                  <a:pt x="10824" y="2229296"/>
                  <a:pt x="12158" y="2197670"/>
                  <a:pt x="7395" y="2168903"/>
                </a:cubicBezTo>
                <a:cubicBezTo>
                  <a:pt x="5680" y="2158712"/>
                  <a:pt x="3062" y="2148519"/>
                  <a:pt x="871" y="2138304"/>
                </a:cubicBezTo>
                <a:lnTo>
                  <a:pt x="0" y="2131532"/>
                </a:lnTo>
                <a:lnTo>
                  <a:pt x="0" y="2072225"/>
                </a:lnTo>
                <a:lnTo>
                  <a:pt x="251" y="2069340"/>
                </a:lnTo>
                <a:cubicBezTo>
                  <a:pt x="2061" y="2056600"/>
                  <a:pt x="4156" y="2043835"/>
                  <a:pt x="5299" y="2030977"/>
                </a:cubicBezTo>
                <a:cubicBezTo>
                  <a:pt x="7203" y="2010974"/>
                  <a:pt x="6442" y="1990589"/>
                  <a:pt x="8729" y="1970586"/>
                </a:cubicBezTo>
                <a:cubicBezTo>
                  <a:pt x="10446" y="1954202"/>
                  <a:pt x="14824" y="1938009"/>
                  <a:pt x="18445" y="1921817"/>
                </a:cubicBezTo>
                <a:cubicBezTo>
                  <a:pt x="19779" y="1915912"/>
                  <a:pt x="24922" y="1910004"/>
                  <a:pt x="24161" y="1904673"/>
                </a:cubicBezTo>
                <a:cubicBezTo>
                  <a:pt x="15968" y="1851709"/>
                  <a:pt x="52545" y="1813610"/>
                  <a:pt x="68738" y="1768838"/>
                </a:cubicBezTo>
                <a:cubicBezTo>
                  <a:pt x="85886" y="1721785"/>
                  <a:pt x="112174" y="1676253"/>
                  <a:pt x="104363" y="1623675"/>
                </a:cubicBezTo>
                <a:cubicBezTo>
                  <a:pt x="99601" y="1591859"/>
                  <a:pt x="88551" y="1561189"/>
                  <a:pt x="81882" y="1529563"/>
                </a:cubicBezTo>
                <a:cubicBezTo>
                  <a:pt x="79597" y="1518324"/>
                  <a:pt x="79978" y="1505751"/>
                  <a:pt x="82264" y="1494509"/>
                </a:cubicBezTo>
                <a:cubicBezTo>
                  <a:pt x="92743" y="1440216"/>
                  <a:pt x="94266" y="1386684"/>
                  <a:pt x="77120" y="1333341"/>
                </a:cubicBezTo>
                <a:cubicBezTo>
                  <a:pt x="74262" y="1324198"/>
                  <a:pt x="71597" y="1314483"/>
                  <a:pt x="71597" y="1304955"/>
                </a:cubicBezTo>
                <a:cubicBezTo>
                  <a:pt x="71597" y="1252757"/>
                  <a:pt x="75597" y="1201512"/>
                  <a:pt x="94266" y="1151600"/>
                </a:cubicBezTo>
                <a:cubicBezTo>
                  <a:pt x="100553" y="1134834"/>
                  <a:pt x="96553" y="1114449"/>
                  <a:pt x="98077" y="1095972"/>
                </a:cubicBezTo>
                <a:cubicBezTo>
                  <a:pt x="99409" y="1078826"/>
                  <a:pt x="99981" y="1061298"/>
                  <a:pt x="104363" y="1044725"/>
                </a:cubicBezTo>
                <a:cubicBezTo>
                  <a:pt x="110839" y="1020529"/>
                  <a:pt x="111601" y="998052"/>
                  <a:pt x="105887" y="973095"/>
                </a:cubicBezTo>
                <a:cubicBezTo>
                  <a:pt x="100553" y="949281"/>
                  <a:pt x="103219" y="923562"/>
                  <a:pt x="103029" y="898797"/>
                </a:cubicBezTo>
                <a:cubicBezTo>
                  <a:pt x="102839" y="871173"/>
                  <a:pt x="102649" y="843552"/>
                  <a:pt x="103601" y="815929"/>
                </a:cubicBezTo>
                <a:cubicBezTo>
                  <a:pt x="103981" y="804877"/>
                  <a:pt x="111601" y="792306"/>
                  <a:pt x="108553" y="783158"/>
                </a:cubicBezTo>
                <a:cubicBezTo>
                  <a:pt x="98267" y="753633"/>
                  <a:pt x="110649" y="724104"/>
                  <a:pt x="105126" y="694576"/>
                </a:cubicBezTo>
                <a:cubicBezTo>
                  <a:pt x="102268" y="680096"/>
                  <a:pt x="110078" y="663713"/>
                  <a:pt x="110839" y="648092"/>
                </a:cubicBezTo>
                <a:cubicBezTo>
                  <a:pt x="112174" y="622564"/>
                  <a:pt x="111601" y="597037"/>
                  <a:pt x="111983" y="571508"/>
                </a:cubicBezTo>
                <a:cubicBezTo>
                  <a:pt x="112174" y="563125"/>
                  <a:pt x="112936" y="554933"/>
                  <a:pt x="113318" y="546552"/>
                </a:cubicBezTo>
                <a:cubicBezTo>
                  <a:pt x="113697" y="539121"/>
                  <a:pt x="115412" y="531310"/>
                  <a:pt x="114080" y="524262"/>
                </a:cubicBezTo>
                <a:cubicBezTo>
                  <a:pt x="109315" y="498733"/>
                  <a:pt x="101505" y="473587"/>
                  <a:pt x="98457" y="447870"/>
                </a:cubicBezTo>
                <a:cubicBezTo>
                  <a:pt x="95792" y="425581"/>
                  <a:pt x="99409" y="402529"/>
                  <a:pt x="97505" y="380050"/>
                </a:cubicBezTo>
                <a:cubicBezTo>
                  <a:pt x="94266" y="340425"/>
                  <a:pt x="88551" y="300800"/>
                  <a:pt x="84930" y="261173"/>
                </a:cubicBezTo>
                <a:cubicBezTo>
                  <a:pt x="84168" y="252600"/>
                  <a:pt x="88933" y="243648"/>
                  <a:pt x="89313" y="234883"/>
                </a:cubicBezTo>
                <a:cubicBezTo>
                  <a:pt x="90266" y="207450"/>
                  <a:pt x="90457" y="180017"/>
                  <a:pt x="91026" y="152584"/>
                </a:cubicBezTo>
                <a:cubicBezTo>
                  <a:pt x="91218" y="136963"/>
                  <a:pt x="90647" y="121150"/>
                  <a:pt x="92361" y="105718"/>
                </a:cubicBezTo>
                <a:cubicBezTo>
                  <a:pt x="94648" y="85336"/>
                  <a:pt x="98077" y="66857"/>
                  <a:pt x="83217" y="47806"/>
                </a:cubicBezTo>
                <a:cubicBezTo>
                  <a:pt x="77453" y="40471"/>
                  <a:pt x="73691" y="32636"/>
                  <a:pt x="71206" y="24480"/>
                </a:cubicBezTo>
                <a:close/>
              </a:path>
            </a:pathLst>
          </a:custGeom>
          <a:effectLst>
            <a:outerShdw blurRad="381000" dist="152400" dir="10800000" algn="r" rotWithShape="0">
              <a:prstClr val="black">
                <a:alpha val="10000"/>
              </a:prstClr>
            </a:outerShdw>
          </a:effectLst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4D41903-2C9D-4F9E-AA1F-6161F8A6F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40986" y="2991370"/>
            <a:ext cx="6857455" cy="874716"/>
          </a:xfrm>
          <a:custGeom>
            <a:avLst/>
            <a:gdLst>
              <a:gd name="connsiteX0" fmla="*/ 6857455 w 6857455"/>
              <a:gd name="connsiteY0" fmla="*/ 804643 h 874716"/>
              <a:gd name="connsiteX1" fmla="*/ 6857455 w 6857455"/>
              <a:gd name="connsiteY1" fmla="*/ 562246 h 874716"/>
              <a:gd name="connsiteX2" fmla="*/ 6829178 w 6857455"/>
              <a:gd name="connsiteY2" fmla="*/ 551284 h 874716"/>
              <a:gd name="connsiteX3" fmla="*/ 6766024 w 6857455"/>
              <a:gd name="connsiteY3" fmla="*/ 500372 h 874716"/>
              <a:gd name="connsiteX4" fmla="*/ 6734971 w 6857455"/>
              <a:gd name="connsiteY4" fmla="*/ 500944 h 874716"/>
              <a:gd name="connsiteX5" fmla="*/ 6683915 w 6857455"/>
              <a:gd name="connsiteY5" fmla="*/ 507040 h 874716"/>
              <a:gd name="connsiteX6" fmla="*/ 6628860 w 6857455"/>
              <a:gd name="connsiteY6" fmla="*/ 495418 h 874716"/>
              <a:gd name="connsiteX7" fmla="*/ 6588662 w 6857455"/>
              <a:gd name="connsiteY7" fmla="*/ 487227 h 874716"/>
              <a:gd name="connsiteX8" fmla="*/ 6476074 w 6857455"/>
              <a:gd name="connsiteY8" fmla="*/ 511230 h 874716"/>
              <a:gd name="connsiteX9" fmla="*/ 6382345 w 6857455"/>
              <a:gd name="connsiteY9" fmla="*/ 534853 h 874716"/>
              <a:gd name="connsiteX10" fmla="*/ 6369391 w 6857455"/>
              <a:gd name="connsiteY10" fmla="*/ 531615 h 874716"/>
              <a:gd name="connsiteX11" fmla="*/ 6244799 w 6857455"/>
              <a:gd name="connsiteY11" fmla="*/ 512182 h 874716"/>
              <a:gd name="connsiteX12" fmla="*/ 6190315 w 6857455"/>
              <a:gd name="connsiteY12" fmla="*/ 485703 h 874716"/>
              <a:gd name="connsiteX13" fmla="*/ 6115446 w 6857455"/>
              <a:gd name="connsiteY13" fmla="*/ 462270 h 874716"/>
              <a:gd name="connsiteX14" fmla="*/ 6032194 w 6857455"/>
              <a:gd name="connsiteY14" fmla="*/ 434266 h 874716"/>
              <a:gd name="connsiteX15" fmla="*/ 5971042 w 6857455"/>
              <a:gd name="connsiteY15" fmla="*/ 420738 h 874716"/>
              <a:gd name="connsiteX16" fmla="*/ 5880933 w 6857455"/>
              <a:gd name="connsiteY16" fmla="*/ 430646 h 874716"/>
              <a:gd name="connsiteX17" fmla="*/ 5862452 w 6857455"/>
              <a:gd name="connsiteY17" fmla="*/ 438648 h 874716"/>
              <a:gd name="connsiteX18" fmla="*/ 5685283 w 6857455"/>
              <a:gd name="connsiteY18" fmla="*/ 498658 h 874716"/>
              <a:gd name="connsiteX19" fmla="*/ 5567169 w 6857455"/>
              <a:gd name="connsiteY19" fmla="*/ 499420 h 874716"/>
              <a:gd name="connsiteX20" fmla="*/ 5527923 w 6857455"/>
              <a:gd name="connsiteY20" fmla="*/ 490466 h 874716"/>
              <a:gd name="connsiteX21" fmla="*/ 5456292 w 6857455"/>
              <a:gd name="connsiteY21" fmla="*/ 450650 h 874716"/>
              <a:gd name="connsiteX22" fmla="*/ 5424670 w 6857455"/>
              <a:gd name="connsiteY22" fmla="*/ 444934 h 874716"/>
              <a:gd name="connsiteX23" fmla="*/ 5368662 w 6857455"/>
              <a:gd name="connsiteY23" fmla="*/ 441124 h 874716"/>
              <a:gd name="connsiteX24" fmla="*/ 5247118 w 6857455"/>
              <a:gd name="connsiteY24" fmla="*/ 444934 h 874716"/>
              <a:gd name="connsiteX25" fmla="*/ 5088617 w 6857455"/>
              <a:gd name="connsiteY25" fmla="*/ 428742 h 874716"/>
              <a:gd name="connsiteX26" fmla="*/ 5025750 w 6857455"/>
              <a:gd name="connsiteY26" fmla="*/ 433694 h 874716"/>
              <a:gd name="connsiteX27" fmla="*/ 4957930 w 6857455"/>
              <a:gd name="connsiteY27" fmla="*/ 442268 h 874716"/>
              <a:gd name="connsiteX28" fmla="*/ 4938116 w 6857455"/>
              <a:gd name="connsiteY28" fmla="*/ 441886 h 874716"/>
              <a:gd name="connsiteX29" fmla="*/ 4833910 w 6857455"/>
              <a:gd name="connsiteY29" fmla="*/ 421693 h 874716"/>
              <a:gd name="connsiteX30" fmla="*/ 4810095 w 6857455"/>
              <a:gd name="connsiteY30" fmla="*/ 408167 h 874716"/>
              <a:gd name="connsiteX31" fmla="*/ 4747991 w 6857455"/>
              <a:gd name="connsiteY31" fmla="*/ 413691 h 874716"/>
              <a:gd name="connsiteX32" fmla="*/ 4692745 w 6857455"/>
              <a:gd name="connsiteY32" fmla="*/ 435790 h 874716"/>
              <a:gd name="connsiteX33" fmla="*/ 4375933 w 6857455"/>
              <a:gd name="connsiteY33" fmla="*/ 483417 h 874716"/>
              <a:gd name="connsiteX34" fmla="*/ 4185426 w 6857455"/>
              <a:gd name="connsiteY34" fmla="*/ 484179 h 874716"/>
              <a:gd name="connsiteX35" fmla="*/ 4052072 w 6857455"/>
              <a:gd name="connsiteY35" fmla="*/ 505134 h 874716"/>
              <a:gd name="connsiteX36" fmla="*/ 4029973 w 6857455"/>
              <a:gd name="connsiteY36" fmla="*/ 527233 h 874716"/>
              <a:gd name="connsiteX37" fmla="*/ 3948626 w 6857455"/>
              <a:gd name="connsiteY37" fmla="*/ 550666 h 874716"/>
              <a:gd name="connsiteX38" fmla="*/ 3871280 w 6857455"/>
              <a:gd name="connsiteY38" fmla="*/ 502275 h 874716"/>
              <a:gd name="connsiteX39" fmla="*/ 3774312 w 6857455"/>
              <a:gd name="connsiteY39" fmla="*/ 429122 h 874716"/>
              <a:gd name="connsiteX40" fmla="*/ 3721543 w 6857455"/>
              <a:gd name="connsiteY40" fmla="*/ 428552 h 874716"/>
              <a:gd name="connsiteX41" fmla="*/ 3612763 w 6857455"/>
              <a:gd name="connsiteY41" fmla="*/ 414263 h 874716"/>
              <a:gd name="connsiteX42" fmla="*/ 3537323 w 6857455"/>
              <a:gd name="connsiteY42" fmla="*/ 389878 h 874716"/>
              <a:gd name="connsiteX43" fmla="*/ 3431593 w 6857455"/>
              <a:gd name="connsiteY43" fmla="*/ 360921 h 874716"/>
              <a:gd name="connsiteX44" fmla="*/ 3392158 w 6857455"/>
              <a:gd name="connsiteY44" fmla="*/ 345681 h 874716"/>
              <a:gd name="connsiteX45" fmla="*/ 3297856 w 6857455"/>
              <a:gd name="connsiteY45" fmla="*/ 323010 h 874716"/>
              <a:gd name="connsiteX46" fmla="*/ 3219748 w 6857455"/>
              <a:gd name="connsiteY46" fmla="*/ 308151 h 874716"/>
              <a:gd name="connsiteX47" fmla="*/ 3156692 w 6857455"/>
              <a:gd name="connsiteY47" fmla="*/ 261668 h 874716"/>
              <a:gd name="connsiteX48" fmla="*/ 3136497 w 6857455"/>
              <a:gd name="connsiteY48" fmla="*/ 237663 h 874716"/>
              <a:gd name="connsiteX49" fmla="*/ 3119733 w 6857455"/>
              <a:gd name="connsiteY49" fmla="*/ 222233 h 874716"/>
              <a:gd name="connsiteX50" fmla="*/ 3045436 w 6857455"/>
              <a:gd name="connsiteY50" fmla="*/ 131742 h 874716"/>
              <a:gd name="connsiteX51" fmla="*/ 3037054 w 6857455"/>
              <a:gd name="connsiteY51" fmla="*/ 124121 h 874716"/>
              <a:gd name="connsiteX52" fmla="*/ 2936466 w 6857455"/>
              <a:gd name="connsiteY52" fmla="*/ 82400 h 874716"/>
              <a:gd name="connsiteX53" fmla="*/ 2901031 w 6857455"/>
              <a:gd name="connsiteY53" fmla="*/ 59731 h 874716"/>
              <a:gd name="connsiteX54" fmla="*/ 2828259 w 6857455"/>
              <a:gd name="connsiteY54" fmla="*/ 3149 h 874716"/>
              <a:gd name="connsiteX55" fmla="*/ 2799492 w 6857455"/>
              <a:gd name="connsiteY55" fmla="*/ 1245 h 874716"/>
              <a:gd name="connsiteX56" fmla="*/ 2693570 w 6857455"/>
              <a:gd name="connsiteY56" fmla="*/ 35154 h 874716"/>
              <a:gd name="connsiteX57" fmla="*/ 2639847 w 6857455"/>
              <a:gd name="connsiteY57" fmla="*/ 73448 h 874716"/>
              <a:gd name="connsiteX58" fmla="*/ 2621178 w 6857455"/>
              <a:gd name="connsiteY58" fmla="*/ 88688 h 874716"/>
              <a:gd name="connsiteX59" fmla="*/ 2489348 w 6857455"/>
              <a:gd name="connsiteY59" fmla="*/ 72304 h 874716"/>
              <a:gd name="connsiteX60" fmla="*/ 2452580 w 6857455"/>
              <a:gd name="connsiteY60" fmla="*/ 68683 h 874716"/>
              <a:gd name="connsiteX61" fmla="*/ 2326464 w 6857455"/>
              <a:gd name="connsiteY61" fmla="*/ 50395 h 874716"/>
              <a:gd name="connsiteX62" fmla="*/ 2300365 w 6857455"/>
              <a:gd name="connsiteY62" fmla="*/ 54777 h 874716"/>
              <a:gd name="connsiteX63" fmla="*/ 2130434 w 6857455"/>
              <a:gd name="connsiteY63" fmla="*/ 58397 h 874716"/>
              <a:gd name="connsiteX64" fmla="*/ 2118621 w 6857455"/>
              <a:gd name="connsiteY64" fmla="*/ 47919 h 874716"/>
              <a:gd name="connsiteX65" fmla="*/ 2057659 w 6857455"/>
              <a:gd name="connsiteY65" fmla="*/ 16866 h 874716"/>
              <a:gd name="connsiteX66" fmla="*/ 1976314 w 6857455"/>
              <a:gd name="connsiteY66" fmla="*/ 8865 h 874716"/>
              <a:gd name="connsiteX67" fmla="*/ 1961454 w 6857455"/>
              <a:gd name="connsiteY67" fmla="*/ 11724 h 874716"/>
              <a:gd name="connsiteX68" fmla="*/ 1906588 w 6857455"/>
              <a:gd name="connsiteY68" fmla="*/ 30964 h 874716"/>
              <a:gd name="connsiteX69" fmla="*/ 1783330 w 6857455"/>
              <a:gd name="connsiteY69" fmla="*/ 48871 h 874716"/>
              <a:gd name="connsiteX70" fmla="*/ 1759327 w 6857455"/>
              <a:gd name="connsiteY70" fmla="*/ 55349 h 874716"/>
              <a:gd name="connsiteX71" fmla="*/ 1716082 w 6857455"/>
              <a:gd name="connsiteY71" fmla="*/ 65445 h 874716"/>
              <a:gd name="connsiteX72" fmla="*/ 1598920 w 6857455"/>
              <a:gd name="connsiteY72" fmla="*/ 72114 h 874716"/>
              <a:gd name="connsiteX73" fmla="*/ 1542150 w 6857455"/>
              <a:gd name="connsiteY73" fmla="*/ 62207 h 874716"/>
              <a:gd name="connsiteX74" fmla="*/ 1516813 w 6857455"/>
              <a:gd name="connsiteY74" fmla="*/ 62779 h 874716"/>
              <a:gd name="connsiteX75" fmla="*/ 1432228 w 6857455"/>
              <a:gd name="connsiteY75" fmla="*/ 88116 h 874716"/>
              <a:gd name="connsiteX76" fmla="*/ 1224765 w 6857455"/>
              <a:gd name="connsiteY76" fmla="*/ 71924 h 874716"/>
              <a:gd name="connsiteX77" fmla="*/ 1159231 w 6857455"/>
              <a:gd name="connsiteY77" fmla="*/ 58207 h 874716"/>
              <a:gd name="connsiteX78" fmla="*/ 1124370 w 6857455"/>
              <a:gd name="connsiteY78" fmla="*/ 56301 h 874716"/>
              <a:gd name="connsiteX79" fmla="*/ 1075600 w 6857455"/>
              <a:gd name="connsiteY79" fmla="*/ 75542 h 874716"/>
              <a:gd name="connsiteX80" fmla="*/ 986633 w 6857455"/>
              <a:gd name="connsiteY80" fmla="*/ 79162 h 874716"/>
              <a:gd name="connsiteX81" fmla="*/ 861089 w 6857455"/>
              <a:gd name="connsiteY81" fmla="*/ 76304 h 874716"/>
              <a:gd name="connsiteX82" fmla="*/ 759168 w 6857455"/>
              <a:gd name="connsiteY82" fmla="*/ 104689 h 874716"/>
              <a:gd name="connsiteX83" fmla="*/ 723735 w 6857455"/>
              <a:gd name="connsiteY83" fmla="*/ 140696 h 874716"/>
              <a:gd name="connsiteX84" fmla="*/ 647532 w 6857455"/>
              <a:gd name="connsiteY84" fmla="*/ 147934 h 874716"/>
              <a:gd name="connsiteX85" fmla="*/ 552659 w 6857455"/>
              <a:gd name="connsiteY85" fmla="*/ 95926 h 874716"/>
              <a:gd name="connsiteX86" fmla="*/ 541800 w 6857455"/>
              <a:gd name="connsiteY86" fmla="*/ 97640 h 874716"/>
              <a:gd name="connsiteX87" fmla="*/ 375107 w 6857455"/>
              <a:gd name="connsiteY87" fmla="*/ 123169 h 874716"/>
              <a:gd name="connsiteX88" fmla="*/ 273567 w 6857455"/>
              <a:gd name="connsiteY88" fmla="*/ 145458 h 874716"/>
              <a:gd name="connsiteX89" fmla="*/ 264043 w 6857455"/>
              <a:gd name="connsiteY89" fmla="*/ 154792 h 874716"/>
              <a:gd name="connsiteX90" fmla="*/ 169360 w 6857455"/>
              <a:gd name="connsiteY90" fmla="*/ 177273 h 874716"/>
              <a:gd name="connsiteX91" fmla="*/ 89347 w 6857455"/>
              <a:gd name="connsiteY91" fmla="*/ 157460 h 874716"/>
              <a:gd name="connsiteX92" fmla="*/ 34291 w 6857455"/>
              <a:gd name="connsiteY92" fmla="*/ 145268 h 874716"/>
              <a:gd name="connsiteX93" fmla="*/ 0 w 6857455"/>
              <a:gd name="connsiteY93" fmla="*/ 142056 h 874716"/>
              <a:gd name="connsiteX94" fmla="*/ 0 w 6857455"/>
              <a:gd name="connsiteY94" fmla="*/ 849556 h 874716"/>
              <a:gd name="connsiteX95" fmla="*/ 60652 w 6857455"/>
              <a:gd name="connsiteY95" fmla="*/ 844783 h 874716"/>
              <a:gd name="connsiteX96" fmla="*/ 119068 w 6857455"/>
              <a:gd name="connsiteY96" fmla="*/ 827281 h 874716"/>
              <a:gd name="connsiteX97" fmla="*/ 171840 w 6857455"/>
              <a:gd name="connsiteY97" fmla="*/ 804420 h 874716"/>
              <a:gd name="connsiteX98" fmla="*/ 274329 w 6857455"/>
              <a:gd name="connsiteY98" fmla="*/ 794324 h 874716"/>
              <a:gd name="connsiteX99" fmla="*/ 306715 w 6857455"/>
              <a:gd name="connsiteY99" fmla="*/ 788798 h 874716"/>
              <a:gd name="connsiteX100" fmla="*/ 393967 w 6857455"/>
              <a:gd name="connsiteY100" fmla="*/ 765937 h 874716"/>
              <a:gd name="connsiteX101" fmla="*/ 493793 w 6857455"/>
              <a:gd name="connsiteY101" fmla="*/ 725549 h 874716"/>
              <a:gd name="connsiteX102" fmla="*/ 546373 w 6857455"/>
              <a:gd name="connsiteY102" fmla="*/ 740600 h 874716"/>
              <a:gd name="connsiteX103" fmla="*/ 730211 w 6857455"/>
              <a:gd name="connsiteY103" fmla="*/ 698116 h 874716"/>
              <a:gd name="connsiteX104" fmla="*/ 784889 w 6857455"/>
              <a:gd name="connsiteY104" fmla="*/ 676018 h 874716"/>
              <a:gd name="connsiteX105" fmla="*/ 800509 w 6857455"/>
              <a:gd name="connsiteY105" fmla="*/ 661349 h 874716"/>
              <a:gd name="connsiteX106" fmla="*/ 857661 w 6857455"/>
              <a:gd name="connsiteY106" fmla="*/ 626868 h 874716"/>
              <a:gd name="connsiteX107" fmla="*/ 949102 w 6857455"/>
              <a:gd name="connsiteY107" fmla="*/ 614676 h 874716"/>
              <a:gd name="connsiteX108" fmla="*/ 960342 w 6857455"/>
              <a:gd name="connsiteY108" fmla="*/ 607435 h 874716"/>
              <a:gd name="connsiteX109" fmla="*/ 977109 w 6857455"/>
              <a:gd name="connsiteY109" fmla="*/ 595815 h 874716"/>
              <a:gd name="connsiteX110" fmla="*/ 1071218 w 6857455"/>
              <a:gd name="connsiteY110" fmla="*/ 575240 h 874716"/>
              <a:gd name="connsiteX111" fmla="*/ 1091983 w 6857455"/>
              <a:gd name="connsiteY111" fmla="*/ 568764 h 874716"/>
              <a:gd name="connsiteX112" fmla="*/ 1109321 w 6857455"/>
              <a:gd name="connsiteY112" fmla="*/ 557904 h 874716"/>
              <a:gd name="connsiteX113" fmla="*/ 1162279 w 6857455"/>
              <a:gd name="connsiteY113" fmla="*/ 532949 h 874716"/>
              <a:gd name="connsiteX114" fmla="*/ 1206097 w 6857455"/>
              <a:gd name="connsiteY114" fmla="*/ 532187 h 874716"/>
              <a:gd name="connsiteX115" fmla="*/ 1266867 w 6857455"/>
              <a:gd name="connsiteY115" fmla="*/ 518088 h 874716"/>
              <a:gd name="connsiteX116" fmla="*/ 1380219 w 6857455"/>
              <a:gd name="connsiteY116" fmla="*/ 504182 h 874716"/>
              <a:gd name="connsiteX117" fmla="*/ 1403461 w 6857455"/>
              <a:gd name="connsiteY117" fmla="*/ 496180 h 874716"/>
              <a:gd name="connsiteX118" fmla="*/ 1544054 w 6857455"/>
              <a:gd name="connsiteY118" fmla="*/ 458268 h 874716"/>
              <a:gd name="connsiteX119" fmla="*/ 1656644 w 6857455"/>
              <a:gd name="connsiteY119" fmla="*/ 459032 h 874716"/>
              <a:gd name="connsiteX120" fmla="*/ 1665406 w 6857455"/>
              <a:gd name="connsiteY120" fmla="*/ 460747 h 874716"/>
              <a:gd name="connsiteX121" fmla="*/ 1708461 w 6857455"/>
              <a:gd name="connsiteY121" fmla="*/ 473318 h 874716"/>
              <a:gd name="connsiteX122" fmla="*/ 1775140 w 6857455"/>
              <a:gd name="connsiteY122" fmla="*/ 469891 h 874716"/>
              <a:gd name="connsiteX123" fmla="*/ 1821051 w 6857455"/>
              <a:gd name="connsiteY123" fmla="*/ 452554 h 874716"/>
              <a:gd name="connsiteX124" fmla="*/ 1878203 w 6857455"/>
              <a:gd name="connsiteY124" fmla="*/ 451792 h 874716"/>
              <a:gd name="connsiteX125" fmla="*/ 1943547 w 6857455"/>
              <a:gd name="connsiteY125" fmla="*/ 462651 h 874716"/>
              <a:gd name="connsiteX126" fmla="*/ 1972884 w 6857455"/>
              <a:gd name="connsiteY126" fmla="*/ 464937 h 874716"/>
              <a:gd name="connsiteX127" fmla="*/ 2053469 w 6857455"/>
              <a:gd name="connsiteY127" fmla="*/ 487417 h 874716"/>
              <a:gd name="connsiteX128" fmla="*/ 2101477 w 6857455"/>
              <a:gd name="connsiteY128" fmla="*/ 481893 h 874716"/>
              <a:gd name="connsiteX129" fmla="*/ 2148722 w 6857455"/>
              <a:gd name="connsiteY129" fmla="*/ 467033 h 874716"/>
              <a:gd name="connsiteX130" fmla="*/ 2179011 w 6857455"/>
              <a:gd name="connsiteY130" fmla="*/ 452744 h 874716"/>
              <a:gd name="connsiteX131" fmla="*/ 2240165 w 6857455"/>
              <a:gd name="connsiteY131" fmla="*/ 442648 h 874716"/>
              <a:gd name="connsiteX132" fmla="*/ 2251404 w 6857455"/>
              <a:gd name="connsiteY132" fmla="*/ 444172 h 874716"/>
              <a:gd name="connsiteX133" fmla="*/ 2433912 w 6857455"/>
              <a:gd name="connsiteY133" fmla="*/ 456746 h 874716"/>
              <a:gd name="connsiteX134" fmla="*/ 2506302 w 6857455"/>
              <a:gd name="connsiteY134" fmla="*/ 476939 h 874716"/>
              <a:gd name="connsiteX135" fmla="*/ 2521735 w 6857455"/>
              <a:gd name="connsiteY135" fmla="*/ 479415 h 874716"/>
              <a:gd name="connsiteX136" fmla="*/ 2675854 w 6857455"/>
              <a:gd name="connsiteY136" fmla="*/ 502086 h 874716"/>
              <a:gd name="connsiteX137" fmla="*/ 2692998 w 6857455"/>
              <a:gd name="connsiteY137" fmla="*/ 503038 h 874716"/>
              <a:gd name="connsiteX138" fmla="*/ 2740816 w 6857455"/>
              <a:gd name="connsiteY138" fmla="*/ 499037 h 874716"/>
              <a:gd name="connsiteX139" fmla="*/ 2853596 w 6857455"/>
              <a:gd name="connsiteY139" fmla="*/ 540187 h 874716"/>
              <a:gd name="connsiteX140" fmla="*/ 2966565 w 6857455"/>
              <a:gd name="connsiteY140" fmla="*/ 554286 h 874716"/>
              <a:gd name="connsiteX141" fmla="*/ 3028671 w 6857455"/>
              <a:gd name="connsiteY141" fmla="*/ 554094 h 874716"/>
              <a:gd name="connsiteX142" fmla="*/ 3073059 w 6857455"/>
              <a:gd name="connsiteY142" fmla="*/ 564192 h 874716"/>
              <a:gd name="connsiteX143" fmla="*/ 3182219 w 6857455"/>
              <a:gd name="connsiteY143" fmla="*/ 594862 h 874716"/>
              <a:gd name="connsiteX144" fmla="*/ 3233656 w 6857455"/>
              <a:gd name="connsiteY144" fmla="*/ 599625 h 874716"/>
              <a:gd name="connsiteX145" fmla="*/ 3288332 w 6857455"/>
              <a:gd name="connsiteY145" fmla="*/ 609914 h 874716"/>
              <a:gd name="connsiteX146" fmla="*/ 3423591 w 6857455"/>
              <a:gd name="connsiteY146" fmla="*/ 656015 h 874716"/>
              <a:gd name="connsiteX147" fmla="*/ 3534084 w 6857455"/>
              <a:gd name="connsiteY147" fmla="*/ 653349 h 874716"/>
              <a:gd name="connsiteX148" fmla="*/ 3604571 w 6857455"/>
              <a:gd name="connsiteY148" fmla="*/ 653918 h 874716"/>
              <a:gd name="connsiteX149" fmla="*/ 3688586 w 6857455"/>
              <a:gd name="connsiteY149" fmla="*/ 669160 h 874716"/>
              <a:gd name="connsiteX150" fmla="*/ 3757358 w 6857455"/>
              <a:gd name="connsiteY150" fmla="*/ 691450 h 874716"/>
              <a:gd name="connsiteX151" fmla="*/ 3852421 w 6857455"/>
              <a:gd name="connsiteY151" fmla="*/ 709167 h 874716"/>
              <a:gd name="connsiteX152" fmla="*/ 3947104 w 6857455"/>
              <a:gd name="connsiteY152" fmla="*/ 743267 h 874716"/>
              <a:gd name="connsiteX153" fmla="*/ 4013208 w 6857455"/>
              <a:gd name="connsiteY153" fmla="*/ 769367 h 874716"/>
              <a:gd name="connsiteX154" fmla="*/ 4105222 w 6857455"/>
              <a:gd name="connsiteY154" fmla="*/ 792418 h 874716"/>
              <a:gd name="connsiteX155" fmla="*/ 4246006 w 6857455"/>
              <a:gd name="connsiteY155" fmla="*/ 808610 h 874716"/>
              <a:gd name="connsiteX156" fmla="*/ 4310779 w 6857455"/>
              <a:gd name="connsiteY156" fmla="*/ 810326 h 874716"/>
              <a:gd name="connsiteX157" fmla="*/ 4413272 w 6857455"/>
              <a:gd name="connsiteY157" fmla="*/ 848235 h 874716"/>
              <a:gd name="connsiteX158" fmla="*/ 4457087 w 6857455"/>
              <a:gd name="connsiteY158" fmla="*/ 866524 h 874716"/>
              <a:gd name="connsiteX159" fmla="*/ 4496523 w 6857455"/>
              <a:gd name="connsiteY159" fmla="*/ 851284 h 874716"/>
              <a:gd name="connsiteX160" fmla="*/ 4522050 w 6857455"/>
              <a:gd name="connsiteY160" fmla="*/ 833757 h 874716"/>
              <a:gd name="connsiteX161" fmla="*/ 4602824 w 6857455"/>
              <a:gd name="connsiteY161" fmla="*/ 848618 h 874716"/>
              <a:gd name="connsiteX162" fmla="*/ 4688553 w 6857455"/>
              <a:gd name="connsiteY162" fmla="*/ 864238 h 874716"/>
              <a:gd name="connsiteX163" fmla="*/ 4749895 w 6857455"/>
              <a:gd name="connsiteY163" fmla="*/ 874716 h 874716"/>
              <a:gd name="connsiteX164" fmla="*/ 4826480 w 6857455"/>
              <a:gd name="connsiteY164" fmla="*/ 866334 h 874716"/>
              <a:gd name="connsiteX165" fmla="*/ 4886870 w 6857455"/>
              <a:gd name="connsiteY165" fmla="*/ 862906 h 874716"/>
              <a:gd name="connsiteX166" fmla="*/ 4935639 w 6857455"/>
              <a:gd name="connsiteY166" fmla="*/ 853190 h 874716"/>
              <a:gd name="connsiteX167" fmla="*/ 4952784 w 6857455"/>
              <a:gd name="connsiteY167" fmla="*/ 847473 h 874716"/>
              <a:gd name="connsiteX168" fmla="*/ 5088617 w 6857455"/>
              <a:gd name="connsiteY168" fmla="*/ 802896 h 874716"/>
              <a:gd name="connsiteX169" fmla="*/ 5233781 w 6857455"/>
              <a:gd name="connsiteY169" fmla="*/ 767271 h 874716"/>
              <a:gd name="connsiteX170" fmla="*/ 5327893 w 6857455"/>
              <a:gd name="connsiteY170" fmla="*/ 789752 h 874716"/>
              <a:gd name="connsiteX171" fmla="*/ 5362946 w 6857455"/>
              <a:gd name="connsiteY171" fmla="*/ 789370 h 874716"/>
              <a:gd name="connsiteX172" fmla="*/ 5524115 w 6857455"/>
              <a:gd name="connsiteY172" fmla="*/ 794514 h 874716"/>
              <a:gd name="connsiteX173" fmla="*/ 5552500 w 6857455"/>
              <a:gd name="connsiteY173" fmla="*/ 800038 h 874716"/>
              <a:gd name="connsiteX174" fmla="*/ 5705857 w 6857455"/>
              <a:gd name="connsiteY174" fmla="*/ 777367 h 874716"/>
              <a:gd name="connsiteX175" fmla="*/ 5761485 w 6857455"/>
              <a:gd name="connsiteY175" fmla="*/ 773557 h 874716"/>
              <a:gd name="connsiteX176" fmla="*/ 5812731 w 6857455"/>
              <a:gd name="connsiteY176" fmla="*/ 767271 h 874716"/>
              <a:gd name="connsiteX177" fmla="*/ 5884361 w 6857455"/>
              <a:gd name="connsiteY177" fmla="*/ 765747 h 874716"/>
              <a:gd name="connsiteX178" fmla="*/ 5958660 w 6857455"/>
              <a:gd name="connsiteY178" fmla="*/ 768605 h 874716"/>
              <a:gd name="connsiteX179" fmla="*/ 6041528 w 6857455"/>
              <a:gd name="connsiteY179" fmla="*/ 768033 h 874716"/>
              <a:gd name="connsiteX180" fmla="*/ 6074297 w 6857455"/>
              <a:gd name="connsiteY180" fmla="*/ 763081 h 874716"/>
              <a:gd name="connsiteX181" fmla="*/ 6162880 w 6857455"/>
              <a:gd name="connsiteY181" fmla="*/ 766509 h 874716"/>
              <a:gd name="connsiteX182" fmla="*/ 6209364 w 6857455"/>
              <a:gd name="connsiteY182" fmla="*/ 760795 h 874716"/>
              <a:gd name="connsiteX183" fmla="*/ 6285948 w 6857455"/>
              <a:gd name="connsiteY183" fmla="*/ 759651 h 874716"/>
              <a:gd name="connsiteX184" fmla="*/ 6310905 w 6857455"/>
              <a:gd name="connsiteY184" fmla="*/ 758316 h 874716"/>
              <a:gd name="connsiteX185" fmla="*/ 6333194 w 6857455"/>
              <a:gd name="connsiteY185" fmla="*/ 757554 h 874716"/>
              <a:gd name="connsiteX186" fmla="*/ 6409586 w 6857455"/>
              <a:gd name="connsiteY186" fmla="*/ 773177 h 874716"/>
              <a:gd name="connsiteX187" fmla="*/ 6477407 w 6857455"/>
              <a:gd name="connsiteY187" fmla="*/ 774129 h 874716"/>
              <a:gd name="connsiteX188" fmla="*/ 6596283 w 6857455"/>
              <a:gd name="connsiteY188" fmla="*/ 786703 h 874716"/>
              <a:gd name="connsiteX189" fmla="*/ 6622573 w 6857455"/>
              <a:gd name="connsiteY189" fmla="*/ 782321 h 874716"/>
              <a:gd name="connsiteX190" fmla="*/ 6704872 w 6857455"/>
              <a:gd name="connsiteY190" fmla="*/ 780607 h 874716"/>
              <a:gd name="connsiteX191" fmla="*/ 6751738 w 6857455"/>
              <a:gd name="connsiteY191" fmla="*/ 779273 h 874716"/>
              <a:gd name="connsiteX192" fmla="*/ 6809650 w 6857455"/>
              <a:gd name="connsiteY192" fmla="*/ 788417 h 874716"/>
              <a:gd name="connsiteX193" fmla="*/ 6832976 w 6857455"/>
              <a:gd name="connsiteY193" fmla="*/ 800428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6857455" h="874716">
                <a:moveTo>
                  <a:pt x="6857455" y="804643"/>
                </a:moveTo>
                <a:lnTo>
                  <a:pt x="6857455" y="562246"/>
                </a:lnTo>
                <a:lnTo>
                  <a:pt x="6829178" y="551284"/>
                </a:lnTo>
                <a:cubicBezTo>
                  <a:pt x="6805745" y="539044"/>
                  <a:pt x="6784885" y="521708"/>
                  <a:pt x="6766024" y="500372"/>
                </a:cubicBezTo>
                <a:cubicBezTo>
                  <a:pt x="6755166" y="488179"/>
                  <a:pt x="6746784" y="486845"/>
                  <a:pt x="6734971" y="500944"/>
                </a:cubicBezTo>
                <a:cubicBezTo>
                  <a:pt x="6721257" y="517326"/>
                  <a:pt x="6701634" y="510850"/>
                  <a:pt x="6683915" y="507040"/>
                </a:cubicBezTo>
                <a:cubicBezTo>
                  <a:pt x="6665629" y="503230"/>
                  <a:pt x="6647148" y="499228"/>
                  <a:pt x="6628860" y="495418"/>
                </a:cubicBezTo>
                <a:cubicBezTo>
                  <a:pt x="6615335" y="492752"/>
                  <a:pt x="6601999" y="490466"/>
                  <a:pt x="6588662" y="487227"/>
                </a:cubicBezTo>
                <a:cubicBezTo>
                  <a:pt x="6547133" y="477129"/>
                  <a:pt x="6509794" y="480177"/>
                  <a:pt x="6476074" y="511230"/>
                </a:cubicBezTo>
                <a:cubicBezTo>
                  <a:pt x="6450356" y="535043"/>
                  <a:pt x="6417399" y="542093"/>
                  <a:pt x="6382345" y="534853"/>
                </a:cubicBezTo>
                <a:cubicBezTo>
                  <a:pt x="6377963" y="533901"/>
                  <a:pt x="6372439" y="530091"/>
                  <a:pt x="6369391" y="531615"/>
                </a:cubicBezTo>
                <a:cubicBezTo>
                  <a:pt x="6323479" y="553904"/>
                  <a:pt x="6287092" y="514658"/>
                  <a:pt x="6244799" y="512182"/>
                </a:cubicBezTo>
                <a:cubicBezTo>
                  <a:pt x="6226130" y="511040"/>
                  <a:pt x="6207079" y="496942"/>
                  <a:pt x="6190315" y="485703"/>
                </a:cubicBezTo>
                <a:cubicBezTo>
                  <a:pt x="6167262" y="470271"/>
                  <a:pt x="6146687" y="455412"/>
                  <a:pt x="6115446" y="462270"/>
                </a:cubicBezTo>
                <a:cubicBezTo>
                  <a:pt x="6084203" y="469319"/>
                  <a:pt x="6055627" y="456364"/>
                  <a:pt x="6032194" y="434266"/>
                </a:cubicBezTo>
                <a:cubicBezTo>
                  <a:pt x="6014287" y="417501"/>
                  <a:pt x="5994665" y="415977"/>
                  <a:pt x="5971042" y="420738"/>
                </a:cubicBezTo>
                <a:cubicBezTo>
                  <a:pt x="5941513" y="426645"/>
                  <a:pt x="5910842" y="427027"/>
                  <a:pt x="5880933" y="430646"/>
                </a:cubicBezTo>
                <a:cubicBezTo>
                  <a:pt x="5874454" y="431408"/>
                  <a:pt x="5866265" y="434076"/>
                  <a:pt x="5862452" y="438648"/>
                </a:cubicBezTo>
                <a:cubicBezTo>
                  <a:pt x="5815779" y="495418"/>
                  <a:pt x="5750055" y="495990"/>
                  <a:pt x="5685283" y="498658"/>
                </a:cubicBezTo>
                <a:cubicBezTo>
                  <a:pt x="5646039" y="500372"/>
                  <a:pt x="5606604" y="500372"/>
                  <a:pt x="5567169" y="499420"/>
                </a:cubicBezTo>
                <a:cubicBezTo>
                  <a:pt x="5553832" y="499228"/>
                  <a:pt x="5539736" y="496180"/>
                  <a:pt x="5527923" y="490466"/>
                </a:cubicBezTo>
                <a:cubicBezTo>
                  <a:pt x="5503348" y="478463"/>
                  <a:pt x="5480680" y="462843"/>
                  <a:pt x="5456292" y="450650"/>
                </a:cubicBezTo>
                <a:cubicBezTo>
                  <a:pt x="5447151" y="445886"/>
                  <a:pt x="5435338" y="445696"/>
                  <a:pt x="5424670" y="444934"/>
                </a:cubicBezTo>
                <a:cubicBezTo>
                  <a:pt x="5405809" y="443410"/>
                  <a:pt x="5384854" y="447982"/>
                  <a:pt x="5368662" y="441124"/>
                </a:cubicBezTo>
                <a:cubicBezTo>
                  <a:pt x="5326559" y="423407"/>
                  <a:pt x="5287123" y="427407"/>
                  <a:pt x="5247118" y="444934"/>
                </a:cubicBezTo>
                <a:cubicBezTo>
                  <a:pt x="5191108" y="469509"/>
                  <a:pt x="5138148" y="467605"/>
                  <a:pt x="5088617" y="428742"/>
                </a:cubicBezTo>
                <a:cubicBezTo>
                  <a:pt x="5066328" y="411215"/>
                  <a:pt x="5044609" y="419596"/>
                  <a:pt x="5025750" y="433694"/>
                </a:cubicBezTo>
                <a:cubicBezTo>
                  <a:pt x="5004032" y="450078"/>
                  <a:pt x="4982885" y="454268"/>
                  <a:pt x="4957930" y="442268"/>
                </a:cubicBezTo>
                <a:cubicBezTo>
                  <a:pt x="4952404" y="439600"/>
                  <a:pt x="4944594" y="440933"/>
                  <a:pt x="4938116" y="441886"/>
                </a:cubicBezTo>
                <a:cubicBezTo>
                  <a:pt x="4901158" y="446648"/>
                  <a:pt x="4864009" y="454650"/>
                  <a:pt x="4833910" y="421693"/>
                </a:cubicBezTo>
                <a:cubicBezTo>
                  <a:pt x="4828004" y="415214"/>
                  <a:pt x="4818097" y="412549"/>
                  <a:pt x="4810095" y="408167"/>
                </a:cubicBezTo>
                <a:cubicBezTo>
                  <a:pt x="4776566" y="390258"/>
                  <a:pt x="4777900" y="391974"/>
                  <a:pt x="4747991" y="413691"/>
                </a:cubicBezTo>
                <a:cubicBezTo>
                  <a:pt x="4732369" y="425121"/>
                  <a:pt x="4710842" y="436742"/>
                  <a:pt x="4692745" y="435790"/>
                </a:cubicBezTo>
                <a:cubicBezTo>
                  <a:pt x="4583584" y="430075"/>
                  <a:pt x="4479758" y="457508"/>
                  <a:pt x="4375933" y="483417"/>
                </a:cubicBezTo>
                <a:cubicBezTo>
                  <a:pt x="4311923" y="499420"/>
                  <a:pt x="4249436" y="500372"/>
                  <a:pt x="4185426" y="484179"/>
                </a:cubicBezTo>
                <a:cubicBezTo>
                  <a:pt x="4139133" y="472367"/>
                  <a:pt x="4095315" y="491800"/>
                  <a:pt x="4052072" y="505134"/>
                </a:cubicBezTo>
                <a:cubicBezTo>
                  <a:pt x="4043117" y="507799"/>
                  <a:pt x="4034735" y="518278"/>
                  <a:pt x="4029973" y="527233"/>
                </a:cubicBezTo>
                <a:cubicBezTo>
                  <a:pt x="4012826" y="558858"/>
                  <a:pt x="3984441" y="563810"/>
                  <a:pt x="3948626" y="550666"/>
                </a:cubicBezTo>
                <a:cubicBezTo>
                  <a:pt x="3920241" y="540377"/>
                  <a:pt x="3894332" y="526661"/>
                  <a:pt x="3871280" y="502275"/>
                </a:cubicBezTo>
                <a:cubicBezTo>
                  <a:pt x="3844229" y="473701"/>
                  <a:pt x="3816224" y="441124"/>
                  <a:pt x="3774312" y="429122"/>
                </a:cubicBezTo>
                <a:cubicBezTo>
                  <a:pt x="3756214" y="423979"/>
                  <a:pt x="3740593" y="423217"/>
                  <a:pt x="3721543" y="428552"/>
                </a:cubicBezTo>
                <a:cubicBezTo>
                  <a:pt x="3684583" y="438837"/>
                  <a:pt x="3647436" y="446078"/>
                  <a:pt x="3612763" y="414263"/>
                </a:cubicBezTo>
                <a:cubicBezTo>
                  <a:pt x="3593712" y="396736"/>
                  <a:pt x="3567994" y="385496"/>
                  <a:pt x="3537323" y="389878"/>
                </a:cubicBezTo>
                <a:cubicBezTo>
                  <a:pt x="3499031" y="395402"/>
                  <a:pt x="3464168" y="381496"/>
                  <a:pt x="3431593" y="360921"/>
                </a:cubicBezTo>
                <a:cubicBezTo>
                  <a:pt x="3419971" y="353491"/>
                  <a:pt x="3405682" y="349301"/>
                  <a:pt x="3392158" y="345681"/>
                </a:cubicBezTo>
                <a:cubicBezTo>
                  <a:pt x="3360915" y="337298"/>
                  <a:pt x="3329480" y="329868"/>
                  <a:pt x="3297856" y="323010"/>
                </a:cubicBezTo>
                <a:cubicBezTo>
                  <a:pt x="3271948" y="317296"/>
                  <a:pt x="3245849" y="313104"/>
                  <a:pt x="3219748" y="308151"/>
                </a:cubicBezTo>
                <a:cubicBezTo>
                  <a:pt x="3191173" y="302817"/>
                  <a:pt x="3168502" y="290433"/>
                  <a:pt x="3156692" y="261668"/>
                </a:cubicBezTo>
                <a:cubicBezTo>
                  <a:pt x="3152882" y="252524"/>
                  <a:pt x="3143737" y="245283"/>
                  <a:pt x="3136497" y="237663"/>
                </a:cubicBezTo>
                <a:cubicBezTo>
                  <a:pt x="3131355" y="232139"/>
                  <a:pt x="3124495" y="227947"/>
                  <a:pt x="3119733" y="222233"/>
                </a:cubicBezTo>
                <a:cubicBezTo>
                  <a:pt x="3094776" y="192132"/>
                  <a:pt x="3070201" y="161843"/>
                  <a:pt x="3045436" y="131742"/>
                </a:cubicBezTo>
                <a:cubicBezTo>
                  <a:pt x="3042958" y="128884"/>
                  <a:pt x="3040292" y="125455"/>
                  <a:pt x="3037054" y="124121"/>
                </a:cubicBezTo>
                <a:cubicBezTo>
                  <a:pt x="3003525" y="110215"/>
                  <a:pt x="2969614" y="97070"/>
                  <a:pt x="2936466" y="82400"/>
                </a:cubicBezTo>
                <a:cubicBezTo>
                  <a:pt x="2923702" y="76686"/>
                  <a:pt x="2910558" y="69637"/>
                  <a:pt x="2901031" y="59731"/>
                </a:cubicBezTo>
                <a:cubicBezTo>
                  <a:pt x="2879314" y="37250"/>
                  <a:pt x="2859502" y="12866"/>
                  <a:pt x="2828259" y="3149"/>
                </a:cubicBezTo>
                <a:cubicBezTo>
                  <a:pt x="2819114" y="293"/>
                  <a:pt x="2808256" y="-1231"/>
                  <a:pt x="2799492" y="1245"/>
                </a:cubicBezTo>
                <a:cubicBezTo>
                  <a:pt x="2763867" y="11532"/>
                  <a:pt x="2729005" y="24296"/>
                  <a:pt x="2693570" y="35154"/>
                </a:cubicBezTo>
                <a:cubicBezTo>
                  <a:pt x="2671092" y="41823"/>
                  <a:pt x="2650707" y="49825"/>
                  <a:pt x="2639847" y="73448"/>
                </a:cubicBezTo>
                <a:cubicBezTo>
                  <a:pt x="2636801" y="80114"/>
                  <a:pt x="2628226" y="87354"/>
                  <a:pt x="2621178" y="88688"/>
                </a:cubicBezTo>
                <a:cubicBezTo>
                  <a:pt x="2575839" y="97260"/>
                  <a:pt x="2531069" y="101451"/>
                  <a:pt x="2489348" y="72304"/>
                </a:cubicBezTo>
                <a:cubicBezTo>
                  <a:pt x="2480585" y="66017"/>
                  <a:pt x="2464201" y="66017"/>
                  <a:pt x="2452580" y="68683"/>
                </a:cubicBezTo>
                <a:cubicBezTo>
                  <a:pt x="2407811" y="78590"/>
                  <a:pt x="2365328" y="82020"/>
                  <a:pt x="2326464" y="50395"/>
                </a:cubicBezTo>
                <a:cubicBezTo>
                  <a:pt x="2321892" y="46585"/>
                  <a:pt x="2307224" y="50015"/>
                  <a:pt x="2300365" y="54777"/>
                </a:cubicBezTo>
                <a:cubicBezTo>
                  <a:pt x="2234259" y="101261"/>
                  <a:pt x="2198064" y="102405"/>
                  <a:pt x="2130434" y="58397"/>
                </a:cubicBezTo>
                <a:cubicBezTo>
                  <a:pt x="2126052" y="55539"/>
                  <a:pt x="2120337" y="52301"/>
                  <a:pt x="2118621" y="47919"/>
                </a:cubicBezTo>
                <a:cubicBezTo>
                  <a:pt x="2107001" y="19914"/>
                  <a:pt x="2082236" y="19152"/>
                  <a:pt x="2057659" y="16866"/>
                </a:cubicBezTo>
                <a:cubicBezTo>
                  <a:pt x="2030608" y="14390"/>
                  <a:pt x="2003555" y="11152"/>
                  <a:pt x="1976314" y="8865"/>
                </a:cubicBezTo>
                <a:cubicBezTo>
                  <a:pt x="1971550" y="8483"/>
                  <a:pt x="1966216" y="10007"/>
                  <a:pt x="1961454" y="11724"/>
                </a:cubicBezTo>
                <a:cubicBezTo>
                  <a:pt x="1943165" y="18010"/>
                  <a:pt x="1925449" y="27154"/>
                  <a:pt x="1906588" y="30964"/>
                </a:cubicBezTo>
                <a:cubicBezTo>
                  <a:pt x="1865821" y="39156"/>
                  <a:pt x="1826385" y="55539"/>
                  <a:pt x="1783330" y="48871"/>
                </a:cubicBezTo>
                <a:cubicBezTo>
                  <a:pt x="1775902" y="47729"/>
                  <a:pt x="1767327" y="53253"/>
                  <a:pt x="1759327" y="55349"/>
                </a:cubicBezTo>
                <a:cubicBezTo>
                  <a:pt x="1744849" y="58969"/>
                  <a:pt x="1730750" y="64111"/>
                  <a:pt x="1716082" y="65445"/>
                </a:cubicBezTo>
                <a:cubicBezTo>
                  <a:pt x="1677218" y="68875"/>
                  <a:pt x="1637975" y="71924"/>
                  <a:pt x="1598920" y="72114"/>
                </a:cubicBezTo>
                <a:cubicBezTo>
                  <a:pt x="1580061" y="72304"/>
                  <a:pt x="1561201" y="65065"/>
                  <a:pt x="1542150" y="62207"/>
                </a:cubicBezTo>
                <a:cubicBezTo>
                  <a:pt x="1533578" y="60873"/>
                  <a:pt x="1519669" y="58587"/>
                  <a:pt x="1516813" y="62779"/>
                </a:cubicBezTo>
                <a:cubicBezTo>
                  <a:pt x="1494714" y="94592"/>
                  <a:pt x="1463661" y="88496"/>
                  <a:pt x="1432228" y="88116"/>
                </a:cubicBezTo>
                <a:cubicBezTo>
                  <a:pt x="1362884" y="87354"/>
                  <a:pt x="1295826" y="60493"/>
                  <a:pt x="1224765" y="71924"/>
                </a:cubicBezTo>
                <a:cubicBezTo>
                  <a:pt x="1204191" y="75162"/>
                  <a:pt x="1181330" y="62397"/>
                  <a:pt x="1159231" y="58207"/>
                </a:cubicBezTo>
                <a:cubicBezTo>
                  <a:pt x="1147801" y="56111"/>
                  <a:pt x="1135228" y="53633"/>
                  <a:pt x="1124370" y="56301"/>
                </a:cubicBezTo>
                <a:cubicBezTo>
                  <a:pt x="1107605" y="60493"/>
                  <a:pt x="1091411" y="68113"/>
                  <a:pt x="1075600" y="75542"/>
                </a:cubicBezTo>
                <a:cubicBezTo>
                  <a:pt x="1046261" y="89258"/>
                  <a:pt x="1016162" y="89258"/>
                  <a:pt x="986633" y="79162"/>
                </a:cubicBezTo>
                <a:cubicBezTo>
                  <a:pt x="944722" y="64873"/>
                  <a:pt x="903193" y="64873"/>
                  <a:pt x="861089" y="76304"/>
                </a:cubicBezTo>
                <a:cubicBezTo>
                  <a:pt x="826990" y="85638"/>
                  <a:pt x="791935" y="92116"/>
                  <a:pt x="759168" y="104689"/>
                </a:cubicBezTo>
                <a:cubicBezTo>
                  <a:pt x="744689" y="110215"/>
                  <a:pt x="732497" y="126597"/>
                  <a:pt x="723735" y="140696"/>
                </a:cubicBezTo>
                <a:cubicBezTo>
                  <a:pt x="706018" y="169271"/>
                  <a:pt x="674013" y="169081"/>
                  <a:pt x="647532" y="147934"/>
                </a:cubicBezTo>
                <a:cubicBezTo>
                  <a:pt x="619717" y="125645"/>
                  <a:pt x="584664" y="112501"/>
                  <a:pt x="552659" y="95926"/>
                </a:cubicBezTo>
                <a:cubicBezTo>
                  <a:pt x="549993" y="94592"/>
                  <a:pt x="545039" y="96116"/>
                  <a:pt x="541800" y="97640"/>
                </a:cubicBezTo>
                <a:cubicBezTo>
                  <a:pt x="488649" y="122407"/>
                  <a:pt x="433593" y="126979"/>
                  <a:pt x="375107" y="123169"/>
                </a:cubicBezTo>
                <a:cubicBezTo>
                  <a:pt x="341960" y="121073"/>
                  <a:pt x="307289" y="137076"/>
                  <a:pt x="273567" y="145458"/>
                </a:cubicBezTo>
                <a:cubicBezTo>
                  <a:pt x="269757" y="146410"/>
                  <a:pt x="266519" y="151174"/>
                  <a:pt x="264043" y="154792"/>
                </a:cubicBezTo>
                <a:cubicBezTo>
                  <a:pt x="240228" y="190800"/>
                  <a:pt x="208223" y="200706"/>
                  <a:pt x="169360" y="177273"/>
                </a:cubicBezTo>
                <a:cubicBezTo>
                  <a:pt x="143643" y="161651"/>
                  <a:pt x="118114" y="158032"/>
                  <a:pt x="89347" y="157460"/>
                </a:cubicBezTo>
                <a:cubicBezTo>
                  <a:pt x="71059" y="157078"/>
                  <a:pt x="52962" y="147934"/>
                  <a:pt x="34291" y="145268"/>
                </a:cubicBezTo>
                <a:lnTo>
                  <a:pt x="0" y="142056"/>
                </a:lnTo>
                <a:lnTo>
                  <a:pt x="0" y="849556"/>
                </a:lnTo>
                <a:lnTo>
                  <a:pt x="60652" y="844783"/>
                </a:lnTo>
                <a:cubicBezTo>
                  <a:pt x="80251" y="839473"/>
                  <a:pt x="99446" y="832043"/>
                  <a:pt x="119068" y="827281"/>
                </a:cubicBezTo>
                <a:cubicBezTo>
                  <a:pt x="137355" y="822899"/>
                  <a:pt x="154501" y="812802"/>
                  <a:pt x="171840" y="804420"/>
                </a:cubicBezTo>
                <a:cubicBezTo>
                  <a:pt x="204985" y="788417"/>
                  <a:pt x="240420" y="798514"/>
                  <a:pt x="274329" y="794324"/>
                </a:cubicBezTo>
                <a:cubicBezTo>
                  <a:pt x="285188" y="792990"/>
                  <a:pt x="296046" y="791466"/>
                  <a:pt x="306715" y="788798"/>
                </a:cubicBezTo>
                <a:cubicBezTo>
                  <a:pt x="335864" y="781749"/>
                  <a:pt x="365583" y="775653"/>
                  <a:pt x="393967" y="765937"/>
                </a:cubicBezTo>
                <a:cubicBezTo>
                  <a:pt x="426165" y="755078"/>
                  <a:pt x="457028" y="740600"/>
                  <a:pt x="493793" y="725549"/>
                </a:cubicBezTo>
                <a:cubicBezTo>
                  <a:pt x="506557" y="729360"/>
                  <a:pt x="526180" y="739648"/>
                  <a:pt x="546373" y="740600"/>
                </a:cubicBezTo>
                <a:cubicBezTo>
                  <a:pt x="611337" y="743838"/>
                  <a:pt x="672107" y="726121"/>
                  <a:pt x="730211" y="698116"/>
                </a:cubicBezTo>
                <a:cubicBezTo>
                  <a:pt x="747927" y="689734"/>
                  <a:pt x="766980" y="684210"/>
                  <a:pt x="784889" y="676018"/>
                </a:cubicBezTo>
                <a:cubicBezTo>
                  <a:pt x="791173" y="673161"/>
                  <a:pt x="799365" y="667065"/>
                  <a:pt x="800509" y="661349"/>
                </a:cubicBezTo>
                <a:cubicBezTo>
                  <a:pt x="807175" y="628201"/>
                  <a:pt x="831942" y="628772"/>
                  <a:pt x="857661" y="626868"/>
                </a:cubicBezTo>
                <a:cubicBezTo>
                  <a:pt x="888332" y="624582"/>
                  <a:pt x="918621" y="619248"/>
                  <a:pt x="949102" y="614676"/>
                </a:cubicBezTo>
                <a:cubicBezTo>
                  <a:pt x="953104" y="614104"/>
                  <a:pt x="956722" y="610104"/>
                  <a:pt x="960342" y="607435"/>
                </a:cubicBezTo>
                <a:cubicBezTo>
                  <a:pt x="965867" y="603435"/>
                  <a:pt x="971011" y="597339"/>
                  <a:pt x="977109" y="595815"/>
                </a:cubicBezTo>
                <a:cubicBezTo>
                  <a:pt x="1008350" y="588385"/>
                  <a:pt x="1039783" y="582099"/>
                  <a:pt x="1071218" y="575240"/>
                </a:cubicBezTo>
                <a:cubicBezTo>
                  <a:pt x="1078266" y="573716"/>
                  <a:pt x="1085505" y="571812"/>
                  <a:pt x="1091983" y="568764"/>
                </a:cubicBezTo>
                <a:cubicBezTo>
                  <a:pt x="1098079" y="565906"/>
                  <a:pt x="1103223" y="560952"/>
                  <a:pt x="1109321" y="557904"/>
                </a:cubicBezTo>
                <a:cubicBezTo>
                  <a:pt x="1125892" y="549714"/>
                  <a:pt x="1142851" y="542093"/>
                  <a:pt x="1162279" y="532949"/>
                </a:cubicBezTo>
                <a:cubicBezTo>
                  <a:pt x="1173138" y="550094"/>
                  <a:pt x="1187810" y="540377"/>
                  <a:pt x="1206097" y="532187"/>
                </a:cubicBezTo>
                <a:cubicBezTo>
                  <a:pt x="1224765" y="523805"/>
                  <a:pt x="1246292" y="521137"/>
                  <a:pt x="1266867" y="518088"/>
                </a:cubicBezTo>
                <a:cubicBezTo>
                  <a:pt x="1304588" y="512564"/>
                  <a:pt x="1342499" y="509134"/>
                  <a:pt x="1380219" y="504182"/>
                </a:cubicBezTo>
                <a:cubicBezTo>
                  <a:pt x="1388221" y="503038"/>
                  <a:pt x="1397365" y="500944"/>
                  <a:pt x="1403461" y="496180"/>
                </a:cubicBezTo>
                <a:cubicBezTo>
                  <a:pt x="1445181" y="464175"/>
                  <a:pt x="1495858" y="455222"/>
                  <a:pt x="1544054" y="458268"/>
                </a:cubicBezTo>
                <a:cubicBezTo>
                  <a:pt x="1581965" y="460557"/>
                  <a:pt x="1619114" y="462270"/>
                  <a:pt x="1656644" y="459032"/>
                </a:cubicBezTo>
                <a:cubicBezTo>
                  <a:pt x="1659502" y="458841"/>
                  <a:pt x="1663312" y="459223"/>
                  <a:pt x="1665406" y="460747"/>
                </a:cubicBezTo>
                <a:cubicBezTo>
                  <a:pt x="1678360" y="470843"/>
                  <a:pt x="1691887" y="471605"/>
                  <a:pt x="1708461" y="473318"/>
                </a:cubicBezTo>
                <a:cubicBezTo>
                  <a:pt x="1731894" y="475797"/>
                  <a:pt x="1753421" y="474081"/>
                  <a:pt x="1775140" y="469891"/>
                </a:cubicBezTo>
                <a:cubicBezTo>
                  <a:pt x="1790952" y="466843"/>
                  <a:pt x="1806953" y="460557"/>
                  <a:pt x="1821051" y="452554"/>
                </a:cubicBezTo>
                <a:cubicBezTo>
                  <a:pt x="1840672" y="441314"/>
                  <a:pt x="1859535" y="436934"/>
                  <a:pt x="1878203" y="451792"/>
                </a:cubicBezTo>
                <a:cubicBezTo>
                  <a:pt x="1898396" y="467605"/>
                  <a:pt x="1921257" y="462081"/>
                  <a:pt x="1943547" y="462651"/>
                </a:cubicBezTo>
                <a:cubicBezTo>
                  <a:pt x="1953262" y="462843"/>
                  <a:pt x="1963550" y="462461"/>
                  <a:pt x="1972884" y="464937"/>
                </a:cubicBezTo>
                <a:cubicBezTo>
                  <a:pt x="1999935" y="471987"/>
                  <a:pt x="2026036" y="482655"/>
                  <a:pt x="2053469" y="487417"/>
                </a:cubicBezTo>
                <a:cubicBezTo>
                  <a:pt x="2068710" y="490084"/>
                  <a:pt x="2085664" y="485321"/>
                  <a:pt x="2101477" y="481893"/>
                </a:cubicBezTo>
                <a:cubicBezTo>
                  <a:pt x="2117479" y="478273"/>
                  <a:pt x="2133290" y="472749"/>
                  <a:pt x="2148722" y="467033"/>
                </a:cubicBezTo>
                <a:cubicBezTo>
                  <a:pt x="2159199" y="463223"/>
                  <a:pt x="2170629" y="459603"/>
                  <a:pt x="2179011" y="452744"/>
                </a:cubicBezTo>
                <a:cubicBezTo>
                  <a:pt x="2198064" y="437124"/>
                  <a:pt x="2217685" y="434455"/>
                  <a:pt x="2240165" y="442648"/>
                </a:cubicBezTo>
                <a:cubicBezTo>
                  <a:pt x="2243593" y="443982"/>
                  <a:pt x="2247594" y="443982"/>
                  <a:pt x="2251404" y="444172"/>
                </a:cubicBezTo>
                <a:cubicBezTo>
                  <a:pt x="2312370" y="448172"/>
                  <a:pt x="2373330" y="450650"/>
                  <a:pt x="2433912" y="456746"/>
                </a:cubicBezTo>
                <a:cubicBezTo>
                  <a:pt x="2458485" y="459223"/>
                  <a:pt x="2482107" y="470081"/>
                  <a:pt x="2506302" y="476939"/>
                </a:cubicBezTo>
                <a:cubicBezTo>
                  <a:pt x="2511256" y="478273"/>
                  <a:pt x="2516783" y="480369"/>
                  <a:pt x="2521735" y="479415"/>
                </a:cubicBezTo>
                <a:cubicBezTo>
                  <a:pt x="2575647" y="469891"/>
                  <a:pt x="2626132" y="483797"/>
                  <a:pt x="2675854" y="502086"/>
                </a:cubicBezTo>
                <a:cubicBezTo>
                  <a:pt x="2680996" y="503992"/>
                  <a:pt x="2687282" y="503419"/>
                  <a:pt x="2692998" y="503038"/>
                </a:cubicBezTo>
                <a:cubicBezTo>
                  <a:pt x="2709003" y="501706"/>
                  <a:pt x="2726337" y="495038"/>
                  <a:pt x="2740816" y="499037"/>
                </a:cubicBezTo>
                <a:cubicBezTo>
                  <a:pt x="2779297" y="510088"/>
                  <a:pt x="2817398" y="523423"/>
                  <a:pt x="2853596" y="540187"/>
                </a:cubicBezTo>
                <a:cubicBezTo>
                  <a:pt x="2890365" y="557142"/>
                  <a:pt x="2924464" y="571430"/>
                  <a:pt x="2966565" y="554286"/>
                </a:cubicBezTo>
                <a:cubicBezTo>
                  <a:pt x="2984472" y="547045"/>
                  <a:pt x="3008095" y="552190"/>
                  <a:pt x="3028671" y="554094"/>
                </a:cubicBezTo>
                <a:cubicBezTo>
                  <a:pt x="3043720" y="555618"/>
                  <a:pt x="3058198" y="564192"/>
                  <a:pt x="3073059" y="564192"/>
                </a:cubicBezTo>
                <a:cubicBezTo>
                  <a:pt x="3112686" y="564192"/>
                  <a:pt x="3147927" y="574288"/>
                  <a:pt x="3182219" y="594862"/>
                </a:cubicBezTo>
                <a:cubicBezTo>
                  <a:pt x="3195557" y="602863"/>
                  <a:pt x="3216322" y="597529"/>
                  <a:pt x="3233656" y="599625"/>
                </a:cubicBezTo>
                <a:cubicBezTo>
                  <a:pt x="3251947" y="602101"/>
                  <a:pt x="3270804" y="604387"/>
                  <a:pt x="3288332" y="609914"/>
                </a:cubicBezTo>
                <a:cubicBezTo>
                  <a:pt x="3333672" y="624392"/>
                  <a:pt x="3378441" y="640774"/>
                  <a:pt x="3423591" y="656015"/>
                </a:cubicBezTo>
                <a:cubicBezTo>
                  <a:pt x="3460738" y="668590"/>
                  <a:pt x="3497317" y="658683"/>
                  <a:pt x="3534084" y="653349"/>
                </a:cubicBezTo>
                <a:cubicBezTo>
                  <a:pt x="3557137" y="649919"/>
                  <a:pt x="3578662" y="641727"/>
                  <a:pt x="3604571" y="653918"/>
                </a:cubicBezTo>
                <a:cubicBezTo>
                  <a:pt x="3629338" y="665541"/>
                  <a:pt x="3660771" y="662873"/>
                  <a:pt x="3688586" y="669160"/>
                </a:cubicBezTo>
                <a:cubicBezTo>
                  <a:pt x="3712020" y="674494"/>
                  <a:pt x="3734687" y="683068"/>
                  <a:pt x="3757358" y="691450"/>
                </a:cubicBezTo>
                <a:cubicBezTo>
                  <a:pt x="3788221" y="702881"/>
                  <a:pt x="3818700" y="714881"/>
                  <a:pt x="3852421" y="709167"/>
                </a:cubicBezTo>
                <a:cubicBezTo>
                  <a:pt x="3890714" y="702689"/>
                  <a:pt x="3917001" y="727073"/>
                  <a:pt x="3947104" y="743267"/>
                </a:cubicBezTo>
                <a:cubicBezTo>
                  <a:pt x="3967869" y="754316"/>
                  <a:pt x="3990538" y="762509"/>
                  <a:pt x="4013208" y="769367"/>
                </a:cubicBezTo>
                <a:cubicBezTo>
                  <a:pt x="4043497" y="778321"/>
                  <a:pt x="4074740" y="783655"/>
                  <a:pt x="4105222" y="792418"/>
                </a:cubicBezTo>
                <a:cubicBezTo>
                  <a:pt x="4151325" y="805561"/>
                  <a:pt x="4198001" y="815850"/>
                  <a:pt x="4246006" y="808610"/>
                </a:cubicBezTo>
                <a:cubicBezTo>
                  <a:pt x="4268105" y="805372"/>
                  <a:pt x="4288682" y="805561"/>
                  <a:pt x="4310779" y="810326"/>
                </a:cubicBezTo>
                <a:cubicBezTo>
                  <a:pt x="4346974" y="818136"/>
                  <a:pt x="4384123" y="819089"/>
                  <a:pt x="4413272" y="848235"/>
                </a:cubicBezTo>
                <a:cubicBezTo>
                  <a:pt x="4423558" y="858524"/>
                  <a:pt x="4442037" y="861190"/>
                  <a:pt x="4457087" y="866524"/>
                </a:cubicBezTo>
                <a:cubicBezTo>
                  <a:pt x="4474424" y="872812"/>
                  <a:pt x="4487186" y="869572"/>
                  <a:pt x="4496523" y="851284"/>
                </a:cubicBezTo>
                <a:cubicBezTo>
                  <a:pt x="4500713" y="843093"/>
                  <a:pt x="4512715" y="835091"/>
                  <a:pt x="4522050" y="833757"/>
                </a:cubicBezTo>
                <a:cubicBezTo>
                  <a:pt x="4550055" y="829757"/>
                  <a:pt x="4575773" y="835663"/>
                  <a:pt x="4602824" y="848618"/>
                </a:cubicBezTo>
                <a:cubicBezTo>
                  <a:pt x="4628161" y="860810"/>
                  <a:pt x="4659786" y="859476"/>
                  <a:pt x="4688553" y="864238"/>
                </a:cubicBezTo>
                <a:cubicBezTo>
                  <a:pt x="4708936" y="867668"/>
                  <a:pt x="4729321" y="874716"/>
                  <a:pt x="4749895" y="874716"/>
                </a:cubicBezTo>
                <a:cubicBezTo>
                  <a:pt x="4775424" y="874716"/>
                  <a:pt x="4800761" y="868620"/>
                  <a:pt x="4826480" y="866334"/>
                </a:cubicBezTo>
                <a:cubicBezTo>
                  <a:pt x="4846482" y="864430"/>
                  <a:pt x="4866867" y="865192"/>
                  <a:pt x="4886870" y="862906"/>
                </a:cubicBezTo>
                <a:cubicBezTo>
                  <a:pt x="4903254" y="861190"/>
                  <a:pt x="4919447" y="856810"/>
                  <a:pt x="4935639" y="853190"/>
                </a:cubicBezTo>
                <a:cubicBezTo>
                  <a:pt x="4941546" y="851856"/>
                  <a:pt x="4947452" y="846711"/>
                  <a:pt x="4952784" y="847473"/>
                </a:cubicBezTo>
                <a:cubicBezTo>
                  <a:pt x="5005745" y="855666"/>
                  <a:pt x="5043847" y="819089"/>
                  <a:pt x="5088617" y="802896"/>
                </a:cubicBezTo>
                <a:cubicBezTo>
                  <a:pt x="5135672" y="785749"/>
                  <a:pt x="5181204" y="759461"/>
                  <a:pt x="5233781" y="767271"/>
                </a:cubicBezTo>
                <a:cubicBezTo>
                  <a:pt x="5265596" y="772033"/>
                  <a:pt x="5296267" y="783083"/>
                  <a:pt x="5327893" y="789752"/>
                </a:cubicBezTo>
                <a:cubicBezTo>
                  <a:pt x="5339132" y="792038"/>
                  <a:pt x="5351705" y="791656"/>
                  <a:pt x="5362946" y="789370"/>
                </a:cubicBezTo>
                <a:cubicBezTo>
                  <a:pt x="5417240" y="778891"/>
                  <a:pt x="5470771" y="777367"/>
                  <a:pt x="5524115" y="794514"/>
                </a:cubicBezTo>
                <a:cubicBezTo>
                  <a:pt x="5533257" y="797372"/>
                  <a:pt x="5542974" y="800038"/>
                  <a:pt x="5552500" y="800038"/>
                </a:cubicBezTo>
                <a:cubicBezTo>
                  <a:pt x="5604697" y="800038"/>
                  <a:pt x="5655944" y="796038"/>
                  <a:pt x="5705857" y="777367"/>
                </a:cubicBezTo>
                <a:cubicBezTo>
                  <a:pt x="5722622" y="771080"/>
                  <a:pt x="5743006" y="775081"/>
                  <a:pt x="5761485" y="773557"/>
                </a:cubicBezTo>
                <a:cubicBezTo>
                  <a:pt x="5778629" y="772224"/>
                  <a:pt x="5796156" y="771653"/>
                  <a:pt x="5812731" y="767271"/>
                </a:cubicBezTo>
                <a:cubicBezTo>
                  <a:pt x="5836925" y="760795"/>
                  <a:pt x="5859404" y="760033"/>
                  <a:pt x="5884361" y="765747"/>
                </a:cubicBezTo>
                <a:cubicBezTo>
                  <a:pt x="5908174" y="771080"/>
                  <a:pt x="5933892" y="768415"/>
                  <a:pt x="5958660" y="768605"/>
                </a:cubicBezTo>
                <a:cubicBezTo>
                  <a:pt x="5986282" y="768795"/>
                  <a:pt x="6013906" y="768984"/>
                  <a:pt x="6041528" y="768033"/>
                </a:cubicBezTo>
                <a:cubicBezTo>
                  <a:pt x="6052579" y="767653"/>
                  <a:pt x="6065151" y="760033"/>
                  <a:pt x="6074297" y="763081"/>
                </a:cubicBezTo>
                <a:cubicBezTo>
                  <a:pt x="6103824" y="773366"/>
                  <a:pt x="6133353" y="760985"/>
                  <a:pt x="6162880" y="766509"/>
                </a:cubicBezTo>
                <a:cubicBezTo>
                  <a:pt x="6177360" y="769367"/>
                  <a:pt x="6193743" y="761557"/>
                  <a:pt x="6209364" y="760795"/>
                </a:cubicBezTo>
                <a:cubicBezTo>
                  <a:pt x="6234892" y="759461"/>
                  <a:pt x="6260419" y="760033"/>
                  <a:pt x="6285948" y="759651"/>
                </a:cubicBezTo>
                <a:cubicBezTo>
                  <a:pt x="6294330" y="759461"/>
                  <a:pt x="6302523" y="758699"/>
                  <a:pt x="6310905" y="758316"/>
                </a:cubicBezTo>
                <a:cubicBezTo>
                  <a:pt x="6318335" y="757936"/>
                  <a:pt x="6326145" y="756222"/>
                  <a:pt x="6333194" y="757554"/>
                </a:cubicBezTo>
                <a:cubicBezTo>
                  <a:pt x="6358723" y="762318"/>
                  <a:pt x="6383869" y="770129"/>
                  <a:pt x="6409586" y="773177"/>
                </a:cubicBezTo>
                <a:cubicBezTo>
                  <a:pt x="6431875" y="775843"/>
                  <a:pt x="6454928" y="772224"/>
                  <a:pt x="6477407" y="774129"/>
                </a:cubicBezTo>
                <a:cubicBezTo>
                  <a:pt x="6517032" y="777367"/>
                  <a:pt x="6556657" y="783083"/>
                  <a:pt x="6596283" y="786703"/>
                </a:cubicBezTo>
                <a:cubicBezTo>
                  <a:pt x="6604857" y="787465"/>
                  <a:pt x="6613809" y="782701"/>
                  <a:pt x="6622573" y="782321"/>
                </a:cubicBezTo>
                <a:cubicBezTo>
                  <a:pt x="6650006" y="781369"/>
                  <a:pt x="6677439" y="781177"/>
                  <a:pt x="6704872" y="780607"/>
                </a:cubicBezTo>
                <a:cubicBezTo>
                  <a:pt x="6720493" y="780415"/>
                  <a:pt x="6736305" y="780987"/>
                  <a:pt x="6751738" y="779273"/>
                </a:cubicBezTo>
                <a:cubicBezTo>
                  <a:pt x="6772120" y="776987"/>
                  <a:pt x="6790599" y="773557"/>
                  <a:pt x="6809650" y="788417"/>
                </a:cubicBezTo>
                <a:cubicBezTo>
                  <a:pt x="6816984" y="794180"/>
                  <a:pt x="6824819" y="797942"/>
                  <a:pt x="6832976" y="8004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E4574B5-C90E-412D-BAB0-B9F483290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40988" y="2991370"/>
            <a:ext cx="6857455" cy="874716"/>
          </a:xfrm>
          <a:custGeom>
            <a:avLst/>
            <a:gdLst>
              <a:gd name="connsiteX0" fmla="*/ 6857455 w 6857455"/>
              <a:gd name="connsiteY0" fmla="*/ 804643 h 874716"/>
              <a:gd name="connsiteX1" fmla="*/ 6857455 w 6857455"/>
              <a:gd name="connsiteY1" fmla="*/ 562246 h 874716"/>
              <a:gd name="connsiteX2" fmla="*/ 6829178 w 6857455"/>
              <a:gd name="connsiteY2" fmla="*/ 551284 h 874716"/>
              <a:gd name="connsiteX3" fmla="*/ 6766024 w 6857455"/>
              <a:gd name="connsiteY3" fmla="*/ 500372 h 874716"/>
              <a:gd name="connsiteX4" fmla="*/ 6734971 w 6857455"/>
              <a:gd name="connsiteY4" fmla="*/ 500944 h 874716"/>
              <a:gd name="connsiteX5" fmla="*/ 6683915 w 6857455"/>
              <a:gd name="connsiteY5" fmla="*/ 507040 h 874716"/>
              <a:gd name="connsiteX6" fmla="*/ 6628860 w 6857455"/>
              <a:gd name="connsiteY6" fmla="*/ 495418 h 874716"/>
              <a:gd name="connsiteX7" fmla="*/ 6588662 w 6857455"/>
              <a:gd name="connsiteY7" fmla="*/ 487227 h 874716"/>
              <a:gd name="connsiteX8" fmla="*/ 6476074 w 6857455"/>
              <a:gd name="connsiteY8" fmla="*/ 511230 h 874716"/>
              <a:gd name="connsiteX9" fmla="*/ 6382345 w 6857455"/>
              <a:gd name="connsiteY9" fmla="*/ 534853 h 874716"/>
              <a:gd name="connsiteX10" fmla="*/ 6369391 w 6857455"/>
              <a:gd name="connsiteY10" fmla="*/ 531615 h 874716"/>
              <a:gd name="connsiteX11" fmla="*/ 6244799 w 6857455"/>
              <a:gd name="connsiteY11" fmla="*/ 512182 h 874716"/>
              <a:gd name="connsiteX12" fmla="*/ 6190315 w 6857455"/>
              <a:gd name="connsiteY12" fmla="*/ 485703 h 874716"/>
              <a:gd name="connsiteX13" fmla="*/ 6115446 w 6857455"/>
              <a:gd name="connsiteY13" fmla="*/ 462270 h 874716"/>
              <a:gd name="connsiteX14" fmla="*/ 6032194 w 6857455"/>
              <a:gd name="connsiteY14" fmla="*/ 434266 h 874716"/>
              <a:gd name="connsiteX15" fmla="*/ 5971042 w 6857455"/>
              <a:gd name="connsiteY15" fmla="*/ 420738 h 874716"/>
              <a:gd name="connsiteX16" fmla="*/ 5880933 w 6857455"/>
              <a:gd name="connsiteY16" fmla="*/ 430646 h 874716"/>
              <a:gd name="connsiteX17" fmla="*/ 5862452 w 6857455"/>
              <a:gd name="connsiteY17" fmla="*/ 438648 h 874716"/>
              <a:gd name="connsiteX18" fmla="*/ 5685283 w 6857455"/>
              <a:gd name="connsiteY18" fmla="*/ 498658 h 874716"/>
              <a:gd name="connsiteX19" fmla="*/ 5567169 w 6857455"/>
              <a:gd name="connsiteY19" fmla="*/ 499420 h 874716"/>
              <a:gd name="connsiteX20" fmla="*/ 5527923 w 6857455"/>
              <a:gd name="connsiteY20" fmla="*/ 490466 h 874716"/>
              <a:gd name="connsiteX21" fmla="*/ 5456292 w 6857455"/>
              <a:gd name="connsiteY21" fmla="*/ 450650 h 874716"/>
              <a:gd name="connsiteX22" fmla="*/ 5424670 w 6857455"/>
              <a:gd name="connsiteY22" fmla="*/ 444934 h 874716"/>
              <a:gd name="connsiteX23" fmla="*/ 5368662 w 6857455"/>
              <a:gd name="connsiteY23" fmla="*/ 441124 h 874716"/>
              <a:gd name="connsiteX24" fmla="*/ 5247118 w 6857455"/>
              <a:gd name="connsiteY24" fmla="*/ 444934 h 874716"/>
              <a:gd name="connsiteX25" fmla="*/ 5088617 w 6857455"/>
              <a:gd name="connsiteY25" fmla="*/ 428742 h 874716"/>
              <a:gd name="connsiteX26" fmla="*/ 5025750 w 6857455"/>
              <a:gd name="connsiteY26" fmla="*/ 433694 h 874716"/>
              <a:gd name="connsiteX27" fmla="*/ 4957930 w 6857455"/>
              <a:gd name="connsiteY27" fmla="*/ 442268 h 874716"/>
              <a:gd name="connsiteX28" fmla="*/ 4938116 w 6857455"/>
              <a:gd name="connsiteY28" fmla="*/ 441886 h 874716"/>
              <a:gd name="connsiteX29" fmla="*/ 4833910 w 6857455"/>
              <a:gd name="connsiteY29" fmla="*/ 421693 h 874716"/>
              <a:gd name="connsiteX30" fmla="*/ 4810095 w 6857455"/>
              <a:gd name="connsiteY30" fmla="*/ 408167 h 874716"/>
              <a:gd name="connsiteX31" fmla="*/ 4747991 w 6857455"/>
              <a:gd name="connsiteY31" fmla="*/ 413691 h 874716"/>
              <a:gd name="connsiteX32" fmla="*/ 4692745 w 6857455"/>
              <a:gd name="connsiteY32" fmla="*/ 435790 h 874716"/>
              <a:gd name="connsiteX33" fmla="*/ 4375933 w 6857455"/>
              <a:gd name="connsiteY33" fmla="*/ 483417 h 874716"/>
              <a:gd name="connsiteX34" fmla="*/ 4185426 w 6857455"/>
              <a:gd name="connsiteY34" fmla="*/ 484179 h 874716"/>
              <a:gd name="connsiteX35" fmla="*/ 4052072 w 6857455"/>
              <a:gd name="connsiteY35" fmla="*/ 505134 h 874716"/>
              <a:gd name="connsiteX36" fmla="*/ 4029973 w 6857455"/>
              <a:gd name="connsiteY36" fmla="*/ 527233 h 874716"/>
              <a:gd name="connsiteX37" fmla="*/ 3948626 w 6857455"/>
              <a:gd name="connsiteY37" fmla="*/ 550666 h 874716"/>
              <a:gd name="connsiteX38" fmla="*/ 3871280 w 6857455"/>
              <a:gd name="connsiteY38" fmla="*/ 502275 h 874716"/>
              <a:gd name="connsiteX39" fmla="*/ 3774312 w 6857455"/>
              <a:gd name="connsiteY39" fmla="*/ 429122 h 874716"/>
              <a:gd name="connsiteX40" fmla="*/ 3721543 w 6857455"/>
              <a:gd name="connsiteY40" fmla="*/ 428552 h 874716"/>
              <a:gd name="connsiteX41" fmla="*/ 3612763 w 6857455"/>
              <a:gd name="connsiteY41" fmla="*/ 414263 h 874716"/>
              <a:gd name="connsiteX42" fmla="*/ 3537323 w 6857455"/>
              <a:gd name="connsiteY42" fmla="*/ 389878 h 874716"/>
              <a:gd name="connsiteX43" fmla="*/ 3431593 w 6857455"/>
              <a:gd name="connsiteY43" fmla="*/ 360921 h 874716"/>
              <a:gd name="connsiteX44" fmla="*/ 3392158 w 6857455"/>
              <a:gd name="connsiteY44" fmla="*/ 345681 h 874716"/>
              <a:gd name="connsiteX45" fmla="*/ 3297856 w 6857455"/>
              <a:gd name="connsiteY45" fmla="*/ 323010 h 874716"/>
              <a:gd name="connsiteX46" fmla="*/ 3219748 w 6857455"/>
              <a:gd name="connsiteY46" fmla="*/ 308151 h 874716"/>
              <a:gd name="connsiteX47" fmla="*/ 3156692 w 6857455"/>
              <a:gd name="connsiteY47" fmla="*/ 261668 h 874716"/>
              <a:gd name="connsiteX48" fmla="*/ 3136497 w 6857455"/>
              <a:gd name="connsiteY48" fmla="*/ 237663 h 874716"/>
              <a:gd name="connsiteX49" fmla="*/ 3119733 w 6857455"/>
              <a:gd name="connsiteY49" fmla="*/ 222233 h 874716"/>
              <a:gd name="connsiteX50" fmla="*/ 3045436 w 6857455"/>
              <a:gd name="connsiteY50" fmla="*/ 131742 h 874716"/>
              <a:gd name="connsiteX51" fmla="*/ 3037054 w 6857455"/>
              <a:gd name="connsiteY51" fmla="*/ 124121 h 874716"/>
              <a:gd name="connsiteX52" fmla="*/ 2936466 w 6857455"/>
              <a:gd name="connsiteY52" fmla="*/ 82400 h 874716"/>
              <a:gd name="connsiteX53" fmla="*/ 2901031 w 6857455"/>
              <a:gd name="connsiteY53" fmla="*/ 59731 h 874716"/>
              <a:gd name="connsiteX54" fmla="*/ 2828259 w 6857455"/>
              <a:gd name="connsiteY54" fmla="*/ 3149 h 874716"/>
              <a:gd name="connsiteX55" fmla="*/ 2799492 w 6857455"/>
              <a:gd name="connsiteY55" fmla="*/ 1245 h 874716"/>
              <a:gd name="connsiteX56" fmla="*/ 2693570 w 6857455"/>
              <a:gd name="connsiteY56" fmla="*/ 35154 h 874716"/>
              <a:gd name="connsiteX57" fmla="*/ 2639847 w 6857455"/>
              <a:gd name="connsiteY57" fmla="*/ 73448 h 874716"/>
              <a:gd name="connsiteX58" fmla="*/ 2621178 w 6857455"/>
              <a:gd name="connsiteY58" fmla="*/ 88688 h 874716"/>
              <a:gd name="connsiteX59" fmla="*/ 2489348 w 6857455"/>
              <a:gd name="connsiteY59" fmla="*/ 72304 h 874716"/>
              <a:gd name="connsiteX60" fmla="*/ 2452580 w 6857455"/>
              <a:gd name="connsiteY60" fmla="*/ 68683 h 874716"/>
              <a:gd name="connsiteX61" fmla="*/ 2326464 w 6857455"/>
              <a:gd name="connsiteY61" fmla="*/ 50395 h 874716"/>
              <a:gd name="connsiteX62" fmla="*/ 2300365 w 6857455"/>
              <a:gd name="connsiteY62" fmla="*/ 54777 h 874716"/>
              <a:gd name="connsiteX63" fmla="*/ 2130434 w 6857455"/>
              <a:gd name="connsiteY63" fmla="*/ 58397 h 874716"/>
              <a:gd name="connsiteX64" fmla="*/ 2118621 w 6857455"/>
              <a:gd name="connsiteY64" fmla="*/ 47919 h 874716"/>
              <a:gd name="connsiteX65" fmla="*/ 2057659 w 6857455"/>
              <a:gd name="connsiteY65" fmla="*/ 16866 h 874716"/>
              <a:gd name="connsiteX66" fmla="*/ 1976314 w 6857455"/>
              <a:gd name="connsiteY66" fmla="*/ 8865 h 874716"/>
              <a:gd name="connsiteX67" fmla="*/ 1961454 w 6857455"/>
              <a:gd name="connsiteY67" fmla="*/ 11724 h 874716"/>
              <a:gd name="connsiteX68" fmla="*/ 1906588 w 6857455"/>
              <a:gd name="connsiteY68" fmla="*/ 30964 h 874716"/>
              <a:gd name="connsiteX69" fmla="*/ 1783330 w 6857455"/>
              <a:gd name="connsiteY69" fmla="*/ 48871 h 874716"/>
              <a:gd name="connsiteX70" fmla="*/ 1759327 w 6857455"/>
              <a:gd name="connsiteY70" fmla="*/ 55349 h 874716"/>
              <a:gd name="connsiteX71" fmla="*/ 1716082 w 6857455"/>
              <a:gd name="connsiteY71" fmla="*/ 65445 h 874716"/>
              <a:gd name="connsiteX72" fmla="*/ 1598920 w 6857455"/>
              <a:gd name="connsiteY72" fmla="*/ 72114 h 874716"/>
              <a:gd name="connsiteX73" fmla="*/ 1542150 w 6857455"/>
              <a:gd name="connsiteY73" fmla="*/ 62207 h 874716"/>
              <a:gd name="connsiteX74" fmla="*/ 1516813 w 6857455"/>
              <a:gd name="connsiteY74" fmla="*/ 62779 h 874716"/>
              <a:gd name="connsiteX75" fmla="*/ 1432228 w 6857455"/>
              <a:gd name="connsiteY75" fmla="*/ 88116 h 874716"/>
              <a:gd name="connsiteX76" fmla="*/ 1224765 w 6857455"/>
              <a:gd name="connsiteY76" fmla="*/ 71924 h 874716"/>
              <a:gd name="connsiteX77" fmla="*/ 1159231 w 6857455"/>
              <a:gd name="connsiteY77" fmla="*/ 58207 h 874716"/>
              <a:gd name="connsiteX78" fmla="*/ 1124370 w 6857455"/>
              <a:gd name="connsiteY78" fmla="*/ 56301 h 874716"/>
              <a:gd name="connsiteX79" fmla="*/ 1075600 w 6857455"/>
              <a:gd name="connsiteY79" fmla="*/ 75542 h 874716"/>
              <a:gd name="connsiteX80" fmla="*/ 986633 w 6857455"/>
              <a:gd name="connsiteY80" fmla="*/ 79162 h 874716"/>
              <a:gd name="connsiteX81" fmla="*/ 861089 w 6857455"/>
              <a:gd name="connsiteY81" fmla="*/ 76304 h 874716"/>
              <a:gd name="connsiteX82" fmla="*/ 759168 w 6857455"/>
              <a:gd name="connsiteY82" fmla="*/ 104689 h 874716"/>
              <a:gd name="connsiteX83" fmla="*/ 723735 w 6857455"/>
              <a:gd name="connsiteY83" fmla="*/ 140696 h 874716"/>
              <a:gd name="connsiteX84" fmla="*/ 647532 w 6857455"/>
              <a:gd name="connsiteY84" fmla="*/ 147934 h 874716"/>
              <a:gd name="connsiteX85" fmla="*/ 552659 w 6857455"/>
              <a:gd name="connsiteY85" fmla="*/ 95926 h 874716"/>
              <a:gd name="connsiteX86" fmla="*/ 541800 w 6857455"/>
              <a:gd name="connsiteY86" fmla="*/ 97640 h 874716"/>
              <a:gd name="connsiteX87" fmla="*/ 375107 w 6857455"/>
              <a:gd name="connsiteY87" fmla="*/ 123169 h 874716"/>
              <a:gd name="connsiteX88" fmla="*/ 273567 w 6857455"/>
              <a:gd name="connsiteY88" fmla="*/ 145458 h 874716"/>
              <a:gd name="connsiteX89" fmla="*/ 264043 w 6857455"/>
              <a:gd name="connsiteY89" fmla="*/ 154792 h 874716"/>
              <a:gd name="connsiteX90" fmla="*/ 169360 w 6857455"/>
              <a:gd name="connsiteY90" fmla="*/ 177273 h 874716"/>
              <a:gd name="connsiteX91" fmla="*/ 89347 w 6857455"/>
              <a:gd name="connsiteY91" fmla="*/ 157460 h 874716"/>
              <a:gd name="connsiteX92" fmla="*/ 34291 w 6857455"/>
              <a:gd name="connsiteY92" fmla="*/ 145268 h 874716"/>
              <a:gd name="connsiteX93" fmla="*/ 0 w 6857455"/>
              <a:gd name="connsiteY93" fmla="*/ 142056 h 874716"/>
              <a:gd name="connsiteX94" fmla="*/ 0 w 6857455"/>
              <a:gd name="connsiteY94" fmla="*/ 849556 h 874716"/>
              <a:gd name="connsiteX95" fmla="*/ 60652 w 6857455"/>
              <a:gd name="connsiteY95" fmla="*/ 844783 h 874716"/>
              <a:gd name="connsiteX96" fmla="*/ 119068 w 6857455"/>
              <a:gd name="connsiteY96" fmla="*/ 827281 h 874716"/>
              <a:gd name="connsiteX97" fmla="*/ 171840 w 6857455"/>
              <a:gd name="connsiteY97" fmla="*/ 804420 h 874716"/>
              <a:gd name="connsiteX98" fmla="*/ 274329 w 6857455"/>
              <a:gd name="connsiteY98" fmla="*/ 794324 h 874716"/>
              <a:gd name="connsiteX99" fmla="*/ 306715 w 6857455"/>
              <a:gd name="connsiteY99" fmla="*/ 788798 h 874716"/>
              <a:gd name="connsiteX100" fmla="*/ 393967 w 6857455"/>
              <a:gd name="connsiteY100" fmla="*/ 765937 h 874716"/>
              <a:gd name="connsiteX101" fmla="*/ 493793 w 6857455"/>
              <a:gd name="connsiteY101" fmla="*/ 725549 h 874716"/>
              <a:gd name="connsiteX102" fmla="*/ 546373 w 6857455"/>
              <a:gd name="connsiteY102" fmla="*/ 740600 h 874716"/>
              <a:gd name="connsiteX103" fmla="*/ 730211 w 6857455"/>
              <a:gd name="connsiteY103" fmla="*/ 698116 h 874716"/>
              <a:gd name="connsiteX104" fmla="*/ 784889 w 6857455"/>
              <a:gd name="connsiteY104" fmla="*/ 676018 h 874716"/>
              <a:gd name="connsiteX105" fmla="*/ 800509 w 6857455"/>
              <a:gd name="connsiteY105" fmla="*/ 661349 h 874716"/>
              <a:gd name="connsiteX106" fmla="*/ 857661 w 6857455"/>
              <a:gd name="connsiteY106" fmla="*/ 626868 h 874716"/>
              <a:gd name="connsiteX107" fmla="*/ 949102 w 6857455"/>
              <a:gd name="connsiteY107" fmla="*/ 614676 h 874716"/>
              <a:gd name="connsiteX108" fmla="*/ 960342 w 6857455"/>
              <a:gd name="connsiteY108" fmla="*/ 607435 h 874716"/>
              <a:gd name="connsiteX109" fmla="*/ 977109 w 6857455"/>
              <a:gd name="connsiteY109" fmla="*/ 595815 h 874716"/>
              <a:gd name="connsiteX110" fmla="*/ 1071218 w 6857455"/>
              <a:gd name="connsiteY110" fmla="*/ 575240 h 874716"/>
              <a:gd name="connsiteX111" fmla="*/ 1091983 w 6857455"/>
              <a:gd name="connsiteY111" fmla="*/ 568764 h 874716"/>
              <a:gd name="connsiteX112" fmla="*/ 1109321 w 6857455"/>
              <a:gd name="connsiteY112" fmla="*/ 557904 h 874716"/>
              <a:gd name="connsiteX113" fmla="*/ 1162279 w 6857455"/>
              <a:gd name="connsiteY113" fmla="*/ 532949 h 874716"/>
              <a:gd name="connsiteX114" fmla="*/ 1206097 w 6857455"/>
              <a:gd name="connsiteY114" fmla="*/ 532187 h 874716"/>
              <a:gd name="connsiteX115" fmla="*/ 1266867 w 6857455"/>
              <a:gd name="connsiteY115" fmla="*/ 518088 h 874716"/>
              <a:gd name="connsiteX116" fmla="*/ 1380219 w 6857455"/>
              <a:gd name="connsiteY116" fmla="*/ 504182 h 874716"/>
              <a:gd name="connsiteX117" fmla="*/ 1403461 w 6857455"/>
              <a:gd name="connsiteY117" fmla="*/ 496180 h 874716"/>
              <a:gd name="connsiteX118" fmla="*/ 1544054 w 6857455"/>
              <a:gd name="connsiteY118" fmla="*/ 458268 h 874716"/>
              <a:gd name="connsiteX119" fmla="*/ 1656644 w 6857455"/>
              <a:gd name="connsiteY119" fmla="*/ 459032 h 874716"/>
              <a:gd name="connsiteX120" fmla="*/ 1665406 w 6857455"/>
              <a:gd name="connsiteY120" fmla="*/ 460747 h 874716"/>
              <a:gd name="connsiteX121" fmla="*/ 1708461 w 6857455"/>
              <a:gd name="connsiteY121" fmla="*/ 473318 h 874716"/>
              <a:gd name="connsiteX122" fmla="*/ 1775140 w 6857455"/>
              <a:gd name="connsiteY122" fmla="*/ 469891 h 874716"/>
              <a:gd name="connsiteX123" fmla="*/ 1821051 w 6857455"/>
              <a:gd name="connsiteY123" fmla="*/ 452554 h 874716"/>
              <a:gd name="connsiteX124" fmla="*/ 1878203 w 6857455"/>
              <a:gd name="connsiteY124" fmla="*/ 451792 h 874716"/>
              <a:gd name="connsiteX125" fmla="*/ 1943547 w 6857455"/>
              <a:gd name="connsiteY125" fmla="*/ 462651 h 874716"/>
              <a:gd name="connsiteX126" fmla="*/ 1972884 w 6857455"/>
              <a:gd name="connsiteY126" fmla="*/ 464937 h 874716"/>
              <a:gd name="connsiteX127" fmla="*/ 2053469 w 6857455"/>
              <a:gd name="connsiteY127" fmla="*/ 487417 h 874716"/>
              <a:gd name="connsiteX128" fmla="*/ 2101477 w 6857455"/>
              <a:gd name="connsiteY128" fmla="*/ 481893 h 874716"/>
              <a:gd name="connsiteX129" fmla="*/ 2148722 w 6857455"/>
              <a:gd name="connsiteY129" fmla="*/ 467033 h 874716"/>
              <a:gd name="connsiteX130" fmla="*/ 2179011 w 6857455"/>
              <a:gd name="connsiteY130" fmla="*/ 452744 h 874716"/>
              <a:gd name="connsiteX131" fmla="*/ 2240165 w 6857455"/>
              <a:gd name="connsiteY131" fmla="*/ 442648 h 874716"/>
              <a:gd name="connsiteX132" fmla="*/ 2251404 w 6857455"/>
              <a:gd name="connsiteY132" fmla="*/ 444172 h 874716"/>
              <a:gd name="connsiteX133" fmla="*/ 2433912 w 6857455"/>
              <a:gd name="connsiteY133" fmla="*/ 456746 h 874716"/>
              <a:gd name="connsiteX134" fmla="*/ 2506302 w 6857455"/>
              <a:gd name="connsiteY134" fmla="*/ 476939 h 874716"/>
              <a:gd name="connsiteX135" fmla="*/ 2521735 w 6857455"/>
              <a:gd name="connsiteY135" fmla="*/ 479415 h 874716"/>
              <a:gd name="connsiteX136" fmla="*/ 2675854 w 6857455"/>
              <a:gd name="connsiteY136" fmla="*/ 502086 h 874716"/>
              <a:gd name="connsiteX137" fmla="*/ 2692998 w 6857455"/>
              <a:gd name="connsiteY137" fmla="*/ 503038 h 874716"/>
              <a:gd name="connsiteX138" fmla="*/ 2740816 w 6857455"/>
              <a:gd name="connsiteY138" fmla="*/ 499037 h 874716"/>
              <a:gd name="connsiteX139" fmla="*/ 2853596 w 6857455"/>
              <a:gd name="connsiteY139" fmla="*/ 540187 h 874716"/>
              <a:gd name="connsiteX140" fmla="*/ 2966565 w 6857455"/>
              <a:gd name="connsiteY140" fmla="*/ 554286 h 874716"/>
              <a:gd name="connsiteX141" fmla="*/ 3028671 w 6857455"/>
              <a:gd name="connsiteY141" fmla="*/ 554094 h 874716"/>
              <a:gd name="connsiteX142" fmla="*/ 3073059 w 6857455"/>
              <a:gd name="connsiteY142" fmla="*/ 564192 h 874716"/>
              <a:gd name="connsiteX143" fmla="*/ 3182219 w 6857455"/>
              <a:gd name="connsiteY143" fmla="*/ 594862 h 874716"/>
              <a:gd name="connsiteX144" fmla="*/ 3233656 w 6857455"/>
              <a:gd name="connsiteY144" fmla="*/ 599625 h 874716"/>
              <a:gd name="connsiteX145" fmla="*/ 3288332 w 6857455"/>
              <a:gd name="connsiteY145" fmla="*/ 609914 h 874716"/>
              <a:gd name="connsiteX146" fmla="*/ 3423591 w 6857455"/>
              <a:gd name="connsiteY146" fmla="*/ 656015 h 874716"/>
              <a:gd name="connsiteX147" fmla="*/ 3534084 w 6857455"/>
              <a:gd name="connsiteY147" fmla="*/ 653349 h 874716"/>
              <a:gd name="connsiteX148" fmla="*/ 3604571 w 6857455"/>
              <a:gd name="connsiteY148" fmla="*/ 653918 h 874716"/>
              <a:gd name="connsiteX149" fmla="*/ 3688586 w 6857455"/>
              <a:gd name="connsiteY149" fmla="*/ 669160 h 874716"/>
              <a:gd name="connsiteX150" fmla="*/ 3757358 w 6857455"/>
              <a:gd name="connsiteY150" fmla="*/ 691450 h 874716"/>
              <a:gd name="connsiteX151" fmla="*/ 3852421 w 6857455"/>
              <a:gd name="connsiteY151" fmla="*/ 709167 h 874716"/>
              <a:gd name="connsiteX152" fmla="*/ 3947104 w 6857455"/>
              <a:gd name="connsiteY152" fmla="*/ 743267 h 874716"/>
              <a:gd name="connsiteX153" fmla="*/ 4013208 w 6857455"/>
              <a:gd name="connsiteY153" fmla="*/ 769367 h 874716"/>
              <a:gd name="connsiteX154" fmla="*/ 4105222 w 6857455"/>
              <a:gd name="connsiteY154" fmla="*/ 792417 h 874716"/>
              <a:gd name="connsiteX155" fmla="*/ 4246006 w 6857455"/>
              <a:gd name="connsiteY155" fmla="*/ 808610 h 874716"/>
              <a:gd name="connsiteX156" fmla="*/ 4310779 w 6857455"/>
              <a:gd name="connsiteY156" fmla="*/ 810326 h 874716"/>
              <a:gd name="connsiteX157" fmla="*/ 4413272 w 6857455"/>
              <a:gd name="connsiteY157" fmla="*/ 848235 h 874716"/>
              <a:gd name="connsiteX158" fmla="*/ 4457087 w 6857455"/>
              <a:gd name="connsiteY158" fmla="*/ 866524 h 874716"/>
              <a:gd name="connsiteX159" fmla="*/ 4496523 w 6857455"/>
              <a:gd name="connsiteY159" fmla="*/ 851284 h 874716"/>
              <a:gd name="connsiteX160" fmla="*/ 4522050 w 6857455"/>
              <a:gd name="connsiteY160" fmla="*/ 833757 h 874716"/>
              <a:gd name="connsiteX161" fmla="*/ 4602824 w 6857455"/>
              <a:gd name="connsiteY161" fmla="*/ 848618 h 874716"/>
              <a:gd name="connsiteX162" fmla="*/ 4688553 w 6857455"/>
              <a:gd name="connsiteY162" fmla="*/ 864238 h 874716"/>
              <a:gd name="connsiteX163" fmla="*/ 4749895 w 6857455"/>
              <a:gd name="connsiteY163" fmla="*/ 874716 h 874716"/>
              <a:gd name="connsiteX164" fmla="*/ 4826480 w 6857455"/>
              <a:gd name="connsiteY164" fmla="*/ 866334 h 874716"/>
              <a:gd name="connsiteX165" fmla="*/ 4886870 w 6857455"/>
              <a:gd name="connsiteY165" fmla="*/ 862906 h 874716"/>
              <a:gd name="connsiteX166" fmla="*/ 4935639 w 6857455"/>
              <a:gd name="connsiteY166" fmla="*/ 853190 h 874716"/>
              <a:gd name="connsiteX167" fmla="*/ 4952784 w 6857455"/>
              <a:gd name="connsiteY167" fmla="*/ 847473 h 874716"/>
              <a:gd name="connsiteX168" fmla="*/ 5088617 w 6857455"/>
              <a:gd name="connsiteY168" fmla="*/ 802896 h 874716"/>
              <a:gd name="connsiteX169" fmla="*/ 5233781 w 6857455"/>
              <a:gd name="connsiteY169" fmla="*/ 767271 h 874716"/>
              <a:gd name="connsiteX170" fmla="*/ 5327893 w 6857455"/>
              <a:gd name="connsiteY170" fmla="*/ 789752 h 874716"/>
              <a:gd name="connsiteX171" fmla="*/ 5362946 w 6857455"/>
              <a:gd name="connsiteY171" fmla="*/ 789370 h 874716"/>
              <a:gd name="connsiteX172" fmla="*/ 5524115 w 6857455"/>
              <a:gd name="connsiteY172" fmla="*/ 794514 h 874716"/>
              <a:gd name="connsiteX173" fmla="*/ 5552500 w 6857455"/>
              <a:gd name="connsiteY173" fmla="*/ 800038 h 874716"/>
              <a:gd name="connsiteX174" fmla="*/ 5705857 w 6857455"/>
              <a:gd name="connsiteY174" fmla="*/ 777367 h 874716"/>
              <a:gd name="connsiteX175" fmla="*/ 5761485 w 6857455"/>
              <a:gd name="connsiteY175" fmla="*/ 773557 h 874716"/>
              <a:gd name="connsiteX176" fmla="*/ 5812731 w 6857455"/>
              <a:gd name="connsiteY176" fmla="*/ 767271 h 874716"/>
              <a:gd name="connsiteX177" fmla="*/ 5884361 w 6857455"/>
              <a:gd name="connsiteY177" fmla="*/ 765747 h 874716"/>
              <a:gd name="connsiteX178" fmla="*/ 5958660 w 6857455"/>
              <a:gd name="connsiteY178" fmla="*/ 768605 h 874716"/>
              <a:gd name="connsiteX179" fmla="*/ 6041528 w 6857455"/>
              <a:gd name="connsiteY179" fmla="*/ 768033 h 874716"/>
              <a:gd name="connsiteX180" fmla="*/ 6074297 w 6857455"/>
              <a:gd name="connsiteY180" fmla="*/ 763081 h 874716"/>
              <a:gd name="connsiteX181" fmla="*/ 6162880 w 6857455"/>
              <a:gd name="connsiteY181" fmla="*/ 766509 h 874716"/>
              <a:gd name="connsiteX182" fmla="*/ 6209364 w 6857455"/>
              <a:gd name="connsiteY182" fmla="*/ 760795 h 874716"/>
              <a:gd name="connsiteX183" fmla="*/ 6285948 w 6857455"/>
              <a:gd name="connsiteY183" fmla="*/ 759651 h 874716"/>
              <a:gd name="connsiteX184" fmla="*/ 6310905 w 6857455"/>
              <a:gd name="connsiteY184" fmla="*/ 758316 h 874716"/>
              <a:gd name="connsiteX185" fmla="*/ 6333194 w 6857455"/>
              <a:gd name="connsiteY185" fmla="*/ 757554 h 874716"/>
              <a:gd name="connsiteX186" fmla="*/ 6409586 w 6857455"/>
              <a:gd name="connsiteY186" fmla="*/ 773177 h 874716"/>
              <a:gd name="connsiteX187" fmla="*/ 6477407 w 6857455"/>
              <a:gd name="connsiteY187" fmla="*/ 774129 h 874716"/>
              <a:gd name="connsiteX188" fmla="*/ 6596283 w 6857455"/>
              <a:gd name="connsiteY188" fmla="*/ 786703 h 874716"/>
              <a:gd name="connsiteX189" fmla="*/ 6622573 w 6857455"/>
              <a:gd name="connsiteY189" fmla="*/ 782321 h 874716"/>
              <a:gd name="connsiteX190" fmla="*/ 6704872 w 6857455"/>
              <a:gd name="connsiteY190" fmla="*/ 780607 h 874716"/>
              <a:gd name="connsiteX191" fmla="*/ 6751738 w 6857455"/>
              <a:gd name="connsiteY191" fmla="*/ 779273 h 874716"/>
              <a:gd name="connsiteX192" fmla="*/ 6809650 w 6857455"/>
              <a:gd name="connsiteY192" fmla="*/ 788417 h 874716"/>
              <a:gd name="connsiteX193" fmla="*/ 6832976 w 6857455"/>
              <a:gd name="connsiteY193" fmla="*/ 800428 h 874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</a:cxnLst>
            <a:rect l="l" t="t" r="r" b="b"/>
            <a:pathLst>
              <a:path w="6857455" h="874716">
                <a:moveTo>
                  <a:pt x="6857455" y="804643"/>
                </a:moveTo>
                <a:lnTo>
                  <a:pt x="6857455" y="562246"/>
                </a:lnTo>
                <a:lnTo>
                  <a:pt x="6829178" y="551284"/>
                </a:lnTo>
                <a:cubicBezTo>
                  <a:pt x="6805745" y="539044"/>
                  <a:pt x="6784885" y="521708"/>
                  <a:pt x="6766024" y="500372"/>
                </a:cubicBezTo>
                <a:cubicBezTo>
                  <a:pt x="6755166" y="488179"/>
                  <a:pt x="6746784" y="486845"/>
                  <a:pt x="6734971" y="500944"/>
                </a:cubicBezTo>
                <a:cubicBezTo>
                  <a:pt x="6721257" y="517326"/>
                  <a:pt x="6701634" y="510850"/>
                  <a:pt x="6683915" y="507040"/>
                </a:cubicBezTo>
                <a:cubicBezTo>
                  <a:pt x="6665629" y="503230"/>
                  <a:pt x="6647148" y="499228"/>
                  <a:pt x="6628860" y="495418"/>
                </a:cubicBezTo>
                <a:cubicBezTo>
                  <a:pt x="6615335" y="492752"/>
                  <a:pt x="6601999" y="490466"/>
                  <a:pt x="6588662" y="487227"/>
                </a:cubicBezTo>
                <a:cubicBezTo>
                  <a:pt x="6547133" y="477129"/>
                  <a:pt x="6509794" y="480177"/>
                  <a:pt x="6476074" y="511230"/>
                </a:cubicBezTo>
                <a:cubicBezTo>
                  <a:pt x="6450356" y="535043"/>
                  <a:pt x="6417399" y="542093"/>
                  <a:pt x="6382345" y="534853"/>
                </a:cubicBezTo>
                <a:cubicBezTo>
                  <a:pt x="6377963" y="533901"/>
                  <a:pt x="6372439" y="530091"/>
                  <a:pt x="6369391" y="531615"/>
                </a:cubicBezTo>
                <a:cubicBezTo>
                  <a:pt x="6323479" y="553904"/>
                  <a:pt x="6287092" y="514658"/>
                  <a:pt x="6244799" y="512182"/>
                </a:cubicBezTo>
                <a:cubicBezTo>
                  <a:pt x="6226130" y="511040"/>
                  <a:pt x="6207079" y="496942"/>
                  <a:pt x="6190315" y="485703"/>
                </a:cubicBezTo>
                <a:cubicBezTo>
                  <a:pt x="6167262" y="470271"/>
                  <a:pt x="6146687" y="455412"/>
                  <a:pt x="6115446" y="462270"/>
                </a:cubicBezTo>
                <a:cubicBezTo>
                  <a:pt x="6084203" y="469319"/>
                  <a:pt x="6055627" y="456364"/>
                  <a:pt x="6032194" y="434266"/>
                </a:cubicBezTo>
                <a:cubicBezTo>
                  <a:pt x="6014287" y="417501"/>
                  <a:pt x="5994665" y="415977"/>
                  <a:pt x="5971042" y="420738"/>
                </a:cubicBezTo>
                <a:cubicBezTo>
                  <a:pt x="5941513" y="426645"/>
                  <a:pt x="5910842" y="427027"/>
                  <a:pt x="5880933" y="430646"/>
                </a:cubicBezTo>
                <a:cubicBezTo>
                  <a:pt x="5874454" y="431408"/>
                  <a:pt x="5866265" y="434076"/>
                  <a:pt x="5862452" y="438648"/>
                </a:cubicBezTo>
                <a:cubicBezTo>
                  <a:pt x="5815779" y="495418"/>
                  <a:pt x="5750055" y="495990"/>
                  <a:pt x="5685283" y="498658"/>
                </a:cubicBezTo>
                <a:cubicBezTo>
                  <a:pt x="5646039" y="500372"/>
                  <a:pt x="5606604" y="500372"/>
                  <a:pt x="5567169" y="499420"/>
                </a:cubicBezTo>
                <a:cubicBezTo>
                  <a:pt x="5553832" y="499228"/>
                  <a:pt x="5539736" y="496180"/>
                  <a:pt x="5527923" y="490466"/>
                </a:cubicBezTo>
                <a:cubicBezTo>
                  <a:pt x="5503348" y="478463"/>
                  <a:pt x="5480680" y="462843"/>
                  <a:pt x="5456292" y="450650"/>
                </a:cubicBezTo>
                <a:cubicBezTo>
                  <a:pt x="5447151" y="445886"/>
                  <a:pt x="5435338" y="445696"/>
                  <a:pt x="5424670" y="444934"/>
                </a:cubicBezTo>
                <a:cubicBezTo>
                  <a:pt x="5405809" y="443410"/>
                  <a:pt x="5384854" y="447982"/>
                  <a:pt x="5368662" y="441124"/>
                </a:cubicBezTo>
                <a:cubicBezTo>
                  <a:pt x="5326559" y="423407"/>
                  <a:pt x="5287123" y="427407"/>
                  <a:pt x="5247118" y="444934"/>
                </a:cubicBezTo>
                <a:cubicBezTo>
                  <a:pt x="5191108" y="469509"/>
                  <a:pt x="5138148" y="467605"/>
                  <a:pt x="5088617" y="428742"/>
                </a:cubicBezTo>
                <a:cubicBezTo>
                  <a:pt x="5066328" y="411215"/>
                  <a:pt x="5044609" y="419596"/>
                  <a:pt x="5025750" y="433694"/>
                </a:cubicBezTo>
                <a:cubicBezTo>
                  <a:pt x="5004032" y="450078"/>
                  <a:pt x="4982885" y="454268"/>
                  <a:pt x="4957930" y="442268"/>
                </a:cubicBezTo>
                <a:cubicBezTo>
                  <a:pt x="4952404" y="439600"/>
                  <a:pt x="4944594" y="440933"/>
                  <a:pt x="4938116" y="441886"/>
                </a:cubicBezTo>
                <a:cubicBezTo>
                  <a:pt x="4901158" y="446648"/>
                  <a:pt x="4864009" y="454650"/>
                  <a:pt x="4833910" y="421693"/>
                </a:cubicBezTo>
                <a:cubicBezTo>
                  <a:pt x="4828004" y="415214"/>
                  <a:pt x="4818097" y="412549"/>
                  <a:pt x="4810095" y="408167"/>
                </a:cubicBezTo>
                <a:cubicBezTo>
                  <a:pt x="4776566" y="390258"/>
                  <a:pt x="4777900" y="391974"/>
                  <a:pt x="4747991" y="413691"/>
                </a:cubicBezTo>
                <a:cubicBezTo>
                  <a:pt x="4732369" y="425121"/>
                  <a:pt x="4710842" y="436742"/>
                  <a:pt x="4692745" y="435790"/>
                </a:cubicBezTo>
                <a:cubicBezTo>
                  <a:pt x="4583584" y="430075"/>
                  <a:pt x="4479758" y="457508"/>
                  <a:pt x="4375933" y="483417"/>
                </a:cubicBezTo>
                <a:cubicBezTo>
                  <a:pt x="4311923" y="499420"/>
                  <a:pt x="4249436" y="500372"/>
                  <a:pt x="4185426" y="484179"/>
                </a:cubicBezTo>
                <a:cubicBezTo>
                  <a:pt x="4139133" y="472367"/>
                  <a:pt x="4095315" y="491800"/>
                  <a:pt x="4052072" y="505134"/>
                </a:cubicBezTo>
                <a:cubicBezTo>
                  <a:pt x="4043117" y="507799"/>
                  <a:pt x="4034735" y="518278"/>
                  <a:pt x="4029973" y="527233"/>
                </a:cubicBezTo>
                <a:cubicBezTo>
                  <a:pt x="4012826" y="558858"/>
                  <a:pt x="3984441" y="563810"/>
                  <a:pt x="3948626" y="550666"/>
                </a:cubicBezTo>
                <a:cubicBezTo>
                  <a:pt x="3920241" y="540377"/>
                  <a:pt x="3894332" y="526661"/>
                  <a:pt x="3871280" y="502275"/>
                </a:cubicBezTo>
                <a:cubicBezTo>
                  <a:pt x="3844229" y="473701"/>
                  <a:pt x="3816224" y="441124"/>
                  <a:pt x="3774312" y="429122"/>
                </a:cubicBezTo>
                <a:cubicBezTo>
                  <a:pt x="3756214" y="423979"/>
                  <a:pt x="3740593" y="423217"/>
                  <a:pt x="3721543" y="428552"/>
                </a:cubicBezTo>
                <a:cubicBezTo>
                  <a:pt x="3684583" y="438837"/>
                  <a:pt x="3647436" y="446078"/>
                  <a:pt x="3612763" y="414263"/>
                </a:cubicBezTo>
                <a:cubicBezTo>
                  <a:pt x="3593712" y="396736"/>
                  <a:pt x="3567994" y="385496"/>
                  <a:pt x="3537323" y="389878"/>
                </a:cubicBezTo>
                <a:cubicBezTo>
                  <a:pt x="3499031" y="395402"/>
                  <a:pt x="3464168" y="381496"/>
                  <a:pt x="3431593" y="360921"/>
                </a:cubicBezTo>
                <a:cubicBezTo>
                  <a:pt x="3419971" y="353491"/>
                  <a:pt x="3405682" y="349301"/>
                  <a:pt x="3392158" y="345681"/>
                </a:cubicBezTo>
                <a:cubicBezTo>
                  <a:pt x="3360915" y="337298"/>
                  <a:pt x="3329480" y="329868"/>
                  <a:pt x="3297856" y="323010"/>
                </a:cubicBezTo>
                <a:cubicBezTo>
                  <a:pt x="3271948" y="317296"/>
                  <a:pt x="3245849" y="313104"/>
                  <a:pt x="3219748" y="308151"/>
                </a:cubicBezTo>
                <a:cubicBezTo>
                  <a:pt x="3191173" y="302817"/>
                  <a:pt x="3168502" y="290433"/>
                  <a:pt x="3156692" y="261668"/>
                </a:cubicBezTo>
                <a:cubicBezTo>
                  <a:pt x="3152882" y="252524"/>
                  <a:pt x="3143737" y="245283"/>
                  <a:pt x="3136497" y="237663"/>
                </a:cubicBezTo>
                <a:cubicBezTo>
                  <a:pt x="3131355" y="232139"/>
                  <a:pt x="3124495" y="227947"/>
                  <a:pt x="3119733" y="222233"/>
                </a:cubicBezTo>
                <a:cubicBezTo>
                  <a:pt x="3094776" y="192132"/>
                  <a:pt x="3070201" y="161843"/>
                  <a:pt x="3045436" y="131742"/>
                </a:cubicBezTo>
                <a:cubicBezTo>
                  <a:pt x="3042958" y="128884"/>
                  <a:pt x="3040292" y="125455"/>
                  <a:pt x="3037054" y="124121"/>
                </a:cubicBezTo>
                <a:cubicBezTo>
                  <a:pt x="3003525" y="110215"/>
                  <a:pt x="2969614" y="97070"/>
                  <a:pt x="2936466" y="82400"/>
                </a:cubicBezTo>
                <a:cubicBezTo>
                  <a:pt x="2923702" y="76686"/>
                  <a:pt x="2910558" y="69637"/>
                  <a:pt x="2901031" y="59731"/>
                </a:cubicBezTo>
                <a:cubicBezTo>
                  <a:pt x="2879314" y="37250"/>
                  <a:pt x="2859502" y="12866"/>
                  <a:pt x="2828259" y="3149"/>
                </a:cubicBezTo>
                <a:cubicBezTo>
                  <a:pt x="2819114" y="293"/>
                  <a:pt x="2808256" y="-1231"/>
                  <a:pt x="2799492" y="1245"/>
                </a:cubicBezTo>
                <a:cubicBezTo>
                  <a:pt x="2763867" y="11532"/>
                  <a:pt x="2729005" y="24296"/>
                  <a:pt x="2693570" y="35154"/>
                </a:cubicBezTo>
                <a:cubicBezTo>
                  <a:pt x="2671092" y="41823"/>
                  <a:pt x="2650707" y="49825"/>
                  <a:pt x="2639847" y="73448"/>
                </a:cubicBezTo>
                <a:cubicBezTo>
                  <a:pt x="2636801" y="80114"/>
                  <a:pt x="2628226" y="87354"/>
                  <a:pt x="2621178" y="88688"/>
                </a:cubicBezTo>
                <a:cubicBezTo>
                  <a:pt x="2575839" y="97260"/>
                  <a:pt x="2531069" y="101451"/>
                  <a:pt x="2489348" y="72304"/>
                </a:cubicBezTo>
                <a:cubicBezTo>
                  <a:pt x="2480585" y="66017"/>
                  <a:pt x="2464201" y="66017"/>
                  <a:pt x="2452580" y="68683"/>
                </a:cubicBezTo>
                <a:cubicBezTo>
                  <a:pt x="2407811" y="78590"/>
                  <a:pt x="2365328" y="82020"/>
                  <a:pt x="2326464" y="50395"/>
                </a:cubicBezTo>
                <a:cubicBezTo>
                  <a:pt x="2321892" y="46585"/>
                  <a:pt x="2307224" y="50015"/>
                  <a:pt x="2300365" y="54777"/>
                </a:cubicBezTo>
                <a:cubicBezTo>
                  <a:pt x="2234259" y="101261"/>
                  <a:pt x="2198064" y="102405"/>
                  <a:pt x="2130434" y="58397"/>
                </a:cubicBezTo>
                <a:cubicBezTo>
                  <a:pt x="2126052" y="55539"/>
                  <a:pt x="2120337" y="52301"/>
                  <a:pt x="2118621" y="47919"/>
                </a:cubicBezTo>
                <a:cubicBezTo>
                  <a:pt x="2107001" y="19914"/>
                  <a:pt x="2082236" y="19152"/>
                  <a:pt x="2057659" y="16866"/>
                </a:cubicBezTo>
                <a:cubicBezTo>
                  <a:pt x="2030608" y="14390"/>
                  <a:pt x="2003555" y="11152"/>
                  <a:pt x="1976314" y="8865"/>
                </a:cubicBezTo>
                <a:cubicBezTo>
                  <a:pt x="1971550" y="8483"/>
                  <a:pt x="1966216" y="10007"/>
                  <a:pt x="1961454" y="11724"/>
                </a:cubicBezTo>
                <a:cubicBezTo>
                  <a:pt x="1943165" y="18010"/>
                  <a:pt x="1925449" y="27154"/>
                  <a:pt x="1906588" y="30964"/>
                </a:cubicBezTo>
                <a:cubicBezTo>
                  <a:pt x="1865821" y="39156"/>
                  <a:pt x="1826385" y="55539"/>
                  <a:pt x="1783330" y="48871"/>
                </a:cubicBezTo>
                <a:cubicBezTo>
                  <a:pt x="1775902" y="47729"/>
                  <a:pt x="1767327" y="53253"/>
                  <a:pt x="1759327" y="55349"/>
                </a:cubicBezTo>
                <a:cubicBezTo>
                  <a:pt x="1744849" y="58969"/>
                  <a:pt x="1730750" y="64111"/>
                  <a:pt x="1716082" y="65445"/>
                </a:cubicBezTo>
                <a:cubicBezTo>
                  <a:pt x="1677218" y="68875"/>
                  <a:pt x="1637975" y="71924"/>
                  <a:pt x="1598920" y="72114"/>
                </a:cubicBezTo>
                <a:cubicBezTo>
                  <a:pt x="1580061" y="72304"/>
                  <a:pt x="1561201" y="65065"/>
                  <a:pt x="1542150" y="62207"/>
                </a:cubicBezTo>
                <a:cubicBezTo>
                  <a:pt x="1533578" y="60873"/>
                  <a:pt x="1519669" y="58587"/>
                  <a:pt x="1516813" y="62779"/>
                </a:cubicBezTo>
                <a:cubicBezTo>
                  <a:pt x="1494714" y="94592"/>
                  <a:pt x="1463661" y="88496"/>
                  <a:pt x="1432228" y="88116"/>
                </a:cubicBezTo>
                <a:cubicBezTo>
                  <a:pt x="1362884" y="87354"/>
                  <a:pt x="1295826" y="60493"/>
                  <a:pt x="1224765" y="71924"/>
                </a:cubicBezTo>
                <a:cubicBezTo>
                  <a:pt x="1204191" y="75162"/>
                  <a:pt x="1181330" y="62397"/>
                  <a:pt x="1159231" y="58207"/>
                </a:cubicBezTo>
                <a:cubicBezTo>
                  <a:pt x="1147801" y="56111"/>
                  <a:pt x="1135228" y="53633"/>
                  <a:pt x="1124370" y="56301"/>
                </a:cubicBezTo>
                <a:cubicBezTo>
                  <a:pt x="1107605" y="60493"/>
                  <a:pt x="1091411" y="68113"/>
                  <a:pt x="1075600" y="75542"/>
                </a:cubicBezTo>
                <a:cubicBezTo>
                  <a:pt x="1046261" y="89258"/>
                  <a:pt x="1016162" y="89258"/>
                  <a:pt x="986633" y="79162"/>
                </a:cubicBezTo>
                <a:cubicBezTo>
                  <a:pt x="944722" y="64873"/>
                  <a:pt x="903193" y="64873"/>
                  <a:pt x="861089" y="76304"/>
                </a:cubicBezTo>
                <a:cubicBezTo>
                  <a:pt x="826990" y="85638"/>
                  <a:pt x="791935" y="92116"/>
                  <a:pt x="759168" y="104689"/>
                </a:cubicBezTo>
                <a:cubicBezTo>
                  <a:pt x="744689" y="110215"/>
                  <a:pt x="732497" y="126597"/>
                  <a:pt x="723735" y="140696"/>
                </a:cubicBezTo>
                <a:cubicBezTo>
                  <a:pt x="706018" y="169271"/>
                  <a:pt x="674013" y="169081"/>
                  <a:pt x="647532" y="147934"/>
                </a:cubicBezTo>
                <a:cubicBezTo>
                  <a:pt x="619717" y="125645"/>
                  <a:pt x="584664" y="112501"/>
                  <a:pt x="552659" y="95926"/>
                </a:cubicBezTo>
                <a:cubicBezTo>
                  <a:pt x="549993" y="94592"/>
                  <a:pt x="545039" y="96116"/>
                  <a:pt x="541800" y="97640"/>
                </a:cubicBezTo>
                <a:cubicBezTo>
                  <a:pt x="488649" y="122407"/>
                  <a:pt x="433593" y="126979"/>
                  <a:pt x="375107" y="123169"/>
                </a:cubicBezTo>
                <a:cubicBezTo>
                  <a:pt x="341960" y="121073"/>
                  <a:pt x="307289" y="137076"/>
                  <a:pt x="273567" y="145458"/>
                </a:cubicBezTo>
                <a:cubicBezTo>
                  <a:pt x="269757" y="146410"/>
                  <a:pt x="266519" y="151174"/>
                  <a:pt x="264043" y="154792"/>
                </a:cubicBezTo>
                <a:cubicBezTo>
                  <a:pt x="240228" y="190800"/>
                  <a:pt x="208223" y="200706"/>
                  <a:pt x="169360" y="177273"/>
                </a:cubicBezTo>
                <a:cubicBezTo>
                  <a:pt x="143643" y="161651"/>
                  <a:pt x="118114" y="158032"/>
                  <a:pt x="89347" y="157460"/>
                </a:cubicBezTo>
                <a:cubicBezTo>
                  <a:pt x="71059" y="157078"/>
                  <a:pt x="52962" y="147934"/>
                  <a:pt x="34291" y="145268"/>
                </a:cubicBezTo>
                <a:lnTo>
                  <a:pt x="0" y="142056"/>
                </a:lnTo>
                <a:lnTo>
                  <a:pt x="0" y="849556"/>
                </a:lnTo>
                <a:lnTo>
                  <a:pt x="60652" y="844783"/>
                </a:lnTo>
                <a:cubicBezTo>
                  <a:pt x="80251" y="839473"/>
                  <a:pt x="99446" y="832043"/>
                  <a:pt x="119068" y="827281"/>
                </a:cubicBezTo>
                <a:cubicBezTo>
                  <a:pt x="137355" y="822899"/>
                  <a:pt x="154501" y="812802"/>
                  <a:pt x="171840" y="804420"/>
                </a:cubicBezTo>
                <a:cubicBezTo>
                  <a:pt x="204985" y="788417"/>
                  <a:pt x="240420" y="798514"/>
                  <a:pt x="274329" y="794324"/>
                </a:cubicBezTo>
                <a:cubicBezTo>
                  <a:pt x="285188" y="792990"/>
                  <a:pt x="296046" y="791466"/>
                  <a:pt x="306715" y="788798"/>
                </a:cubicBezTo>
                <a:cubicBezTo>
                  <a:pt x="335864" y="781749"/>
                  <a:pt x="365583" y="775653"/>
                  <a:pt x="393967" y="765937"/>
                </a:cubicBezTo>
                <a:cubicBezTo>
                  <a:pt x="426165" y="755078"/>
                  <a:pt x="457028" y="740600"/>
                  <a:pt x="493793" y="725549"/>
                </a:cubicBezTo>
                <a:cubicBezTo>
                  <a:pt x="506557" y="729360"/>
                  <a:pt x="526180" y="739648"/>
                  <a:pt x="546373" y="740600"/>
                </a:cubicBezTo>
                <a:cubicBezTo>
                  <a:pt x="611337" y="743838"/>
                  <a:pt x="672107" y="726121"/>
                  <a:pt x="730211" y="698116"/>
                </a:cubicBezTo>
                <a:cubicBezTo>
                  <a:pt x="747927" y="689734"/>
                  <a:pt x="766980" y="684210"/>
                  <a:pt x="784889" y="676018"/>
                </a:cubicBezTo>
                <a:cubicBezTo>
                  <a:pt x="791173" y="673161"/>
                  <a:pt x="799365" y="667065"/>
                  <a:pt x="800509" y="661349"/>
                </a:cubicBezTo>
                <a:cubicBezTo>
                  <a:pt x="807175" y="628201"/>
                  <a:pt x="831942" y="628772"/>
                  <a:pt x="857661" y="626868"/>
                </a:cubicBezTo>
                <a:cubicBezTo>
                  <a:pt x="888332" y="624582"/>
                  <a:pt x="918621" y="619248"/>
                  <a:pt x="949102" y="614676"/>
                </a:cubicBezTo>
                <a:cubicBezTo>
                  <a:pt x="953104" y="614104"/>
                  <a:pt x="956722" y="610104"/>
                  <a:pt x="960342" y="607435"/>
                </a:cubicBezTo>
                <a:cubicBezTo>
                  <a:pt x="965867" y="603435"/>
                  <a:pt x="971011" y="597339"/>
                  <a:pt x="977109" y="595815"/>
                </a:cubicBezTo>
                <a:cubicBezTo>
                  <a:pt x="1008350" y="588385"/>
                  <a:pt x="1039783" y="582099"/>
                  <a:pt x="1071218" y="575240"/>
                </a:cubicBezTo>
                <a:cubicBezTo>
                  <a:pt x="1078266" y="573716"/>
                  <a:pt x="1085505" y="571812"/>
                  <a:pt x="1091983" y="568764"/>
                </a:cubicBezTo>
                <a:cubicBezTo>
                  <a:pt x="1098079" y="565906"/>
                  <a:pt x="1103223" y="560952"/>
                  <a:pt x="1109321" y="557904"/>
                </a:cubicBezTo>
                <a:cubicBezTo>
                  <a:pt x="1125892" y="549714"/>
                  <a:pt x="1142851" y="542093"/>
                  <a:pt x="1162279" y="532949"/>
                </a:cubicBezTo>
                <a:cubicBezTo>
                  <a:pt x="1173138" y="550094"/>
                  <a:pt x="1187810" y="540377"/>
                  <a:pt x="1206097" y="532187"/>
                </a:cubicBezTo>
                <a:cubicBezTo>
                  <a:pt x="1224765" y="523805"/>
                  <a:pt x="1246292" y="521137"/>
                  <a:pt x="1266867" y="518088"/>
                </a:cubicBezTo>
                <a:cubicBezTo>
                  <a:pt x="1304588" y="512564"/>
                  <a:pt x="1342499" y="509134"/>
                  <a:pt x="1380219" y="504182"/>
                </a:cubicBezTo>
                <a:cubicBezTo>
                  <a:pt x="1388221" y="503038"/>
                  <a:pt x="1397365" y="500944"/>
                  <a:pt x="1403461" y="496180"/>
                </a:cubicBezTo>
                <a:cubicBezTo>
                  <a:pt x="1445181" y="464175"/>
                  <a:pt x="1495858" y="455222"/>
                  <a:pt x="1544054" y="458268"/>
                </a:cubicBezTo>
                <a:cubicBezTo>
                  <a:pt x="1581965" y="460557"/>
                  <a:pt x="1619114" y="462270"/>
                  <a:pt x="1656644" y="459032"/>
                </a:cubicBezTo>
                <a:cubicBezTo>
                  <a:pt x="1659502" y="458841"/>
                  <a:pt x="1663312" y="459223"/>
                  <a:pt x="1665406" y="460747"/>
                </a:cubicBezTo>
                <a:cubicBezTo>
                  <a:pt x="1678360" y="470843"/>
                  <a:pt x="1691887" y="471605"/>
                  <a:pt x="1708461" y="473318"/>
                </a:cubicBezTo>
                <a:cubicBezTo>
                  <a:pt x="1731894" y="475797"/>
                  <a:pt x="1753421" y="474081"/>
                  <a:pt x="1775140" y="469891"/>
                </a:cubicBezTo>
                <a:cubicBezTo>
                  <a:pt x="1790952" y="466843"/>
                  <a:pt x="1806953" y="460557"/>
                  <a:pt x="1821051" y="452554"/>
                </a:cubicBezTo>
                <a:cubicBezTo>
                  <a:pt x="1840672" y="441314"/>
                  <a:pt x="1859535" y="436934"/>
                  <a:pt x="1878203" y="451792"/>
                </a:cubicBezTo>
                <a:cubicBezTo>
                  <a:pt x="1898396" y="467605"/>
                  <a:pt x="1921257" y="462081"/>
                  <a:pt x="1943547" y="462651"/>
                </a:cubicBezTo>
                <a:cubicBezTo>
                  <a:pt x="1953262" y="462843"/>
                  <a:pt x="1963550" y="462461"/>
                  <a:pt x="1972884" y="464937"/>
                </a:cubicBezTo>
                <a:cubicBezTo>
                  <a:pt x="1999935" y="471987"/>
                  <a:pt x="2026036" y="482655"/>
                  <a:pt x="2053469" y="487417"/>
                </a:cubicBezTo>
                <a:cubicBezTo>
                  <a:pt x="2068710" y="490084"/>
                  <a:pt x="2085664" y="485321"/>
                  <a:pt x="2101477" y="481893"/>
                </a:cubicBezTo>
                <a:cubicBezTo>
                  <a:pt x="2117479" y="478273"/>
                  <a:pt x="2133290" y="472749"/>
                  <a:pt x="2148722" y="467033"/>
                </a:cubicBezTo>
                <a:cubicBezTo>
                  <a:pt x="2159199" y="463223"/>
                  <a:pt x="2170629" y="459603"/>
                  <a:pt x="2179011" y="452744"/>
                </a:cubicBezTo>
                <a:cubicBezTo>
                  <a:pt x="2198064" y="437124"/>
                  <a:pt x="2217685" y="434455"/>
                  <a:pt x="2240165" y="442648"/>
                </a:cubicBezTo>
                <a:cubicBezTo>
                  <a:pt x="2243593" y="443982"/>
                  <a:pt x="2247594" y="443982"/>
                  <a:pt x="2251404" y="444172"/>
                </a:cubicBezTo>
                <a:cubicBezTo>
                  <a:pt x="2312370" y="448172"/>
                  <a:pt x="2373330" y="450650"/>
                  <a:pt x="2433912" y="456746"/>
                </a:cubicBezTo>
                <a:cubicBezTo>
                  <a:pt x="2458485" y="459223"/>
                  <a:pt x="2482107" y="470081"/>
                  <a:pt x="2506302" y="476939"/>
                </a:cubicBezTo>
                <a:cubicBezTo>
                  <a:pt x="2511256" y="478273"/>
                  <a:pt x="2516783" y="480369"/>
                  <a:pt x="2521735" y="479415"/>
                </a:cubicBezTo>
                <a:cubicBezTo>
                  <a:pt x="2575647" y="469891"/>
                  <a:pt x="2626132" y="483797"/>
                  <a:pt x="2675854" y="502086"/>
                </a:cubicBezTo>
                <a:cubicBezTo>
                  <a:pt x="2680996" y="503992"/>
                  <a:pt x="2687282" y="503419"/>
                  <a:pt x="2692998" y="503038"/>
                </a:cubicBezTo>
                <a:cubicBezTo>
                  <a:pt x="2709003" y="501706"/>
                  <a:pt x="2726337" y="495038"/>
                  <a:pt x="2740816" y="499037"/>
                </a:cubicBezTo>
                <a:cubicBezTo>
                  <a:pt x="2779297" y="510088"/>
                  <a:pt x="2817398" y="523423"/>
                  <a:pt x="2853596" y="540187"/>
                </a:cubicBezTo>
                <a:cubicBezTo>
                  <a:pt x="2890365" y="557142"/>
                  <a:pt x="2924464" y="571430"/>
                  <a:pt x="2966565" y="554286"/>
                </a:cubicBezTo>
                <a:cubicBezTo>
                  <a:pt x="2984472" y="547045"/>
                  <a:pt x="3008095" y="552190"/>
                  <a:pt x="3028671" y="554094"/>
                </a:cubicBezTo>
                <a:cubicBezTo>
                  <a:pt x="3043720" y="555618"/>
                  <a:pt x="3058198" y="564192"/>
                  <a:pt x="3073059" y="564192"/>
                </a:cubicBezTo>
                <a:cubicBezTo>
                  <a:pt x="3112686" y="564192"/>
                  <a:pt x="3147927" y="574288"/>
                  <a:pt x="3182219" y="594862"/>
                </a:cubicBezTo>
                <a:cubicBezTo>
                  <a:pt x="3195557" y="602863"/>
                  <a:pt x="3216322" y="597529"/>
                  <a:pt x="3233656" y="599625"/>
                </a:cubicBezTo>
                <a:cubicBezTo>
                  <a:pt x="3251947" y="602101"/>
                  <a:pt x="3270804" y="604387"/>
                  <a:pt x="3288332" y="609914"/>
                </a:cubicBezTo>
                <a:cubicBezTo>
                  <a:pt x="3333672" y="624392"/>
                  <a:pt x="3378441" y="640774"/>
                  <a:pt x="3423591" y="656015"/>
                </a:cubicBezTo>
                <a:cubicBezTo>
                  <a:pt x="3460738" y="668590"/>
                  <a:pt x="3497317" y="658683"/>
                  <a:pt x="3534084" y="653349"/>
                </a:cubicBezTo>
                <a:cubicBezTo>
                  <a:pt x="3557137" y="649919"/>
                  <a:pt x="3578662" y="641727"/>
                  <a:pt x="3604571" y="653918"/>
                </a:cubicBezTo>
                <a:cubicBezTo>
                  <a:pt x="3629338" y="665541"/>
                  <a:pt x="3660771" y="662873"/>
                  <a:pt x="3688586" y="669160"/>
                </a:cubicBezTo>
                <a:cubicBezTo>
                  <a:pt x="3712020" y="674494"/>
                  <a:pt x="3734687" y="683068"/>
                  <a:pt x="3757358" y="691450"/>
                </a:cubicBezTo>
                <a:cubicBezTo>
                  <a:pt x="3788221" y="702881"/>
                  <a:pt x="3818700" y="714881"/>
                  <a:pt x="3852421" y="709167"/>
                </a:cubicBezTo>
                <a:cubicBezTo>
                  <a:pt x="3890714" y="702689"/>
                  <a:pt x="3917001" y="727073"/>
                  <a:pt x="3947104" y="743267"/>
                </a:cubicBezTo>
                <a:cubicBezTo>
                  <a:pt x="3967869" y="754316"/>
                  <a:pt x="3990538" y="762509"/>
                  <a:pt x="4013208" y="769367"/>
                </a:cubicBezTo>
                <a:cubicBezTo>
                  <a:pt x="4043497" y="778321"/>
                  <a:pt x="4074740" y="783655"/>
                  <a:pt x="4105222" y="792417"/>
                </a:cubicBezTo>
                <a:cubicBezTo>
                  <a:pt x="4151325" y="805561"/>
                  <a:pt x="4198001" y="815850"/>
                  <a:pt x="4246006" y="808610"/>
                </a:cubicBezTo>
                <a:cubicBezTo>
                  <a:pt x="4268105" y="805372"/>
                  <a:pt x="4288682" y="805561"/>
                  <a:pt x="4310779" y="810326"/>
                </a:cubicBezTo>
                <a:cubicBezTo>
                  <a:pt x="4346974" y="818136"/>
                  <a:pt x="4384123" y="819089"/>
                  <a:pt x="4413272" y="848235"/>
                </a:cubicBezTo>
                <a:cubicBezTo>
                  <a:pt x="4423558" y="858524"/>
                  <a:pt x="4442037" y="861190"/>
                  <a:pt x="4457087" y="866524"/>
                </a:cubicBezTo>
                <a:cubicBezTo>
                  <a:pt x="4474424" y="872812"/>
                  <a:pt x="4487186" y="869572"/>
                  <a:pt x="4496523" y="851284"/>
                </a:cubicBezTo>
                <a:cubicBezTo>
                  <a:pt x="4500713" y="843093"/>
                  <a:pt x="4512715" y="835091"/>
                  <a:pt x="4522050" y="833757"/>
                </a:cubicBezTo>
                <a:cubicBezTo>
                  <a:pt x="4550055" y="829757"/>
                  <a:pt x="4575773" y="835663"/>
                  <a:pt x="4602824" y="848618"/>
                </a:cubicBezTo>
                <a:cubicBezTo>
                  <a:pt x="4628161" y="860810"/>
                  <a:pt x="4659786" y="859476"/>
                  <a:pt x="4688553" y="864238"/>
                </a:cubicBezTo>
                <a:cubicBezTo>
                  <a:pt x="4708936" y="867668"/>
                  <a:pt x="4729321" y="874716"/>
                  <a:pt x="4749895" y="874716"/>
                </a:cubicBezTo>
                <a:cubicBezTo>
                  <a:pt x="4775424" y="874716"/>
                  <a:pt x="4800761" y="868620"/>
                  <a:pt x="4826480" y="866334"/>
                </a:cubicBezTo>
                <a:cubicBezTo>
                  <a:pt x="4846482" y="864430"/>
                  <a:pt x="4866867" y="865192"/>
                  <a:pt x="4886870" y="862906"/>
                </a:cubicBezTo>
                <a:cubicBezTo>
                  <a:pt x="4903254" y="861190"/>
                  <a:pt x="4919447" y="856810"/>
                  <a:pt x="4935639" y="853190"/>
                </a:cubicBezTo>
                <a:cubicBezTo>
                  <a:pt x="4941546" y="851856"/>
                  <a:pt x="4947452" y="846711"/>
                  <a:pt x="4952784" y="847473"/>
                </a:cubicBezTo>
                <a:cubicBezTo>
                  <a:pt x="5005745" y="855666"/>
                  <a:pt x="5043847" y="819089"/>
                  <a:pt x="5088617" y="802896"/>
                </a:cubicBezTo>
                <a:cubicBezTo>
                  <a:pt x="5135672" y="785749"/>
                  <a:pt x="5181204" y="759461"/>
                  <a:pt x="5233781" y="767271"/>
                </a:cubicBezTo>
                <a:cubicBezTo>
                  <a:pt x="5265596" y="772033"/>
                  <a:pt x="5296267" y="783083"/>
                  <a:pt x="5327893" y="789752"/>
                </a:cubicBezTo>
                <a:cubicBezTo>
                  <a:pt x="5339132" y="792038"/>
                  <a:pt x="5351705" y="791656"/>
                  <a:pt x="5362946" y="789370"/>
                </a:cubicBezTo>
                <a:cubicBezTo>
                  <a:pt x="5417240" y="778891"/>
                  <a:pt x="5470771" y="777367"/>
                  <a:pt x="5524115" y="794514"/>
                </a:cubicBezTo>
                <a:cubicBezTo>
                  <a:pt x="5533257" y="797372"/>
                  <a:pt x="5542974" y="800038"/>
                  <a:pt x="5552500" y="800038"/>
                </a:cubicBezTo>
                <a:cubicBezTo>
                  <a:pt x="5604697" y="800038"/>
                  <a:pt x="5655944" y="796038"/>
                  <a:pt x="5705857" y="777367"/>
                </a:cubicBezTo>
                <a:cubicBezTo>
                  <a:pt x="5722622" y="771080"/>
                  <a:pt x="5743006" y="775081"/>
                  <a:pt x="5761485" y="773557"/>
                </a:cubicBezTo>
                <a:cubicBezTo>
                  <a:pt x="5778629" y="772224"/>
                  <a:pt x="5796156" y="771653"/>
                  <a:pt x="5812731" y="767271"/>
                </a:cubicBezTo>
                <a:cubicBezTo>
                  <a:pt x="5836925" y="760795"/>
                  <a:pt x="5859404" y="760033"/>
                  <a:pt x="5884361" y="765747"/>
                </a:cubicBezTo>
                <a:cubicBezTo>
                  <a:pt x="5908174" y="771080"/>
                  <a:pt x="5933892" y="768415"/>
                  <a:pt x="5958660" y="768605"/>
                </a:cubicBezTo>
                <a:cubicBezTo>
                  <a:pt x="5986282" y="768795"/>
                  <a:pt x="6013906" y="768984"/>
                  <a:pt x="6041528" y="768033"/>
                </a:cubicBezTo>
                <a:cubicBezTo>
                  <a:pt x="6052579" y="767653"/>
                  <a:pt x="6065151" y="760033"/>
                  <a:pt x="6074297" y="763081"/>
                </a:cubicBezTo>
                <a:cubicBezTo>
                  <a:pt x="6103824" y="773366"/>
                  <a:pt x="6133353" y="760985"/>
                  <a:pt x="6162880" y="766509"/>
                </a:cubicBezTo>
                <a:cubicBezTo>
                  <a:pt x="6177360" y="769367"/>
                  <a:pt x="6193743" y="761557"/>
                  <a:pt x="6209364" y="760795"/>
                </a:cubicBezTo>
                <a:cubicBezTo>
                  <a:pt x="6234892" y="759461"/>
                  <a:pt x="6260419" y="760033"/>
                  <a:pt x="6285948" y="759651"/>
                </a:cubicBezTo>
                <a:cubicBezTo>
                  <a:pt x="6294330" y="759461"/>
                  <a:pt x="6302523" y="758699"/>
                  <a:pt x="6310905" y="758316"/>
                </a:cubicBezTo>
                <a:cubicBezTo>
                  <a:pt x="6318335" y="757936"/>
                  <a:pt x="6326145" y="756222"/>
                  <a:pt x="6333194" y="757554"/>
                </a:cubicBezTo>
                <a:cubicBezTo>
                  <a:pt x="6358723" y="762318"/>
                  <a:pt x="6383869" y="770129"/>
                  <a:pt x="6409586" y="773177"/>
                </a:cubicBezTo>
                <a:cubicBezTo>
                  <a:pt x="6431875" y="775843"/>
                  <a:pt x="6454928" y="772224"/>
                  <a:pt x="6477407" y="774129"/>
                </a:cubicBezTo>
                <a:cubicBezTo>
                  <a:pt x="6517032" y="777367"/>
                  <a:pt x="6556657" y="783083"/>
                  <a:pt x="6596283" y="786703"/>
                </a:cubicBezTo>
                <a:cubicBezTo>
                  <a:pt x="6604857" y="787465"/>
                  <a:pt x="6613809" y="782701"/>
                  <a:pt x="6622573" y="782321"/>
                </a:cubicBezTo>
                <a:cubicBezTo>
                  <a:pt x="6650006" y="781369"/>
                  <a:pt x="6677439" y="781177"/>
                  <a:pt x="6704872" y="780607"/>
                </a:cubicBezTo>
                <a:cubicBezTo>
                  <a:pt x="6720493" y="780415"/>
                  <a:pt x="6736305" y="780987"/>
                  <a:pt x="6751738" y="779273"/>
                </a:cubicBezTo>
                <a:cubicBezTo>
                  <a:pt x="6772120" y="776987"/>
                  <a:pt x="6790599" y="773557"/>
                  <a:pt x="6809650" y="788417"/>
                </a:cubicBezTo>
                <a:cubicBezTo>
                  <a:pt x="6816984" y="794180"/>
                  <a:pt x="6824819" y="797942"/>
                  <a:pt x="6832976" y="800428"/>
                </a:cubicBezTo>
                <a:close/>
              </a:path>
            </a:pathLst>
          </a:custGeom>
          <a:blipFill dpi="0" rotWithShape="1">
            <a:blip r:embed="rId3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2AF944C-89CF-9F34-39B8-EA08D6E03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49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664186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9FE420-C5AA-B0A7-24A0-048368F0D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游ゴシック Light"/>
              </a:rPr>
              <a:t>質疑応答</a:t>
            </a:r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7E936C36-353A-44CC-A73E-EFC7E2703E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6666" y="1687582"/>
            <a:ext cx="3914669" cy="2192338"/>
          </a:xfrm>
          <a:prstGeom prst="rect">
            <a:avLst/>
          </a:prstGeom>
        </p:spPr>
      </p:pic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3B52D7-87E2-3308-4D40-A0DD24845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50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B7AE8BC-DDDC-3562-43DD-675468318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783" y="531467"/>
            <a:ext cx="4163392" cy="236606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5B5208CD-79FE-E831-F7CA-2145A5D115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174" y="3203989"/>
            <a:ext cx="4886740" cy="274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7799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73CBD9-9A40-C49E-3409-CD4B57CEB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バックアップ資料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7DC06DD-F4FE-861A-E223-439C7EEC4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B5AEDF0-7E65-E756-51DD-DF1275B43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51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06925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746EE6-C74F-6CD0-A848-488E3F057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游ゴシック"/>
                <a:ea typeface="游ゴシック"/>
              </a:rPr>
              <a:t>バックアップ：エネルギー帯と測定の意味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9023EF8-AE5C-6DFB-A4F1-26999BF6A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 wrap="square">
            <a:normAutofit/>
          </a:bodyPr>
          <a:lstStyle/>
          <a:p>
            <a:pPr/>
            <a:r>
              <a:rPr sz="1800" i="0">
                <a:latin typeface="游ゴシック"/>
                <a:ea typeface="游ゴシック"/>
              </a:rPr>
              <a:t>熱中性子とMeV中性子を分けて測る理由</a:t>
            </a:r>
          </a:p>
          <a:p>
            <a:pPr/>
            <a:r>
              <a:rPr sz="1800" i="0">
                <a:latin typeface="游ゴシック"/>
                <a:ea typeface="游ゴシック"/>
              </a:rPr>
              <a:t>　・減速・熱化の過程でスペクトルが変わるため、帯ごとの振る舞いが異なる</a:t>
            </a:r>
          </a:p>
          <a:p>
            <a:pPr/>
            <a:r>
              <a:rPr sz="1800" i="0">
                <a:latin typeface="游ゴシック"/>
                <a:ea typeface="游ゴシック"/>
              </a:rPr>
              <a:t>　・深い地下ではミューオン起因の成分が相対的に効き、帯によって見え方が変わる</a:t>
            </a:r>
          </a:p>
          <a:p>
            <a:pPr/>
            <a:r>
              <a:rPr sz="1800" i="0">
                <a:latin typeface="游ゴシック"/>
                <a:ea typeface="游ゴシック"/>
              </a:rPr>
              <a:t/>
            </a:r>
          </a:p>
          <a:p>
            <a:pPr/>
            <a:r>
              <a:rPr sz="1800" i="0">
                <a:latin typeface="游ゴシック"/>
                <a:ea typeface="游ゴシック"/>
              </a:rPr>
              <a:t>本質的には、高エネルギー中性子が減速した末の成分を³Heで見ている</a:t>
            </a:r>
          </a:p>
          <a:p>
            <a:pPr/>
            <a:r>
              <a:rPr sz="1800" i="0">
                <a:latin typeface="游ゴシック"/>
                <a:ea typeface="游ゴシック"/>
              </a:rPr>
              <a:t>（EXPACS等の地上スペクトルとの対応は今後の課題）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E5B3B81-480A-8881-1451-0C6F0D30E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52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708315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164458-63BD-1068-418E-910C8985B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717F8FE5-C472-24B4-CFF7-B24B3691B4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6259" y="1943894"/>
            <a:ext cx="4999482" cy="4114800"/>
          </a:xfrm>
          <a:prstGeom prst="rect">
            <a:avLst/>
          </a:prstGeom>
        </p:spPr>
      </p:pic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84A4B8A-AB6F-9BFB-5805-9B47EDC3F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53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549389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031FF-B4DA-8F62-FACB-94856B662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293FBB-94FE-2B65-A903-CA013F243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358" y="355981"/>
            <a:ext cx="10348441" cy="1325563"/>
          </a:xfrm>
        </p:spPr>
        <p:txBody>
          <a:bodyPr/>
          <a:lstStyle/>
          <a:p>
            <a:r>
              <a:rPr kumimoji="1" lang="ja-JP" altLang="en-US" b="1" u="sng"/>
              <a:t>測定原理</a:t>
            </a:r>
            <a:r>
              <a:rPr lang="ja-JP" altLang="en-US" b="1" u="sng"/>
              <a:t> </a:t>
            </a:r>
            <a:r>
              <a:rPr lang="en-US" altLang="ja-JP" b="1" u="sng"/>
              <a:t>:</a:t>
            </a:r>
            <a:r>
              <a:rPr lang="ja-JP" altLang="en-US" b="1" u="sng"/>
              <a:t> </a:t>
            </a:r>
            <a:r>
              <a:rPr kumimoji="1" lang="ja-JP" altLang="en-US" b="1" u="sng"/>
              <a:t>壁効果（パルスの下端）</a:t>
            </a:r>
          </a:p>
        </p:txBody>
      </p:sp>
      <p:sp>
        <p:nvSpPr>
          <p:cNvPr id="4" name="円柱 3">
            <a:extLst>
              <a:ext uri="{FF2B5EF4-FFF2-40B4-BE49-F238E27FC236}">
                <a16:creationId xmlns:a16="http://schemas.microsoft.com/office/drawing/2014/main" id="{0ACACE93-EDB5-F085-4F57-7066FD57CA33}"/>
              </a:ext>
            </a:extLst>
          </p:cNvPr>
          <p:cNvSpPr/>
          <p:nvPr/>
        </p:nvSpPr>
        <p:spPr>
          <a:xfrm rot="16200000">
            <a:off x="8339845" y="1642522"/>
            <a:ext cx="2605549" cy="4569542"/>
          </a:xfrm>
          <a:prstGeom prst="can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A732ED62-5AF9-CF3D-A344-D0221ABDF005}"/>
              </a:ext>
            </a:extLst>
          </p:cNvPr>
          <p:cNvGrpSpPr/>
          <p:nvPr/>
        </p:nvGrpSpPr>
        <p:grpSpPr>
          <a:xfrm>
            <a:off x="11121138" y="4415115"/>
            <a:ext cx="583796" cy="606476"/>
            <a:chOff x="8740877" y="3392360"/>
            <a:chExt cx="583796" cy="606476"/>
          </a:xfrm>
        </p:grpSpPr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9E9F5A44-2322-B69E-9C11-D932E4C8F283}"/>
                </a:ext>
              </a:extLst>
            </p:cNvPr>
            <p:cNvSpPr/>
            <p:nvPr/>
          </p:nvSpPr>
          <p:spPr>
            <a:xfrm>
              <a:off x="8740877" y="3569110"/>
              <a:ext cx="314633" cy="3121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楕円 16">
              <a:extLst>
                <a:ext uri="{FF2B5EF4-FFF2-40B4-BE49-F238E27FC236}">
                  <a16:creationId xmlns:a16="http://schemas.microsoft.com/office/drawing/2014/main" id="{16F53B99-F388-52A7-4DD3-004AF0F692EE}"/>
                </a:ext>
              </a:extLst>
            </p:cNvPr>
            <p:cNvSpPr/>
            <p:nvPr/>
          </p:nvSpPr>
          <p:spPr>
            <a:xfrm>
              <a:off x="9010040" y="3686662"/>
              <a:ext cx="314633" cy="31217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楕円 17">
              <a:extLst>
                <a:ext uri="{FF2B5EF4-FFF2-40B4-BE49-F238E27FC236}">
                  <a16:creationId xmlns:a16="http://schemas.microsoft.com/office/drawing/2014/main" id="{C7826EA6-129E-3AD6-8474-59E646BE91E9}"/>
                </a:ext>
              </a:extLst>
            </p:cNvPr>
            <p:cNvSpPr/>
            <p:nvPr/>
          </p:nvSpPr>
          <p:spPr>
            <a:xfrm>
              <a:off x="9010039" y="3392360"/>
              <a:ext cx="314633" cy="3121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38" name="コンテンツ プレースホルダー 37">
            <a:extLst>
              <a:ext uri="{FF2B5EF4-FFF2-40B4-BE49-F238E27FC236}">
                <a16:creationId xmlns:a16="http://schemas.microsoft.com/office/drawing/2014/main" id="{6978DFB8-1163-AD06-5800-23A214D61D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766" b="-1"/>
          <a:stretch>
            <a:fillRect/>
          </a:stretch>
        </p:blipFill>
        <p:spPr>
          <a:xfrm>
            <a:off x="439628" y="2113935"/>
            <a:ext cx="6645903" cy="3827234"/>
          </a:xfrm>
          <a:prstGeom prst="rect">
            <a:avLst/>
          </a:prstGeom>
        </p:spPr>
      </p:pic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64CA028D-E4E1-0FC0-C6BB-589144747D0E}"/>
              </a:ext>
            </a:extLst>
          </p:cNvPr>
          <p:cNvSpPr txBox="1"/>
          <p:nvPr/>
        </p:nvSpPr>
        <p:spPr>
          <a:xfrm>
            <a:off x="2490043" y="6058148"/>
            <a:ext cx="4692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/>
              <a:t>図</a:t>
            </a:r>
            <a:r>
              <a:rPr kumimoji="1" lang="en-US" altLang="ja-JP" sz="2400"/>
              <a:t>5. MCA</a:t>
            </a:r>
            <a:r>
              <a:rPr kumimoji="1" lang="ja-JP" altLang="en-US" sz="2400"/>
              <a:t>の出力波形</a:t>
            </a:r>
          </a:p>
        </p:txBody>
      </p:sp>
      <p:sp>
        <p:nvSpPr>
          <p:cNvPr id="42" name="矢印: 下 41">
            <a:extLst>
              <a:ext uri="{FF2B5EF4-FFF2-40B4-BE49-F238E27FC236}">
                <a16:creationId xmlns:a16="http://schemas.microsoft.com/office/drawing/2014/main" id="{D0924E70-216F-926E-94F6-1C18D0DCA1DD}"/>
              </a:ext>
            </a:extLst>
          </p:cNvPr>
          <p:cNvSpPr/>
          <p:nvPr/>
        </p:nvSpPr>
        <p:spPr>
          <a:xfrm>
            <a:off x="2010751" y="3706900"/>
            <a:ext cx="414324" cy="1164855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1A1DBBD9-77AB-4C07-66E0-76D31892FC91}"/>
              </a:ext>
            </a:extLst>
          </p:cNvPr>
          <p:cNvSpPr txBox="1"/>
          <p:nvPr/>
        </p:nvSpPr>
        <p:spPr>
          <a:xfrm>
            <a:off x="7850323" y="5915068"/>
            <a:ext cx="3584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/>
              <a:t>図</a:t>
            </a:r>
            <a:r>
              <a:rPr kumimoji="1" lang="en-US" altLang="ja-JP" sz="2400"/>
              <a:t>6. </a:t>
            </a:r>
            <a:r>
              <a:rPr kumimoji="1" lang="ja-JP" altLang="en-US" sz="2400"/>
              <a:t>中性子の測定原理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4F131F1-A84A-EDB8-5C74-6705F2AEF2EE}"/>
              </a:ext>
            </a:extLst>
          </p:cNvPr>
          <p:cNvSpPr txBox="1"/>
          <p:nvPr/>
        </p:nvSpPr>
        <p:spPr>
          <a:xfrm>
            <a:off x="2217913" y="3283652"/>
            <a:ext cx="67929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/>
              <a:t>下端</a:t>
            </a: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D849AEC5-91BA-E461-F39D-AEDADD23EA55}"/>
              </a:ext>
            </a:extLst>
          </p:cNvPr>
          <p:cNvGrpSpPr/>
          <p:nvPr/>
        </p:nvGrpSpPr>
        <p:grpSpPr>
          <a:xfrm rot="3776114">
            <a:off x="9350720" y="4184115"/>
            <a:ext cx="583796" cy="606476"/>
            <a:chOff x="8740877" y="3392360"/>
            <a:chExt cx="583796" cy="606476"/>
          </a:xfrm>
        </p:grpSpPr>
        <p:sp>
          <p:nvSpPr>
            <p:cNvPr id="10" name="楕円 9">
              <a:extLst>
                <a:ext uri="{FF2B5EF4-FFF2-40B4-BE49-F238E27FC236}">
                  <a16:creationId xmlns:a16="http://schemas.microsoft.com/office/drawing/2014/main" id="{36593EB3-E052-AFAE-8E21-719E361E2D82}"/>
                </a:ext>
              </a:extLst>
            </p:cNvPr>
            <p:cNvSpPr/>
            <p:nvPr/>
          </p:nvSpPr>
          <p:spPr>
            <a:xfrm>
              <a:off x="8740877" y="3569110"/>
              <a:ext cx="314633" cy="3121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楕円 10">
              <a:extLst>
                <a:ext uri="{FF2B5EF4-FFF2-40B4-BE49-F238E27FC236}">
                  <a16:creationId xmlns:a16="http://schemas.microsoft.com/office/drawing/2014/main" id="{5F07744F-F8BA-FA96-3702-75D2A6937471}"/>
                </a:ext>
              </a:extLst>
            </p:cNvPr>
            <p:cNvSpPr/>
            <p:nvPr/>
          </p:nvSpPr>
          <p:spPr>
            <a:xfrm>
              <a:off x="9010040" y="3686662"/>
              <a:ext cx="314633" cy="31217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8649EDA9-F10B-78AD-D514-63F562D714A1}"/>
                </a:ext>
              </a:extLst>
            </p:cNvPr>
            <p:cNvSpPr/>
            <p:nvPr/>
          </p:nvSpPr>
          <p:spPr>
            <a:xfrm>
              <a:off x="9010039" y="3392360"/>
              <a:ext cx="314633" cy="3121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1D24887-0D00-22D5-8B62-053C41171664}"/>
              </a:ext>
            </a:extLst>
          </p:cNvPr>
          <p:cNvGrpSpPr/>
          <p:nvPr/>
        </p:nvGrpSpPr>
        <p:grpSpPr>
          <a:xfrm rot="16568662">
            <a:off x="11168576" y="3417026"/>
            <a:ext cx="583796" cy="606476"/>
            <a:chOff x="8740877" y="3392360"/>
            <a:chExt cx="583796" cy="606476"/>
          </a:xfrm>
        </p:grpSpPr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3CEF8E7A-2554-619D-17BF-FA8C4E9B4D42}"/>
                </a:ext>
              </a:extLst>
            </p:cNvPr>
            <p:cNvSpPr/>
            <p:nvPr/>
          </p:nvSpPr>
          <p:spPr>
            <a:xfrm>
              <a:off x="8740877" y="3569110"/>
              <a:ext cx="314633" cy="3121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楕円 18">
              <a:extLst>
                <a:ext uri="{FF2B5EF4-FFF2-40B4-BE49-F238E27FC236}">
                  <a16:creationId xmlns:a16="http://schemas.microsoft.com/office/drawing/2014/main" id="{EA57B749-BB29-AD46-DF5D-9A680A911B96}"/>
                </a:ext>
              </a:extLst>
            </p:cNvPr>
            <p:cNvSpPr/>
            <p:nvPr/>
          </p:nvSpPr>
          <p:spPr>
            <a:xfrm>
              <a:off x="9010040" y="3686662"/>
              <a:ext cx="314633" cy="31217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楕円 19">
              <a:extLst>
                <a:ext uri="{FF2B5EF4-FFF2-40B4-BE49-F238E27FC236}">
                  <a16:creationId xmlns:a16="http://schemas.microsoft.com/office/drawing/2014/main" id="{A9A051FD-1C65-4E51-C7B3-0C244130FA2B}"/>
                </a:ext>
              </a:extLst>
            </p:cNvPr>
            <p:cNvSpPr/>
            <p:nvPr/>
          </p:nvSpPr>
          <p:spPr>
            <a:xfrm>
              <a:off x="9010039" y="3392360"/>
              <a:ext cx="314633" cy="312174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4" name="楕円 23">
            <a:extLst>
              <a:ext uri="{FF2B5EF4-FFF2-40B4-BE49-F238E27FC236}">
                <a16:creationId xmlns:a16="http://schemas.microsoft.com/office/drawing/2014/main" id="{8C2FEFDF-A61F-90C8-4C36-5356DE305B24}"/>
              </a:ext>
            </a:extLst>
          </p:cNvPr>
          <p:cNvSpPr/>
          <p:nvPr/>
        </p:nvSpPr>
        <p:spPr>
          <a:xfrm>
            <a:off x="9047609" y="1933979"/>
            <a:ext cx="314633" cy="31217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193D38F-933C-AF0E-966C-60FD81121E80}"/>
              </a:ext>
            </a:extLst>
          </p:cNvPr>
          <p:cNvSpPr txBox="1"/>
          <p:nvPr/>
        </p:nvSpPr>
        <p:spPr>
          <a:xfrm>
            <a:off x="9047609" y="1912686"/>
            <a:ext cx="421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n</a:t>
            </a:r>
            <a:endParaRPr kumimoji="1" lang="ja-JP" altLang="en-US"/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5BC7F869-CDCF-27BD-9FA2-01F1F530EB4B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9344453" y="2189962"/>
            <a:ext cx="389854" cy="451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2009CB6A-AEFC-6519-7F93-76A50748A90A}"/>
              </a:ext>
            </a:extLst>
          </p:cNvPr>
          <p:cNvCxnSpPr>
            <a:cxnSpLocks/>
          </p:cNvCxnSpPr>
          <p:nvPr/>
        </p:nvCxnSpPr>
        <p:spPr>
          <a:xfrm flipV="1">
            <a:off x="9741074" y="1855719"/>
            <a:ext cx="1154743" cy="7863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39D74450-35C7-2F27-AE62-87D7CA1CCA9D}"/>
              </a:ext>
            </a:extLst>
          </p:cNvPr>
          <p:cNvGrpSpPr/>
          <p:nvPr/>
        </p:nvGrpSpPr>
        <p:grpSpPr>
          <a:xfrm>
            <a:off x="10862177" y="1607168"/>
            <a:ext cx="324464" cy="370770"/>
            <a:chOff x="10842195" y="2901357"/>
            <a:chExt cx="324464" cy="370770"/>
          </a:xfrm>
        </p:grpSpPr>
        <p:sp>
          <p:nvSpPr>
            <p:cNvPr id="31" name="楕円 30">
              <a:extLst>
                <a:ext uri="{FF2B5EF4-FFF2-40B4-BE49-F238E27FC236}">
                  <a16:creationId xmlns:a16="http://schemas.microsoft.com/office/drawing/2014/main" id="{6AC76D14-67CE-16EE-9098-015799CEDC8A}"/>
                </a:ext>
              </a:extLst>
            </p:cNvPr>
            <p:cNvSpPr/>
            <p:nvPr/>
          </p:nvSpPr>
          <p:spPr>
            <a:xfrm>
              <a:off x="10842195" y="2901357"/>
              <a:ext cx="324464" cy="32446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55850F8D-7F59-96CC-0FC8-79F18BF20B97}"/>
                </a:ext>
              </a:extLst>
            </p:cNvPr>
            <p:cNvSpPr txBox="1"/>
            <p:nvPr/>
          </p:nvSpPr>
          <p:spPr>
            <a:xfrm>
              <a:off x="10875535" y="2902795"/>
              <a:ext cx="457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>
                  <a:solidFill>
                    <a:schemeClr val="bg1"/>
                  </a:solidFill>
                </a:rPr>
                <a:t>Ｐ</a:t>
              </a:r>
            </a:p>
          </p:txBody>
        </p:sp>
      </p:grp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D93ACD63-5293-BF75-DE40-FCD37533A62B}"/>
              </a:ext>
            </a:extLst>
          </p:cNvPr>
          <p:cNvSpPr txBox="1"/>
          <p:nvPr/>
        </p:nvSpPr>
        <p:spPr>
          <a:xfrm>
            <a:off x="10832924" y="1037747"/>
            <a:ext cx="118842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/>
              <a:t>プロトン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E5D99F4F-8E26-210E-CBAD-2ADA43860BD5}"/>
              </a:ext>
            </a:extLst>
          </p:cNvPr>
          <p:cNvSpPr txBox="1"/>
          <p:nvPr/>
        </p:nvSpPr>
        <p:spPr>
          <a:xfrm>
            <a:off x="10694019" y="2069527"/>
            <a:ext cx="1466239" cy="400110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000"/>
              <a:t>0.573MeV</a:t>
            </a:r>
            <a:endParaRPr kumimoji="1" lang="ja-JP" altLang="en-US" sz="2000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3A86F71-25CA-25F1-FBEF-3212B5EB35DD}"/>
              </a:ext>
            </a:extLst>
          </p:cNvPr>
          <p:cNvSpPr txBox="1"/>
          <p:nvPr/>
        </p:nvSpPr>
        <p:spPr>
          <a:xfrm>
            <a:off x="8280330" y="3904527"/>
            <a:ext cx="118842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/>
              <a:t>トリトン</a:t>
            </a:r>
          </a:p>
        </p:txBody>
      </p: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CF9D776A-588A-DA20-3C56-C997DAD299A4}"/>
              </a:ext>
            </a:extLst>
          </p:cNvPr>
          <p:cNvCxnSpPr>
            <a:cxnSpLocks/>
          </p:cNvCxnSpPr>
          <p:nvPr/>
        </p:nvCxnSpPr>
        <p:spPr>
          <a:xfrm flipH="1">
            <a:off x="9209752" y="2634414"/>
            <a:ext cx="540243" cy="3399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A332BC34-A45B-828E-AE25-7B99CD5FC0F2}"/>
              </a:ext>
            </a:extLst>
          </p:cNvPr>
          <p:cNvSpPr txBox="1"/>
          <p:nvPr/>
        </p:nvSpPr>
        <p:spPr>
          <a:xfrm>
            <a:off x="8158081" y="3496626"/>
            <a:ext cx="1466234" cy="400110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ja-JP" sz="2000"/>
              <a:t>0.191MeV</a:t>
            </a:r>
            <a:endParaRPr kumimoji="1" lang="ja-JP" altLang="en-US" sz="2000"/>
          </a:p>
        </p:txBody>
      </p:sp>
      <p:grpSp>
        <p:nvGrpSpPr>
          <p:cNvPr id="54" name="グループ化 53">
            <a:extLst>
              <a:ext uri="{FF2B5EF4-FFF2-40B4-BE49-F238E27FC236}">
                <a16:creationId xmlns:a16="http://schemas.microsoft.com/office/drawing/2014/main" id="{FEB6D8AD-7801-5150-95AC-3AEA16CFD2C9}"/>
              </a:ext>
            </a:extLst>
          </p:cNvPr>
          <p:cNvGrpSpPr/>
          <p:nvPr/>
        </p:nvGrpSpPr>
        <p:grpSpPr>
          <a:xfrm>
            <a:off x="8674387" y="2680776"/>
            <a:ext cx="583796" cy="606476"/>
            <a:chOff x="8333693" y="4143197"/>
            <a:chExt cx="583796" cy="606476"/>
          </a:xfrm>
        </p:grpSpPr>
        <p:grpSp>
          <p:nvGrpSpPr>
            <p:cNvPr id="55" name="グループ化 54">
              <a:extLst>
                <a:ext uri="{FF2B5EF4-FFF2-40B4-BE49-F238E27FC236}">
                  <a16:creationId xmlns:a16="http://schemas.microsoft.com/office/drawing/2014/main" id="{BE566183-2AC7-F87E-3C5E-2D5B29BB4B7C}"/>
                </a:ext>
              </a:extLst>
            </p:cNvPr>
            <p:cNvGrpSpPr/>
            <p:nvPr/>
          </p:nvGrpSpPr>
          <p:grpSpPr>
            <a:xfrm>
              <a:off x="8333693" y="4143197"/>
              <a:ext cx="583796" cy="606476"/>
              <a:chOff x="8740877" y="3392360"/>
              <a:chExt cx="583796" cy="606476"/>
            </a:xfrm>
          </p:grpSpPr>
          <p:sp>
            <p:nvSpPr>
              <p:cNvPr id="57" name="楕円 56">
                <a:extLst>
                  <a:ext uri="{FF2B5EF4-FFF2-40B4-BE49-F238E27FC236}">
                    <a16:creationId xmlns:a16="http://schemas.microsoft.com/office/drawing/2014/main" id="{37B391AA-F7D9-7022-B780-A7D7D0C092D2}"/>
                  </a:ext>
                </a:extLst>
              </p:cNvPr>
              <p:cNvSpPr/>
              <p:nvPr/>
            </p:nvSpPr>
            <p:spPr>
              <a:xfrm>
                <a:off x="8740877" y="3569110"/>
                <a:ext cx="314633" cy="31217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8" name="楕円 57">
                <a:extLst>
                  <a:ext uri="{FF2B5EF4-FFF2-40B4-BE49-F238E27FC236}">
                    <a16:creationId xmlns:a16="http://schemas.microsoft.com/office/drawing/2014/main" id="{3723AE8D-AF9B-7A30-2D83-00F1FD62B860}"/>
                  </a:ext>
                </a:extLst>
              </p:cNvPr>
              <p:cNvSpPr/>
              <p:nvPr/>
            </p:nvSpPr>
            <p:spPr>
              <a:xfrm>
                <a:off x="9010040" y="3686662"/>
                <a:ext cx="314633" cy="312174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9" name="楕円 58">
                <a:extLst>
                  <a:ext uri="{FF2B5EF4-FFF2-40B4-BE49-F238E27FC236}">
                    <a16:creationId xmlns:a16="http://schemas.microsoft.com/office/drawing/2014/main" id="{F7D74C86-3ADA-9284-67B9-AC35F7B1E3B6}"/>
                  </a:ext>
                </a:extLst>
              </p:cNvPr>
              <p:cNvSpPr/>
              <p:nvPr/>
            </p:nvSpPr>
            <p:spPr>
              <a:xfrm>
                <a:off x="9010039" y="3392360"/>
                <a:ext cx="314633" cy="312174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11ED2097-B0D6-4B83-59BD-7C2F6E4FC899}"/>
                </a:ext>
              </a:extLst>
            </p:cNvPr>
            <p:cNvSpPr txBox="1"/>
            <p:nvPr/>
          </p:nvSpPr>
          <p:spPr>
            <a:xfrm>
              <a:off x="8381221" y="4273824"/>
              <a:ext cx="457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/>
                <a:t>ｎ</a:t>
              </a:r>
            </a:p>
          </p:txBody>
        </p:sp>
      </p:grp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216E173B-0B14-F157-C17C-E44669EA1802}"/>
              </a:ext>
            </a:extLst>
          </p:cNvPr>
          <p:cNvSpPr txBox="1"/>
          <p:nvPr/>
        </p:nvSpPr>
        <p:spPr>
          <a:xfrm>
            <a:off x="8891198" y="2660379"/>
            <a:ext cx="464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800">
                <a:solidFill>
                  <a:schemeClr val="bg1"/>
                </a:solidFill>
              </a:rPr>
              <a:t>Ｐ</a:t>
            </a: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C1301774-62A2-0033-F033-9B7FC11B5BDA}"/>
              </a:ext>
            </a:extLst>
          </p:cNvPr>
          <p:cNvSpPr txBox="1"/>
          <p:nvPr/>
        </p:nvSpPr>
        <p:spPr>
          <a:xfrm>
            <a:off x="8914717" y="2927184"/>
            <a:ext cx="3177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800"/>
              <a:t>ｎ</a:t>
            </a:r>
          </a:p>
        </p:txBody>
      </p: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D167BEF6-31F5-8000-6A35-A7C8BFE5D49F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9329458" y="2898853"/>
            <a:ext cx="389854" cy="451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直線矢印コネクタ 77">
            <a:extLst>
              <a:ext uri="{FF2B5EF4-FFF2-40B4-BE49-F238E27FC236}">
                <a16:creationId xmlns:a16="http://schemas.microsoft.com/office/drawing/2014/main" id="{295BC6EB-5BD1-760A-98EF-9190654153B2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9538313" y="2787650"/>
            <a:ext cx="389854" cy="451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F2B4E7A6-A70E-90AE-420E-78A419D1E029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9755699" y="2648437"/>
            <a:ext cx="389854" cy="4519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267BC66B-2489-6CC0-AC6C-BF883DA0011A}"/>
              </a:ext>
            </a:extLst>
          </p:cNvPr>
          <p:cNvSpPr txBox="1"/>
          <p:nvPr/>
        </p:nvSpPr>
        <p:spPr>
          <a:xfrm rot="19356226">
            <a:off x="10038778" y="2953563"/>
            <a:ext cx="5221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/>
              <a:t>e-</a:t>
            </a:r>
            <a:endParaRPr kumimoji="1" lang="ja-JP" altLang="en-US" sz="2400"/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33A566BF-ACA7-AE89-F269-688ACAED804D}"/>
              </a:ext>
            </a:extLst>
          </p:cNvPr>
          <p:cNvSpPr txBox="1"/>
          <p:nvPr/>
        </p:nvSpPr>
        <p:spPr>
          <a:xfrm rot="19356226">
            <a:off x="9819764" y="3124728"/>
            <a:ext cx="5221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/>
              <a:t>e-</a:t>
            </a:r>
            <a:endParaRPr kumimoji="1" lang="ja-JP" altLang="en-US" sz="2400"/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934CCA86-1B0C-83D4-675B-6DF6B65EA958}"/>
              </a:ext>
            </a:extLst>
          </p:cNvPr>
          <p:cNvSpPr txBox="1"/>
          <p:nvPr/>
        </p:nvSpPr>
        <p:spPr>
          <a:xfrm rot="19356226">
            <a:off x="9555213" y="3244711"/>
            <a:ext cx="5221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/>
              <a:t>e-</a:t>
            </a:r>
            <a:endParaRPr kumimoji="1" lang="ja-JP" altLang="en-US" sz="2400"/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1364B8AE-1DAE-E4BC-1ED0-511981DBE947}"/>
              </a:ext>
            </a:extLst>
          </p:cNvPr>
          <p:cNvSpPr txBox="1"/>
          <p:nvPr/>
        </p:nvSpPr>
        <p:spPr>
          <a:xfrm>
            <a:off x="8158082" y="1481053"/>
            <a:ext cx="2270380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/>
              <a:t>反応位置が壁に近い</a:t>
            </a:r>
          </a:p>
        </p:txBody>
      </p:sp>
      <p:sp>
        <p:nvSpPr>
          <p:cNvPr id="87" name="矢印: 下 86">
            <a:extLst>
              <a:ext uri="{FF2B5EF4-FFF2-40B4-BE49-F238E27FC236}">
                <a16:creationId xmlns:a16="http://schemas.microsoft.com/office/drawing/2014/main" id="{04EDC07D-9B92-A37B-1112-ED2912A07870}"/>
              </a:ext>
            </a:extLst>
          </p:cNvPr>
          <p:cNvSpPr/>
          <p:nvPr/>
        </p:nvSpPr>
        <p:spPr>
          <a:xfrm flipH="1">
            <a:off x="9633725" y="1867305"/>
            <a:ext cx="324464" cy="582926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B5AD45E-C349-3E89-6650-929E47F8A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54</a:t>
            </a:fld>
            <a:endParaRPr lang="ja-JP" altLang="en-US"/>
          </a:p>
        </p:txBody>
      </p:sp>
      <p:pic>
        <p:nvPicPr>
          <p:cNvPr id="7" name="図 6" descr="グラフ, 折れ線グラフ&#10;&#10;AI 生成コンテンツは間違っている可能性があります。">
            <a:extLst>
              <a:ext uri="{FF2B5EF4-FFF2-40B4-BE49-F238E27FC236}">
                <a16:creationId xmlns:a16="http://schemas.microsoft.com/office/drawing/2014/main" id="{54D81CB9-16E6-81CF-8BAD-8692443684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03"/>
          <a:stretch>
            <a:fillRect/>
          </a:stretch>
        </p:blipFill>
        <p:spPr>
          <a:xfrm>
            <a:off x="207169" y="1791993"/>
            <a:ext cx="6784608" cy="3984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4830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F43A97-C090-C389-C0D4-6FBE5D2A3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游ゴシック Light"/>
              </a:rPr>
              <a:t>ｎを出す可能性がある反応とその否定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967615-4F04-BB25-B870-8769416C9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ja-JP" altLang="en-US">
                <a:ea typeface="游ゴシック"/>
              </a:rPr>
              <a:t>・μ核反応</a:t>
            </a:r>
          </a:p>
          <a:p>
            <a:pPr marL="0" indent="0">
              <a:buNone/>
            </a:pPr>
            <a:r>
              <a:rPr lang="ja-JP" altLang="en-US">
                <a:ea typeface="游ゴシック"/>
              </a:rPr>
              <a:t>・光核反応</a:t>
            </a:r>
          </a:p>
          <a:p>
            <a:pPr marL="0" indent="0">
              <a:buNone/>
            </a:pPr>
            <a:r>
              <a:rPr lang="ja-JP" altLang="en-US">
                <a:ea typeface="游ゴシック"/>
              </a:rPr>
              <a:t>・ｎがｎを出す</a:t>
            </a:r>
          </a:p>
          <a:p>
            <a:pPr marL="0" indent="0">
              <a:buNone/>
            </a:pPr>
            <a:r>
              <a:rPr lang="ja-JP" altLang="en-US">
                <a:ea typeface="游ゴシック"/>
              </a:rPr>
              <a:t>・核破砕（π、ハドロン、μ）</a:t>
            </a:r>
          </a:p>
          <a:p>
            <a:pPr marL="0" indent="0">
              <a:buNone/>
            </a:pPr>
            <a:r>
              <a:rPr lang="ja-JP" altLang="en-US">
                <a:ea typeface="游ゴシック"/>
              </a:rPr>
              <a:t>・核分裂</a:t>
            </a:r>
          </a:p>
          <a:p>
            <a:pPr marL="0" indent="0">
              <a:buNone/>
            </a:pPr>
            <a:r>
              <a:rPr lang="ja-JP" altLang="en-US">
                <a:ea typeface="游ゴシック"/>
              </a:rPr>
              <a:t>・μ誘起電磁シャワー</a:t>
            </a:r>
          </a:p>
          <a:p>
            <a:pPr marL="0" indent="0">
              <a:buNone/>
            </a:pPr>
            <a:r>
              <a:rPr lang="ja-JP" altLang="en-US">
                <a:ea typeface="游ゴシック"/>
              </a:rPr>
              <a:t>・μ誘起ハドロンシャワー</a:t>
            </a:r>
          </a:p>
          <a:p>
            <a:pPr marL="0" indent="0">
              <a:buNone/>
            </a:pPr>
            <a:r>
              <a:rPr lang="ja-JP" altLang="en-US">
                <a:ea typeface="游ゴシック"/>
              </a:rPr>
              <a:t>・</a:t>
            </a:r>
          </a:p>
          <a:p>
            <a:pPr marL="0" indent="0">
              <a:buNone/>
            </a:pPr>
            <a:endParaRPr lang="ja-JP" altLang="en-US">
              <a:ea typeface="游ゴシック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78913C0-7078-28EF-A638-B9874B970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55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85917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C72C9C1-3154-1975-58BC-FF91B443E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A9341-D4CB-41D4-9AB9-BB65309E22FA}" type="slidenum">
              <a:rPr kumimoji="1" lang="ja-JP" altLang="en-US" smtClean="0"/>
              <a:t>56</a:t>
            </a:fld>
            <a:endParaRPr kumimoji="1" lang="ja-JP" altLang="en-US"/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1EBE7823-E042-43D4-0575-F79538752993}"/>
              </a:ext>
            </a:extLst>
          </p:cNvPr>
          <p:cNvCxnSpPr/>
          <p:nvPr/>
        </p:nvCxnSpPr>
        <p:spPr>
          <a:xfrm>
            <a:off x="2412999" y="4595091"/>
            <a:ext cx="845" cy="196272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C9071F3-ED72-52D0-A56C-9EDD366C4E99}"/>
              </a:ext>
            </a:extLst>
          </p:cNvPr>
          <p:cNvSpPr txBox="1"/>
          <p:nvPr/>
        </p:nvSpPr>
        <p:spPr>
          <a:xfrm>
            <a:off x="1217979" y="4827436"/>
            <a:ext cx="495079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>
                <a:ea typeface="游ゴシック"/>
              </a:rPr>
              <a:t>中性子の運動エネルギー</a:t>
            </a:r>
            <a:endParaRPr lang="ja-JP" altLang="en-US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D4BBA6EA-6756-2E12-3E05-2B42F08D1D00}"/>
              </a:ext>
            </a:extLst>
          </p:cNvPr>
          <p:cNvCxnSpPr>
            <a:cxnSpLocks/>
          </p:cNvCxnSpPr>
          <p:nvPr/>
        </p:nvCxnSpPr>
        <p:spPr>
          <a:xfrm>
            <a:off x="3325090" y="4595091"/>
            <a:ext cx="845" cy="20204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3E84ED36-D163-C49A-0A85-F1446D22179C}"/>
              </a:ext>
            </a:extLst>
          </p:cNvPr>
          <p:cNvCxnSpPr/>
          <p:nvPr/>
        </p:nvCxnSpPr>
        <p:spPr>
          <a:xfrm>
            <a:off x="798805" y="4783722"/>
            <a:ext cx="5285347" cy="1701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878916A5-7B94-CA12-D667-0A54CD3C69F4}"/>
              </a:ext>
            </a:extLst>
          </p:cNvPr>
          <p:cNvCxnSpPr>
            <a:cxnSpLocks/>
          </p:cNvCxnSpPr>
          <p:nvPr/>
        </p:nvCxnSpPr>
        <p:spPr>
          <a:xfrm>
            <a:off x="4208317" y="4589318"/>
            <a:ext cx="845" cy="202045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6E0F5CBB-ABF6-3340-1768-A5A37F99F796}"/>
              </a:ext>
            </a:extLst>
          </p:cNvPr>
          <p:cNvCxnSpPr>
            <a:cxnSpLocks/>
          </p:cNvCxnSpPr>
          <p:nvPr/>
        </p:nvCxnSpPr>
        <p:spPr>
          <a:xfrm>
            <a:off x="5120408" y="4583545"/>
            <a:ext cx="845" cy="20781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右中かっこ 11">
            <a:extLst>
              <a:ext uri="{FF2B5EF4-FFF2-40B4-BE49-F238E27FC236}">
                <a16:creationId xmlns:a16="http://schemas.microsoft.com/office/drawing/2014/main" id="{F0F65236-230A-EBC3-2618-C63E87DF0026}"/>
              </a:ext>
            </a:extLst>
          </p:cNvPr>
          <p:cNvSpPr/>
          <p:nvPr/>
        </p:nvSpPr>
        <p:spPr>
          <a:xfrm rot="-5400000">
            <a:off x="3420550" y="2994891"/>
            <a:ext cx="472948" cy="2115126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C5F38CA8-74B0-CCFC-BA6C-3FF819EADDA0}"/>
              </a:ext>
            </a:extLst>
          </p:cNvPr>
          <p:cNvSpPr/>
          <p:nvPr/>
        </p:nvSpPr>
        <p:spPr>
          <a:xfrm>
            <a:off x="13243545" y="1040260"/>
            <a:ext cx="1296544" cy="117414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/>
              <a:t>GeV</a:t>
            </a:r>
          </a:p>
          <a:p>
            <a:pPr algn="ctr"/>
            <a:r>
              <a:rPr kumimoji="1" lang="ja-JP" altLang="en-US"/>
              <a:t>中性子</a:t>
            </a: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753CF930-E899-5A04-255C-E5E058473A6F}"/>
              </a:ext>
            </a:extLst>
          </p:cNvPr>
          <p:cNvSpPr/>
          <p:nvPr/>
        </p:nvSpPr>
        <p:spPr>
          <a:xfrm>
            <a:off x="11784814" y="1062638"/>
            <a:ext cx="1296544" cy="11741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/>
              <a:t>MeV</a:t>
            </a:r>
          </a:p>
          <a:p>
            <a:pPr algn="ctr"/>
            <a:r>
              <a:rPr kumimoji="1" lang="ja-JP" altLang="en-US"/>
              <a:t>中性子</a:t>
            </a: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FA60EE3F-5498-E750-FE24-022D343A03CA}"/>
              </a:ext>
            </a:extLst>
          </p:cNvPr>
          <p:cNvSpPr/>
          <p:nvPr/>
        </p:nvSpPr>
        <p:spPr>
          <a:xfrm>
            <a:off x="10221865" y="1040260"/>
            <a:ext cx="1296544" cy="117414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chemeClr val="tx1"/>
                </a:solidFill>
              </a:rPr>
              <a:t>keV</a:t>
            </a: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中性子</a:t>
            </a: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99582C0A-AB7B-67FF-BC15-D2F7BA204080}"/>
              </a:ext>
            </a:extLst>
          </p:cNvPr>
          <p:cNvSpPr/>
          <p:nvPr/>
        </p:nvSpPr>
        <p:spPr>
          <a:xfrm>
            <a:off x="8661280" y="1040260"/>
            <a:ext cx="1296544" cy="117414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chemeClr val="tx1"/>
                </a:solidFill>
              </a:rPr>
              <a:t>eV</a:t>
            </a: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中性子</a:t>
            </a: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ECAD7F2E-77BA-47DA-DA52-99FD248AF9C9}"/>
              </a:ext>
            </a:extLst>
          </p:cNvPr>
          <p:cNvSpPr/>
          <p:nvPr/>
        </p:nvSpPr>
        <p:spPr>
          <a:xfrm>
            <a:off x="7100695" y="1019490"/>
            <a:ext cx="1296544" cy="117414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</a:rPr>
              <a:t>熱</a:t>
            </a:r>
            <a:endParaRPr lang="en-US" altLang="ja-JP">
              <a:solidFill>
                <a:schemeClr val="tx1"/>
              </a:solidFill>
            </a:endParaRP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中性子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39AAADB0-7063-9B0A-32B0-C345489501F9}"/>
              </a:ext>
            </a:extLst>
          </p:cNvPr>
          <p:cNvSpPr txBox="1"/>
          <p:nvPr/>
        </p:nvSpPr>
        <p:spPr>
          <a:xfrm>
            <a:off x="12875256" y="2238413"/>
            <a:ext cx="1607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エネルギー高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C7903CAF-EF1A-388E-C18B-D7EB467E760B}"/>
              </a:ext>
            </a:extLst>
          </p:cNvPr>
          <p:cNvSpPr txBox="1"/>
          <p:nvPr/>
        </p:nvSpPr>
        <p:spPr>
          <a:xfrm>
            <a:off x="7176836" y="2215068"/>
            <a:ext cx="1927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エネルギー低</a:t>
            </a:r>
          </a:p>
        </p:txBody>
      </p:sp>
      <p:sp>
        <p:nvSpPr>
          <p:cNvPr id="28" name="矢印: 右 27">
            <a:extLst>
              <a:ext uri="{FF2B5EF4-FFF2-40B4-BE49-F238E27FC236}">
                <a16:creationId xmlns:a16="http://schemas.microsoft.com/office/drawing/2014/main" id="{C54FBE12-F2FB-AC71-C2CB-94AF07283038}"/>
              </a:ext>
            </a:extLst>
          </p:cNvPr>
          <p:cNvSpPr/>
          <p:nvPr/>
        </p:nvSpPr>
        <p:spPr>
          <a:xfrm rot="10800000">
            <a:off x="9455913" y="2194966"/>
            <a:ext cx="3496266" cy="369332"/>
          </a:xfrm>
          <a:prstGeom prst="rightArrow">
            <a:avLst>
              <a:gd name="adj1" fmla="val 44577"/>
              <a:gd name="adj2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2EF1454-E7F7-7760-AF0B-7FA04D45D1BD}"/>
              </a:ext>
            </a:extLst>
          </p:cNvPr>
          <p:cNvSpPr txBox="1"/>
          <p:nvPr/>
        </p:nvSpPr>
        <p:spPr>
          <a:xfrm>
            <a:off x="9032443" y="2651190"/>
            <a:ext cx="5058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/>
              <a:t>3. </a:t>
            </a:r>
            <a:r>
              <a:rPr kumimoji="1" lang="ja-JP" altLang="en-US"/>
              <a:t>エネルギー毎の中性子の分類</a:t>
            </a: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BF91B2BA-5896-9E83-848E-E3C3C1F41714}"/>
              </a:ext>
            </a:extLst>
          </p:cNvPr>
          <p:cNvCxnSpPr>
            <a:cxnSpLocks/>
          </p:cNvCxnSpPr>
          <p:nvPr/>
        </p:nvCxnSpPr>
        <p:spPr>
          <a:xfrm>
            <a:off x="1529772" y="4589317"/>
            <a:ext cx="845" cy="207818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78E75433-864C-DB71-88AB-9F6FADC3D46D}"/>
              </a:ext>
            </a:extLst>
          </p:cNvPr>
          <p:cNvSpPr txBox="1"/>
          <p:nvPr/>
        </p:nvSpPr>
        <p:spPr>
          <a:xfrm>
            <a:off x="1215212" y="4244124"/>
            <a:ext cx="511286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>
                <a:ea typeface="游ゴシック"/>
              </a:rPr>
              <a:t>1meV   1eV    1keV     1MeV    1GeV</a:t>
            </a:r>
          </a:p>
        </p:txBody>
      </p:sp>
      <p:sp>
        <p:nvSpPr>
          <p:cNvPr id="33" name="右中かっこ 32">
            <a:extLst>
              <a:ext uri="{FF2B5EF4-FFF2-40B4-BE49-F238E27FC236}">
                <a16:creationId xmlns:a16="http://schemas.microsoft.com/office/drawing/2014/main" id="{80137FE2-A71D-344E-18C5-1D258AA52A88}"/>
              </a:ext>
            </a:extLst>
          </p:cNvPr>
          <p:cNvSpPr/>
          <p:nvPr/>
        </p:nvSpPr>
        <p:spPr>
          <a:xfrm rot="-5400000">
            <a:off x="1558845" y="3292187"/>
            <a:ext cx="490266" cy="1503217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8B4D331C-D1AB-D787-3596-31FDCC1581C7}"/>
              </a:ext>
            </a:extLst>
          </p:cNvPr>
          <p:cNvSpPr/>
          <p:nvPr/>
        </p:nvSpPr>
        <p:spPr>
          <a:xfrm>
            <a:off x="891081" y="2938885"/>
            <a:ext cx="1747527" cy="7585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  <a:ea typeface="游ゴシック"/>
              </a:rPr>
              <a:t>"</a:t>
            </a:r>
            <a:r>
              <a:rPr lang="ja-JP" altLang="en-US" b="1">
                <a:solidFill>
                  <a:srgbClr val="FF0000"/>
                </a:solidFill>
                <a:ea typeface="游ゴシック"/>
              </a:rPr>
              <a:t>熱中性子</a:t>
            </a:r>
            <a:r>
              <a:rPr lang="ja-JP" altLang="en-US">
                <a:solidFill>
                  <a:schemeClr val="tx1"/>
                </a:solidFill>
                <a:ea typeface="游ゴシック"/>
              </a:rPr>
              <a:t>"</a:t>
            </a:r>
          </a:p>
          <a:p>
            <a:pPr algn="ctr"/>
            <a:r>
              <a:rPr lang="ja-JP" altLang="en-US">
                <a:solidFill>
                  <a:schemeClr val="tx1"/>
                </a:solidFill>
                <a:ea typeface="游ゴシック"/>
              </a:rPr>
              <a:t>と呼ぶ</a:t>
            </a: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86A062D5-E33F-DB8F-C5BD-9815343AF635}"/>
              </a:ext>
            </a:extLst>
          </p:cNvPr>
          <p:cNvSpPr/>
          <p:nvPr/>
        </p:nvSpPr>
        <p:spPr>
          <a:xfrm>
            <a:off x="2784535" y="2938885"/>
            <a:ext cx="1747527" cy="7585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  <a:ea typeface="游ゴシック"/>
              </a:rPr>
              <a:t>"</a:t>
            </a:r>
            <a:r>
              <a:rPr lang="ja-JP" altLang="en-US" b="1">
                <a:solidFill>
                  <a:srgbClr val="FF0000"/>
                </a:solidFill>
                <a:ea typeface="游ゴシック"/>
              </a:rPr>
              <a:t>MeV中性子</a:t>
            </a:r>
            <a:r>
              <a:rPr lang="ja-JP" altLang="en-US">
                <a:solidFill>
                  <a:schemeClr val="tx1"/>
                </a:solidFill>
                <a:ea typeface="游ゴシック"/>
              </a:rPr>
              <a:t>"</a:t>
            </a:r>
          </a:p>
          <a:p>
            <a:pPr algn="ctr"/>
            <a:r>
              <a:rPr lang="ja-JP" altLang="en-US">
                <a:solidFill>
                  <a:schemeClr val="tx1"/>
                </a:solidFill>
                <a:ea typeface="游ゴシック"/>
              </a:rPr>
              <a:t>と呼ぶ</a:t>
            </a:r>
          </a:p>
        </p:txBody>
      </p:sp>
      <p:sp>
        <p:nvSpPr>
          <p:cNvPr id="37" name="右中かっこ 36">
            <a:extLst>
              <a:ext uri="{FF2B5EF4-FFF2-40B4-BE49-F238E27FC236}">
                <a16:creationId xmlns:a16="http://schemas.microsoft.com/office/drawing/2014/main" id="{1024D99A-7E72-386A-D192-5170C72134E8}"/>
              </a:ext>
            </a:extLst>
          </p:cNvPr>
          <p:cNvSpPr/>
          <p:nvPr/>
        </p:nvSpPr>
        <p:spPr>
          <a:xfrm rot="-5400000">
            <a:off x="5218755" y="3349914"/>
            <a:ext cx="490266" cy="1422398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B2A9F52D-4863-07C9-ECF1-5606215FDBF7}"/>
              </a:ext>
            </a:extLst>
          </p:cNvPr>
          <p:cNvSpPr/>
          <p:nvPr/>
        </p:nvSpPr>
        <p:spPr>
          <a:xfrm>
            <a:off x="4828081" y="3129384"/>
            <a:ext cx="1268392" cy="38336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  <a:ea typeface="游ゴシック"/>
              </a:rPr>
              <a:t>測れない</a:t>
            </a:r>
          </a:p>
        </p:txBody>
      </p:sp>
    </p:spTree>
    <p:extLst>
      <p:ext uri="{BB962C8B-B14F-4D97-AF65-F5344CB8AC3E}">
        <p14:creationId xmlns:p14="http://schemas.microsoft.com/office/powerpoint/2010/main" val="895765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ワイド画面</PresentationFormat>
  <Slides>57</Slides>
  <Notes>6</Notes>
  <HiddenSlides>22</HiddenSlide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57</vt:i4>
      </vt:variant>
    </vt:vector>
  </HeadingPairs>
  <TitlesOfParts>
    <vt:vector size="58" baseType="lpstr">
      <vt:lpstr>Office テーマ</vt:lpstr>
      <vt:lpstr>～地下での中性子フラックスの測定～</vt:lpstr>
      <vt:lpstr>宇宙線由来の中性子線について</vt:lpstr>
      <vt:lpstr>背景</vt:lpstr>
      <vt:lpstr>実験の目的</vt:lpstr>
      <vt:lpstr>フラックスΦ</vt:lpstr>
      <vt:lpstr>中性子検出の原理</vt:lpstr>
      <vt:lpstr>実験装置</vt:lpstr>
      <vt:lpstr>検出効率の測定</vt:lpstr>
      <vt:lpstr>検出効率</vt:lpstr>
      <vt:lpstr>PowerPoint プレゼンテーション</vt:lpstr>
      <vt:lpstr>結果の予測</vt:lpstr>
      <vt:lpstr>実験結果</vt:lpstr>
      <vt:lpstr>実験結果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実験結果</vt:lpstr>
      <vt:lpstr>tigau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実験結果</vt:lpstr>
      <vt:lpstr>実験結果</vt:lpstr>
      <vt:lpstr>予測と結果の不一致の原因の考察</vt:lpstr>
      <vt:lpstr>予測と結果の不一致の原因の考察</vt:lpstr>
      <vt:lpstr>予測と結果の不一致の原因の考察</vt:lpstr>
      <vt:lpstr>ミューオン中性子フラックスの定式化と各構成要素 </vt:lpstr>
      <vt:lpstr>元素組成Aと衝突指数 βの物理的意味</vt:lpstr>
      <vt:lpstr>　</vt:lpstr>
      <vt:lpstr>PowerPoint プレゼンテーション</vt:lpstr>
      <vt:lpstr>PHITSを用いたシミュレーション</vt:lpstr>
      <vt:lpstr>PHITSを用いたシミュレーション</vt:lpstr>
      <vt:lpstr>まとめと今後の展望</vt:lpstr>
      <vt:lpstr>PowerPoint プレゼンテーション</vt:lpstr>
      <vt:lpstr>参考文献</vt:lpstr>
      <vt:lpstr>質疑応答</vt:lpstr>
      <vt:lpstr>バックアップ資料</vt:lpstr>
      <vt:lpstr>EXPACSのフラックス欲しいね</vt:lpstr>
      <vt:lpstr>PowerPoint プレゼンテーション</vt:lpstr>
      <vt:lpstr>測定原理 : 壁効果（パルスの下端）</vt:lpstr>
      <vt:lpstr>ｎを出す可能性がある反応とその否定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純輝 西之原</dc:creator>
  <cp:revision>114</cp:revision>
  <dcterms:created xsi:type="dcterms:W3CDTF">2026-08-24T04:50:25Z</dcterms:created>
  <dcterms:modified xsi:type="dcterms:W3CDTF">2026-08-25T19:47:17Z</dcterms:modified>
</cp:coreProperties>
</file>